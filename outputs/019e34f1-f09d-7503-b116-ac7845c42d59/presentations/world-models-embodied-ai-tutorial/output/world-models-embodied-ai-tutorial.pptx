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5d99c9a1d64be7" /><Relationship Type="http://schemas.openxmlformats.org/officeDocument/2006/relationships/extended-properties" Target="/docProps/app.xml" Id="R5f475fc4df544052" /><Relationship Type="http://schemas.openxmlformats.org/officeDocument/2006/relationships/officeDocument" Target="/ppt/presentation.xml" Id="R95f258ec4c7f41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e173682d794fc9"/>
  </p:sldMasterIdLst>
  <p:notesMasterIdLst>
    <p:notesMasterId xmlns:r="http://schemas.openxmlformats.org/officeDocument/2006/relationships" r:id="R779b6a60fbfe4ac8"/>
  </p:notesMasterIdLst>
  <p:sldIdLst>
    <p:sldId xmlns:r="http://schemas.openxmlformats.org/officeDocument/2006/relationships" id="256" r:id="R1bd52575064d4a3d"/>
    <p:sldId xmlns:r="http://schemas.openxmlformats.org/officeDocument/2006/relationships" id="257" r:id="Raa1767d779a14427"/>
    <p:sldId xmlns:r="http://schemas.openxmlformats.org/officeDocument/2006/relationships" id="258" r:id="R673d3f1e12444443"/>
    <p:sldId xmlns:r="http://schemas.openxmlformats.org/officeDocument/2006/relationships" id="259" r:id="R89ebc5611c874d15"/>
    <p:sldId xmlns:r="http://schemas.openxmlformats.org/officeDocument/2006/relationships" id="260" r:id="R47988441fea24a6a"/>
    <p:sldId xmlns:r="http://schemas.openxmlformats.org/officeDocument/2006/relationships" id="261" r:id="R817e497dc2cd43c9"/>
    <p:sldId xmlns:r="http://schemas.openxmlformats.org/officeDocument/2006/relationships" id="262" r:id="R587171cc48fa4636"/>
    <p:sldId xmlns:r="http://schemas.openxmlformats.org/officeDocument/2006/relationships" id="263" r:id="R5e7c705635644171"/>
    <p:sldId xmlns:r="http://schemas.openxmlformats.org/officeDocument/2006/relationships" id="264" r:id="Ra15f26655e4c47a5"/>
    <p:sldId xmlns:r="http://schemas.openxmlformats.org/officeDocument/2006/relationships" id="265" r:id="R7cb9a73f9cda4c6f"/>
    <p:sldId xmlns:r="http://schemas.openxmlformats.org/officeDocument/2006/relationships" id="266" r:id="Rb8194ce65c5247cd"/>
    <p:sldId xmlns:r="http://schemas.openxmlformats.org/officeDocument/2006/relationships" id="267" r:id="Rc12b62084bd94863"/>
    <p:sldId xmlns:r="http://schemas.openxmlformats.org/officeDocument/2006/relationships" id="268" r:id="R7877de7287c6426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173682d794fc9" /><Relationship Type="http://schemas.openxmlformats.org/officeDocument/2006/relationships/theme" Target="/ppt/theme/theme1.xml" Id="Rc742b1f1813247d9" /><Relationship Type="http://schemas.openxmlformats.org/officeDocument/2006/relationships/notesMaster" Target="/ppt/notesMasters/notesMaster1.xml" Id="R779b6a60fbfe4ac8" /><Relationship Type="http://schemas.openxmlformats.org/officeDocument/2006/relationships/presProps" Target="/ppt/presProps.xml" Id="R853728c82bda4566" /><Relationship Type="http://schemas.openxmlformats.org/officeDocument/2006/relationships/viewProps" Target="/ppt/viewProps.xml" Id="Rf78543d1f8314e5b" /><Relationship Type="http://schemas.openxmlformats.org/officeDocument/2006/relationships/tableStyles" Target="/ppt/tableStyles.xml" Id="Rf79ac1e80278479c" /><Relationship Type="http://schemas.openxmlformats.org/officeDocument/2006/relationships/slide" Target="/ppt/slides/slide1.xml" Id="R1bd52575064d4a3d" /><Relationship Type="http://schemas.openxmlformats.org/officeDocument/2006/relationships/slide" Target="/ppt/slides/slide2.xml" Id="Raa1767d779a14427" /><Relationship Type="http://schemas.openxmlformats.org/officeDocument/2006/relationships/slide" Target="/ppt/slides/slide3.xml" Id="R673d3f1e12444443" /><Relationship Type="http://schemas.openxmlformats.org/officeDocument/2006/relationships/slide" Target="/ppt/slides/slide4.xml" Id="R89ebc5611c874d15" /><Relationship Type="http://schemas.openxmlformats.org/officeDocument/2006/relationships/slide" Target="/ppt/slides/slide5.xml" Id="R47988441fea24a6a" /><Relationship Type="http://schemas.openxmlformats.org/officeDocument/2006/relationships/slide" Target="/ppt/slides/slide6.xml" Id="R817e497dc2cd43c9" /><Relationship Type="http://schemas.openxmlformats.org/officeDocument/2006/relationships/slide" Target="/ppt/slides/slide7.xml" Id="R587171cc48fa4636" /><Relationship Type="http://schemas.openxmlformats.org/officeDocument/2006/relationships/slide" Target="/ppt/slides/slide8.xml" Id="R5e7c705635644171" /><Relationship Type="http://schemas.openxmlformats.org/officeDocument/2006/relationships/slide" Target="/ppt/slides/slide9.xml" Id="Ra15f26655e4c47a5" /><Relationship Type="http://schemas.openxmlformats.org/officeDocument/2006/relationships/slide" Target="/ppt/slides/slide10.xml" Id="R7cb9a73f9cda4c6f" /><Relationship Type="http://schemas.openxmlformats.org/officeDocument/2006/relationships/slide" Target="/ppt/slides/slide11.xml" Id="Rb8194ce65c5247cd" /><Relationship Type="http://schemas.openxmlformats.org/officeDocument/2006/relationships/slide" Target="/ppt/slides/slide12.xml" Id="Rc12b62084bd94863" /><Relationship Type="http://schemas.openxmlformats.org/officeDocument/2006/relationships/slide" Target="/ppt/slides/slide13.xml" Id="R7877de7287c642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c092eff9904e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db6e36e54d4af9" /><Relationship Type="http://schemas.openxmlformats.org/officeDocument/2006/relationships/notesMaster" Target="/ppt/notesMasters/notesMaster1.xml" Id="Recd3f226ca2546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5d97d37d9b407c" /><Relationship Type="http://schemas.openxmlformats.org/officeDocument/2006/relationships/notesMaster" Target="/ppt/notesMasters/notesMaster1.xml" Id="R679afa9f0ef241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f60460dfe54a25" /><Relationship Type="http://schemas.openxmlformats.org/officeDocument/2006/relationships/notesMaster" Target="/ppt/notesMasters/notesMaster1.xml" Id="R97e9a7a39ca947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ceef4b22324bf9" /><Relationship Type="http://schemas.openxmlformats.org/officeDocument/2006/relationships/notesMaster" Target="/ppt/notesMasters/notesMaster1.xml" Id="Ra8fac3148416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128d04b34a4590" /><Relationship Type="http://schemas.openxmlformats.org/officeDocument/2006/relationships/notesMaster" Target="/ppt/notesMasters/notesMaster1.xml" Id="Ra35a1a2dcb5d43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2bdebf574c4d57" /><Relationship Type="http://schemas.openxmlformats.org/officeDocument/2006/relationships/notesMaster" Target="/ppt/notesMasters/notesMaster1.xml" Id="R5417cea3414b49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a633ad9c724c2a" /><Relationship Type="http://schemas.openxmlformats.org/officeDocument/2006/relationships/notesMaster" Target="/ppt/notesMasters/notesMaster1.xml" Id="R6a65ad351be44d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f4c7bbc8eb4a68" /><Relationship Type="http://schemas.openxmlformats.org/officeDocument/2006/relationships/notesMaster" Target="/ppt/notesMasters/notesMaster1.xml" Id="R04758353cf6a47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f3164687194d8a" /><Relationship Type="http://schemas.openxmlformats.org/officeDocument/2006/relationships/notesMaster" Target="/ppt/notesMasters/notesMaster1.xml" Id="R0e862dfddea646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f4d935a76c414a" /><Relationship Type="http://schemas.openxmlformats.org/officeDocument/2006/relationships/notesMaster" Target="/ppt/notesMasters/notesMaster1.xml" Id="R6ed0f7ee72e5453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6bfb71daf7d456d" /><Relationship Type="http://schemas.openxmlformats.org/officeDocument/2006/relationships/notesMaster" Target="/ppt/notesMasters/notesMaster1.xml" Id="R9270816b9b0e4a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cdc756b5154946" /><Relationship Type="http://schemas.openxmlformats.org/officeDocument/2006/relationships/notesMaster" Target="/ppt/notesMasters/notesMaster1.xml" Id="R16e796e3fe884e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0c0a1f1cdc48ea" /><Relationship Type="http://schemas.openxmlformats.org/officeDocument/2006/relationships/notesMaster" Target="/ppt/notesMasters/notesMaster1.xml" Id="R6f71f6382afc4a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a37d22d66496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944befc05dc4782" /><Relationship Type="http://schemas.openxmlformats.org/officeDocument/2006/relationships/slideLayout" Target="/ppt/slideLayouts/slideLayout2.xml" Id="Radbcf7c40ada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bcf7c40ada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b724203e5745a1" /><Relationship Type="http://schemas.openxmlformats.org/officeDocument/2006/relationships/notesSlide" Target="/ppt/notesSlides/notesSlide1.xml" Id="Rbae120dc2204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7a2fc9a4254da0" /><Relationship Type="http://schemas.openxmlformats.org/officeDocument/2006/relationships/notesSlide" Target="/ppt/notesSlides/notesSlide2.xml" Id="R90017c6b26f340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1ec463ec3f4b52" /><Relationship Type="http://schemas.openxmlformats.org/officeDocument/2006/relationships/notesSlide" Target="/ppt/notesSlides/notesSlide3.xml" Id="Rd108082a63f641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8c114942a45c5" /><Relationship Type="http://schemas.openxmlformats.org/officeDocument/2006/relationships/notesSlide" Target="/ppt/notesSlides/notesSlide4.xml" Id="Re89115d2961447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706773f914bef" /><Relationship Type="http://schemas.openxmlformats.org/officeDocument/2006/relationships/notesSlide" Target="/ppt/notesSlides/notesSlide5.xml" Id="Rdf5601e448b1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ad20d37f88474c" /><Relationship Type="http://schemas.openxmlformats.org/officeDocument/2006/relationships/notesSlide" Target="/ppt/notesSlides/notesSlide6.xml" Id="R21f21b2885bf40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d2bcffc944d59" /><Relationship Type="http://schemas.openxmlformats.org/officeDocument/2006/relationships/notesSlide" Target="/ppt/notesSlides/notesSlide7.xml" Id="R372b23868b98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f723f8ca74ebf" /><Relationship Type="http://schemas.openxmlformats.org/officeDocument/2006/relationships/notesSlide" Target="/ppt/notesSlides/notesSlide8.xml" Id="Rc561359bb0114a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0f1459050943c0" /><Relationship Type="http://schemas.openxmlformats.org/officeDocument/2006/relationships/notesSlide" Target="/ppt/notesSlides/notesSlide9.xml" Id="Rce37321181ca46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48840ceb74f37" /><Relationship Type="http://schemas.openxmlformats.org/officeDocument/2006/relationships/notesSlide" Target="/ppt/notesSlides/notesSlide10.xml" Id="Rb3edfd57b68747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22d1fa6e16442c" /><Relationship Type="http://schemas.openxmlformats.org/officeDocument/2006/relationships/notesSlide" Target="/ppt/notesSlides/notesSlide11.xml" Id="Re857b7b36d0149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6a5609b4847bc" /><Relationship Type="http://schemas.openxmlformats.org/officeDocument/2006/relationships/notesSlide" Target="/ppt/notesSlides/notesSlide12.xml" Id="Rd746887501704f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34958efc946b3" /><Relationship Type="http://schemas.openxmlformats.org/officeDocument/2006/relationships/notesSlide" Target="/ppt/notesSlides/notesSlide13.xml" Id="R98c1dc07f2fa4b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EAA026F-7413-482F-A597-EFACD27B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left-accent">
            <a:extLst xmlns:a="http://schemas.openxmlformats.org/drawingml/2006/main">
              <a:ext uri="{FF2B5EF4-FFF2-40B4-BE49-F238E27FC236}">
                <a16:creationId xmlns:a16="http://schemas.microsoft.com/office/drawing/2014/main" id="{C9D17AC9-5B27-41F4-8762-1BF1E63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ark-right-panel">
            <a:extLst xmlns:a="http://schemas.openxmlformats.org/drawingml/2006/main">
              <a:ext uri="{FF2B5EF4-FFF2-40B4-BE49-F238E27FC236}">
                <a16:creationId xmlns:a16="http://schemas.microsoft.com/office/drawing/2014/main" id="{63147152-7117-49E1-A9BE-66CEF27B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05DEE1D3-62AE-43CF-8C5C-B002AD84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ABC5350A-A18C-4CCE-BABB-92637A36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D1C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8D1C6"/>
                </a:solidFill>
                <a:latin typeface="Menlo"/>
                <a:ea typeface="Menlo"/>
                <a:cs typeface="Menlo"/>
              </a:rPr>
              <a:t>第 28 章 / AI Agent 工程实践教程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C757C80-F6F2-478B-BE83-4A5F0282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世界模型与具身智能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11F6B09-3D52-4AAE-97FE-F5DF6D82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1C6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8D1C6"/>
                </a:solidFill>
                <a:latin typeface="PingFang SC"/>
                <a:ea typeface="PingFang SC"/>
                <a:cs typeface="PingFang SC"/>
              </a:rPr>
              <a:t>从预测世界到行动系统</a:t>
            </a:r>
          </a:p>
        </p:txBody>
      </p:sp>
      <p:sp>
        <p:nvSpPr>
          <p:cNvPr id="8" name="cover-llm">
            <a:extLst xmlns:a="http://schemas.openxmlformats.org/drawingml/2006/main">
              <a:ext uri="{FF2B5EF4-FFF2-40B4-BE49-F238E27FC236}">
                <a16:creationId xmlns:a16="http://schemas.microsoft.com/office/drawing/2014/main" id="{C649B9F2-4AE1-44F2-86BA-EEDE1511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3A464A"/>
            </a:solidFill>
            <a:prstDash val="solid"/>
          </a:ln>
        </p:spPr>
      </p:sp>
      <p:sp>
        <p:nvSpPr>
          <p:cNvPr id="9" name="cover-llm-label">
            <a:extLst xmlns:a="http://schemas.openxmlformats.org/drawingml/2006/main">
              <a:ext uri="{FF2B5EF4-FFF2-40B4-BE49-F238E27FC236}">
                <a16:creationId xmlns:a16="http://schemas.microsoft.com/office/drawing/2014/main" id="{93CE2126-000F-45E7-9E3F-C54D3BF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 会说</a:t>
            </a:r>
          </a:p>
        </p:txBody>
      </p:sp>
      <p:sp>
        <p:nvSpPr>
          <p:cNvPr id="10" name="cover-llm-detail">
            <a:extLst xmlns:a="http://schemas.openxmlformats.org/drawingml/2006/main">
              <a:ext uri="{FF2B5EF4-FFF2-40B4-BE49-F238E27FC236}">
                <a16:creationId xmlns:a16="http://schemas.microsoft.com/office/drawing/2014/main" id="{73E93534-81B7-4607-9DC0-07B7D58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压缩语言和知识</a:t>
            </a:r>
          </a:p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预测下一个 token</a:t>
            </a:r>
          </a:p>
        </p:txBody>
      </p:sp>
      <p:sp>
        <p:nvSpPr>
          <p:cNvPr id="11" name="cover-arrow-1-shaft">
            <a:extLst xmlns:a="http://schemas.openxmlformats.org/drawingml/2006/main">
              <a:ext uri="{FF2B5EF4-FFF2-40B4-BE49-F238E27FC236}">
                <a16:creationId xmlns:a16="http://schemas.microsoft.com/office/drawing/2014/main" id="{9BBCFCD7-0B45-4247-86B4-F7B886A2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337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cover-arrow-1-head">
            <a:extLst xmlns:a="http://schemas.openxmlformats.org/drawingml/2006/main">
              <a:ext uri="{FF2B5EF4-FFF2-40B4-BE49-F238E27FC236}">
                <a16:creationId xmlns:a16="http://schemas.microsoft.com/office/drawing/2014/main" id="{1747355C-C14F-4BD4-AEDB-CFEC9C13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385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cover-world">
            <a:extLst xmlns:a="http://schemas.openxmlformats.org/drawingml/2006/main">
              <a:ext uri="{FF2B5EF4-FFF2-40B4-BE49-F238E27FC236}">
                <a16:creationId xmlns:a16="http://schemas.microsoft.com/office/drawing/2014/main" id="{613B2A82-45C4-4187-A236-6427320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4" name="cover-world-label">
            <a:extLst xmlns:a="http://schemas.openxmlformats.org/drawingml/2006/main">
              <a:ext uri="{FF2B5EF4-FFF2-40B4-BE49-F238E27FC236}">
                <a16:creationId xmlns:a16="http://schemas.microsoft.com/office/drawing/2014/main" id="{17D15294-7E00-4B03-84B6-AED8FCA9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World Model 会预测</a:t>
            </a:r>
          </a:p>
        </p:txBody>
      </p:sp>
      <p:sp>
        <p:nvSpPr>
          <p:cNvPr id="15" name="cover-world-detail">
            <a:extLst xmlns:a="http://schemas.openxmlformats.org/drawingml/2006/main">
              <a:ext uri="{FF2B5EF4-FFF2-40B4-BE49-F238E27FC236}">
                <a16:creationId xmlns:a16="http://schemas.microsoft.com/office/drawing/2014/main" id="{4B232DDC-A351-4657-8BB4-66F8AC65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995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模拟状态变化</a:t>
            </a:r>
          </a:p>
          <a:p xmlns:a="http://schemas.openxmlformats.org/drawingml/2006/main">
            <a:pPr algn="l">
              <a:def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预测行动后果和风险</a:t>
            </a:r>
          </a:p>
        </p:txBody>
      </p:sp>
      <p:sp>
        <p:nvSpPr>
          <p:cNvPr id="16" name="cover-arrow-2-shaft">
            <a:extLst xmlns:a="http://schemas.openxmlformats.org/drawingml/2006/main">
              <a:ext uri="{FF2B5EF4-FFF2-40B4-BE49-F238E27FC236}">
                <a16:creationId xmlns:a16="http://schemas.microsoft.com/office/drawing/2014/main" id="{71BE9651-817B-40A1-967A-383AD9A7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cover-arrow-2-head">
            <a:extLst xmlns:a="http://schemas.openxmlformats.org/drawingml/2006/main">
              <a:ext uri="{FF2B5EF4-FFF2-40B4-BE49-F238E27FC236}">
                <a16:creationId xmlns:a16="http://schemas.microsoft.com/office/drawing/2014/main" id="{637130B3-3189-46DC-9252-4877EDFF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cover-embodied">
            <a:extLst xmlns:a="http://schemas.openxmlformats.org/drawingml/2006/main">
              <a:ext uri="{FF2B5EF4-FFF2-40B4-BE49-F238E27FC236}">
                <a16:creationId xmlns:a16="http://schemas.microsoft.com/office/drawing/2014/main" id="{5DDBE866-A72A-4CCF-BF45-4923E15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209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027"/>
          </a:solidFill>
          <a:ln xmlns:a="http://schemas.openxmlformats.org/drawingml/2006/main" w="9525">
            <a:solidFill>
              <a:srgbClr val="1E5B4B"/>
            </a:solidFill>
            <a:prstDash val="solid"/>
          </a:ln>
        </p:spPr>
      </p:sp>
      <p:sp>
        <p:nvSpPr>
          <p:cNvPr id="19" name="cover-embodied-label">
            <a:extLst xmlns:a="http://schemas.openxmlformats.org/drawingml/2006/main">
              <a:ext uri="{FF2B5EF4-FFF2-40B4-BE49-F238E27FC236}">
                <a16:creationId xmlns:a16="http://schemas.microsoft.com/office/drawing/2014/main" id="{483704F3-80F2-46E8-8FF2-07E5005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Embodied AI 会行动</a:t>
            </a:r>
          </a:p>
        </p:txBody>
      </p:sp>
      <p:sp>
        <p:nvSpPr>
          <p:cNvPr id="20" name="cover-embodied-detail">
            <a:extLst xmlns:a="http://schemas.openxmlformats.org/drawingml/2006/main">
              <a:ext uri="{FF2B5EF4-FFF2-40B4-BE49-F238E27FC236}">
                <a16:creationId xmlns:a16="http://schemas.microsoft.com/office/drawing/2014/main" id="{2648F5F4-A984-4E81-AB8D-BC92B676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rPr>
              <a:t>带着身体和传感器</a:t>
            </a:r>
          </a:p>
          <a:p xmlns:a="http://schemas.openxmlformats.org/drawingml/2006/main">
            <a:pPr algn="l">
              <a:def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rPr>
              <a:t>在环境里闭环执行</a:t>
            </a:r>
          </a:p>
        </p:txBody>
      </p:sp>
      <p:sp>
        <p:nvSpPr>
          <p:cNvPr id="21" name="goal-label">
            <a:extLst xmlns:a="http://schemas.openxmlformats.org/drawingml/2006/main">
              <a:ext uri="{FF2B5EF4-FFF2-40B4-BE49-F238E27FC236}">
                <a16:creationId xmlns:a16="http://schemas.microsoft.com/office/drawing/2014/main" id="{025ECE50-212E-4278-A26F-51DEBDD1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1239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D5A021"/>
                </a:solidFill>
                <a:latin typeface="Menlo"/>
                <a:ea typeface="Menlo"/>
                <a:cs typeface="Menlo"/>
              </a:rPr>
              <a:t>教程目标</a:t>
            </a:r>
          </a:p>
        </p:txBody>
      </p:sp>
      <p:sp>
        <p:nvSpPr>
          <p:cNvPr id="22" name="建立直觉-tag-marker">
            <a:extLst xmlns:a="http://schemas.openxmlformats.org/drawingml/2006/main">
              <a:ext uri="{FF2B5EF4-FFF2-40B4-BE49-F238E27FC236}">
                <a16:creationId xmlns:a16="http://schemas.microsoft.com/office/drawing/2014/main" id="{F3209889-11A0-4D36-B63E-9D95D7E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建立直觉-tag-label">
            <a:extLst xmlns:a="http://schemas.openxmlformats.org/drawingml/2006/main">
              <a:ext uri="{FF2B5EF4-FFF2-40B4-BE49-F238E27FC236}">
                <a16:creationId xmlns:a16="http://schemas.microsoft.com/office/drawing/2014/main" id="{638AB39E-7960-4CBC-BA84-569691C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668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D6C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CD6CB"/>
                </a:solidFill>
                <a:latin typeface="Menlo"/>
                <a:ea typeface="Menlo"/>
                <a:cs typeface="Menlo"/>
              </a:rPr>
              <a:t>建立直觉</a:t>
            </a:r>
          </a:p>
        </p:txBody>
      </p:sp>
      <p:sp>
        <p:nvSpPr>
          <p:cNvPr id="24" name="看懂路线-tag-marker">
            <a:extLst xmlns:a="http://schemas.openxmlformats.org/drawingml/2006/main">
              <a:ext uri="{FF2B5EF4-FFF2-40B4-BE49-F238E27FC236}">
                <a16:creationId xmlns:a16="http://schemas.microsoft.com/office/drawing/2014/main" id="{5F3367C8-5A8B-42CF-8C30-14AE6BE5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28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看懂路线-tag-label">
            <a:extLst xmlns:a="http://schemas.openxmlformats.org/drawingml/2006/main">
              <a:ext uri="{FF2B5EF4-FFF2-40B4-BE49-F238E27FC236}">
                <a16:creationId xmlns:a16="http://schemas.microsoft.com/office/drawing/2014/main" id="{3F514456-F59F-4875-9893-5F5B29A4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812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D6C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CD6CB"/>
                </a:solidFill>
                <a:latin typeface="Menlo"/>
                <a:ea typeface="Menlo"/>
                <a:cs typeface="Menlo"/>
              </a:rPr>
              <a:t>看懂路线</a:t>
            </a:r>
          </a:p>
        </p:txBody>
      </p:sp>
      <p:sp>
        <p:nvSpPr>
          <p:cNvPr id="26" name="画出架构-tag-marker">
            <a:extLst xmlns:a="http://schemas.openxmlformats.org/drawingml/2006/main">
              <a:ext uri="{FF2B5EF4-FFF2-40B4-BE49-F238E27FC236}">
                <a16:creationId xmlns:a16="http://schemas.microsoft.com/office/drawing/2014/main" id="{83BDEE6F-12AC-400D-8A0A-E8FFE48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画出架构-tag-label">
            <a:extLst xmlns:a="http://schemas.openxmlformats.org/drawingml/2006/main">
              <a:ext uri="{FF2B5EF4-FFF2-40B4-BE49-F238E27FC236}">
                <a16:creationId xmlns:a16="http://schemas.microsoft.com/office/drawing/2014/main" id="{E757A4A8-F0E4-4251-90A8-425011A0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955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D6C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CD6CB"/>
                </a:solidFill>
                <a:latin typeface="Menlo"/>
                <a:ea typeface="Menlo"/>
                <a:cs typeface="Menlo"/>
              </a:rPr>
              <a:t>画出架构</a:t>
            </a:r>
          </a:p>
        </p:txBody>
      </p:sp>
      <p:sp>
        <p:nvSpPr>
          <p:cNvPr id="28" name="回答面试-tag-marker">
            <a:extLst xmlns:a="http://schemas.openxmlformats.org/drawingml/2006/main">
              <a:ext uri="{FF2B5EF4-FFF2-40B4-BE49-F238E27FC236}">
                <a16:creationId xmlns:a16="http://schemas.microsoft.com/office/drawing/2014/main" id="{E794A940-3B14-4321-8BC8-F47B7E8B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回答面试-tag-label">
            <a:extLst xmlns:a="http://schemas.openxmlformats.org/drawingml/2006/main">
              <a:ext uri="{FF2B5EF4-FFF2-40B4-BE49-F238E27FC236}">
                <a16:creationId xmlns:a16="http://schemas.microsoft.com/office/drawing/2014/main" id="{40632B49-7250-4353-8904-F608D883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992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D6C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CD6CB"/>
                </a:solidFill>
                <a:latin typeface="Menlo"/>
                <a:ea typeface="Menlo"/>
                <a:cs typeface="Menlo"/>
              </a:rPr>
              <a:t>回答面试</a:t>
            </a:r>
          </a:p>
        </p:txBody>
      </p:sp>
      <p:sp>
        <p:nvSpPr>
          <p:cNvPr id="30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AD6242D-CDB9-411D-BB55-CFE84A5F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E6D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0E6D8"/>
                </a:solidFill>
                <a:latin typeface="PingFang SC"/>
                <a:ea typeface="PingFang SC"/>
                <a:cs typeface="PingFang SC"/>
              </a:rPr>
              <a:t>核心判断：世界模型不是“知道更多事实”，而是让智能体在行动前能预测环境会怎样变化。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68EC00E-C8A6-483A-A203-8C3B1A1B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F7002ED-F153-486F-BC5A-308575D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3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8E9EE12-E664-4D83-8145-893CB6C2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6A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9CA6A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900159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2A5377A-3C42-4843-B7E4-5E55AF31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F669494-E881-44AF-A907-35C33F54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A20D07E9-3602-4C94-BA58-F95E606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481702C-D159-4D47-BD3C-FC613DDA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45D5AE01-C511-41AD-BB4B-13AEC305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LEARNING FRAME / NEXT ACTION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7262811-5EE5-4CDF-88EA-1D213FCF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这章的核心问题是：智能体如何选择下一步动作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98FB3BC1-01DB-47BF-8E9A-B01A7B2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动作空间越接近真实世界，反馈越慢、风险越高、验证越重。</a:t>
            </a:r>
          </a:p>
        </p:txBody>
      </p:sp>
      <p:sp>
        <p:nvSpPr>
          <p:cNvPr id="8" name="ladder-1-marker">
            <a:extLst xmlns:a="http://schemas.openxmlformats.org/drawingml/2006/main">
              <a:ext uri="{FF2B5EF4-FFF2-40B4-BE49-F238E27FC236}">
                <a16:creationId xmlns:a16="http://schemas.microsoft.com/office/drawing/2014/main" id="{20450580-9C01-4368-A034-9E7CBD2E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ladder-1-label">
            <a:extLst xmlns:a="http://schemas.openxmlformats.org/drawingml/2006/main">
              <a:ext uri="{FF2B5EF4-FFF2-40B4-BE49-F238E27FC236}">
                <a16:creationId xmlns:a16="http://schemas.microsoft.com/office/drawing/2014/main" id="{59CF2460-90D2-4B2D-A2A9-D12D35E6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LLM</a:t>
            </a:r>
          </a:p>
        </p:txBody>
      </p:sp>
      <p:sp>
        <p:nvSpPr>
          <p:cNvPr id="10" name="ladder-1-body">
            <a:extLst xmlns:a="http://schemas.openxmlformats.org/drawingml/2006/main">
              <a:ext uri="{FF2B5EF4-FFF2-40B4-BE49-F238E27FC236}">
                <a16:creationId xmlns:a16="http://schemas.microsoft.com/office/drawing/2014/main" id="{BA4222A3-F24E-4790-8684-3E208275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生成下一个 token</a:t>
            </a:r>
          </a:p>
        </p:txBody>
      </p:sp>
      <p:sp>
        <p:nvSpPr>
          <p:cNvPr id="11" name="ladder-arrow-1-shaft">
            <a:extLst xmlns:a="http://schemas.openxmlformats.org/drawingml/2006/main">
              <a:ext uri="{FF2B5EF4-FFF2-40B4-BE49-F238E27FC236}">
                <a16:creationId xmlns:a16="http://schemas.microsoft.com/office/drawing/2014/main" id="{0DB940C4-2145-4F91-8E12-B6B8AC05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09875"/>
            <a:ext cx="-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adder-arrow-1-head">
            <a:extLst xmlns:a="http://schemas.openxmlformats.org/drawingml/2006/main">
              <a:ext uri="{FF2B5EF4-FFF2-40B4-BE49-F238E27FC236}">
                <a16:creationId xmlns:a16="http://schemas.microsoft.com/office/drawing/2014/main" id="{F5C6836C-74F0-49BF-8568-12749BA0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14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ladder-2-marker">
            <a:extLst xmlns:a="http://schemas.openxmlformats.org/drawingml/2006/main">
              <a:ext uri="{FF2B5EF4-FFF2-40B4-BE49-F238E27FC236}">
                <a16:creationId xmlns:a16="http://schemas.microsoft.com/office/drawing/2014/main" id="{23C71F66-C8D6-4AC0-9D63-368F3805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ladder-2-label">
            <a:extLst xmlns:a="http://schemas.openxmlformats.org/drawingml/2006/main">
              <a:ext uri="{FF2B5EF4-FFF2-40B4-BE49-F238E27FC236}">
                <a16:creationId xmlns:a16="http://schemas.microsoft.com/office/drawing/2014/main" id="{5EB197BA-6220-40B0-B95E-D2C4FB57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RAG</a:t>
            </a:r>
          </a:p>
        </p:txBody>
      </p:sp>
      <p:sp>
        <p:nvSpPr>
          <p:cNvPr id="15" name="ladder-2-body">
            <a:extLst xmlns:a="http://schemas.openxmlformats.org/drawingml/2006/main">
              <a:ext uri="{FF2B5EF4-FFF2-40B4-BE49-F238E27FC236}">
                <a16:creationId xmlns:a16="http://schemas.microsoft.com/office/drawing/2014/main" id="{F44F91AC-644B-44EE-8329-2B50FDAA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用外部知识约束回答</a:t>
            </a:r>
          </a:p>
        </p:txBody>
      </p:sp>
      <p:sp>
        <p:nvSpPr>
          <p:cNvPr id="16" name="ladder-arrow-2-shaft">
            <a:extLst xmlns:a="http://schemas.openxmlformats.org/drawingml/2006/main">
              <a:ext uri="{FF2B5EF4-FFF2-40B4-BE49-F238E27FC236}">
                <a16:creationId xmlns:a16="http://schemas.microsoft.com/office/drawing/2014/main" id="{E478E933-B885-4992-8459-4F6601F9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9875"/>
            <a:ext cx="-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adder-arrow-2-head">
            <a:extLst xmlns:a="http://schemas.openxmlformats.org/drawingml/2006/main">
              <a:ext uri="{FF2B5EF4-FFF2-40B4-BE49-F238E27FC236}">
                <a16:creationId xmlns:a16="http://schemas.microsoft.com/office/drawing/2014/main" id="{A30EC186-F407-4BC1-AA33-E1D8F918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14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ladder-3-marker">
            <a:extLst xmlns:a="http://schemas.openxmlformats.org/drawingml/2006/main">
              <a:ext uri="{FF2B5EF4-FFF2-40B4-BE49-F238E27FC236}">
                <a16:creationId xmlns:a16="http://schemas.microsoft.com/office/drawing/2014/main" id="{5E8486B8-E634-4250-9719-7F24E0CE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28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ladder-3-label">
            <a:extLst xmlns:a="http://schemas.openxmlformats.org/drawingml/2006/main">
              <a:ext uri="{FF2B5EF4-FFF2-40B4-BE49-F238E27FC236}">
                <a16:creationId xmlns:a16="http://schemas.microsoft.com/office/drawing/2014/main" id="{B4F7125D-A404-4ED9-81D9-8CA49740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52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Agent</a:t>
            </a:r>
          </a:p>
        </p:txBody>
      </p:sp>
      <p:sp>
        <p:nvSpPr>
          <p:cNvPr id="20" name="ladder-3-body">
            <a:extLst xmlns:a="http://schemas.openxmlformats.org/drawingml/2006/main">
              <a:ext uri="{FF2B5EF4-FFF2-40B4-BE49-F238E27FC236}">
                <a16:creationId xmlns:a16="http://schemas.microsoft.com/office/drawing/2014/main" id="{626DAEF8-A2F4-49FC-BA02-33BC0595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765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调用工具影响数字世界</a:t>
            </a:r>
          </a:p>
        </p:txBody>
      </p:sp>
      <p:sp>
        <p:nvSpPr>
          <p:cNvPr id="21" name="ladder-arrow-3-shaft">
            <a:extLst xmlns:a="http://schemas.openxmlformats.org/drawingml/2006/main">
              <a:ext uri="{FF2B5EF4-FFF2-40B4-BE49-F238E27FC236}">
                <a16:creationId xmlns:a16="http://schemas.microsoft.com/office/drawing/2014/main" id="{BD10F17B-15EC-46D0-B8CA-92FBB41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09875"/>
            <a:ext cx="-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ladder-arrow-3-head">
            <a:extLst xmlns:a="http://schemas.openxmlformats.org/drawingml/2006/main">
              <a:ext uri="{FF2B5EF4-FFF2-40B4-BE49-F238E27FC236}">
                <a16:creationId xmlns:a16="http://schemas.microsoft.com/office/drawing/2014/main" id="{4938F410-7867-4488-8D7D-B4B540A6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ladder-4-marker">
            <a:extLst xmlns:a="http://schemas.openxmlformats.org/drawingml/2006/main">
              <a:ext uri="{FF2B5EF4-FFF2-40B4-BE49-F238E27FC236}">
                <a16:creationId xmlns:a16="http://schemas.microsoft.com/office/drawing/2014/main" id="{BC29962B-4E98-434B-AE0A-A0BBC4AD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28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ladder-4-label">
            <a:extLst xmlns:a="http://schemas.openxmlformats.org/drawingml/2006/main">
              <a:ext uri="{FF2B5EF4-FFF2-40B4-BE49-F238E27FC236}">
                <a16:creationId xmlns:a16="http://schemas.microsoft.com/office/drawing/2014/main" id="{A03414EE-FB16-477E-AD01-0217A22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552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World Model</a:t>
            </a:r>
          </a:p>
        </p:txBody>
      </p:sp>
      <p:sp>
        <p:nvSpPr>
          <p:cNvPr id="25" name="ladder-4-body">
            <a:extLst xmlns:a="http://schemas.openxmlformats.org/drawingml/2006/main">
              <a:ext uri="{FF2B5EF4-FFF2-40B4-BE49-F238E27FC236}">
                <a16:creationId xmlns:a16="http://schemas.microsoft.com/office/drawing/2014/main" id="{6277D7D8-A6D1-4494-9F3B-DAC89B1B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765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预测状态变化与后果</a:t>
            </a:r>
          </a:p>
        </p:txBody>
      </p:sp>
      <p:sp>
        <p:nvSpPr>
          <p:cNvPr id="26" name="ladder-arrow-4-shaft">
            <a:extLst xmlns:a="http://schemas.openxmlformats.org/drawingml/2006/main">
              <a:ext uri="{FF2B5EF4-FFF2-40B4-BE49-F238E27FC236}">
                <a16:creationId xmlns:a16="http://schemas.microsoft.com/office/drawing/2014/main" id="{4B17A1D3-F673-4F59-BF51-11A9DD81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9875"/>
            <a:ext cx="-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adder-arrow-4-head">
            <a:extLst xmlns:a="http://schemas.openxmlformats.org/drawingml/2006/main">
              <a:ext uri="{FF2B5EF4-FFF2-40B4-BE49-F238E27FC236}">
                <a16:creationId xmlns:a16="http://schemas.microsoft.com/office/drawing/2014/main" id="{10C47ECE-F8D9-4735-8B77-90837BAB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14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CDB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ladder-5-marker">
            <a:extLst xmlns:a="http://schemas.openxmlformats.org/drawingml/2006/main">
              <a:ext uri="{FF2B5EF4-FFF2-40B4-BE49-F238E27FC236}">
                <a16:creationId xmlns:a16="http://schemas.microsoft.com/office/drawing/2014/main" id="{CA0B2D30-CFB9-4334-A9AF-613275B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ladder-5-label">
            <a:extLst xmlns:a="http://schemas.openxmlformats.org/drawingml/2006/main">
              <a:ext uri="{FF2B5EF4-FFF2-40B4-BE49-F238E27FC236}">
                <a16:creationId xmlns:a16="http://schemas.microsoft.com/office/drawing/2014/main" id="{1D81A6EC-9BBD-4E6E-A7B5-D9FCD2B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52700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Embodied AI</a:t>
            </a:r>
          </a:p>
        </p:txBody>
      </p:sp>
      <p:sp>
        <p:nvSpPr>
          <p:cNvPr id="30" name="ladder-5-body">
            <a:extLst xmlns:a="http://schemas.openxmlformats.org/drawingml/2006/main">
              <a:ext uri="{FF2B5EF4-FFF2-40B4-BE49-F238E27FC236}">
                <a16:creationId xmlns:a16="http://schemas.microsoft.com/office/drawing/2014/main" id="{BC04766B-E5EA-4226-9F1C-178EFCC4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76550"/>
            <a:ext cx="1066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移动、抓取、避障、协作</a:t>
            </a:r>
          </a:p>
        </p:txBody>
      </p:sp>
      <p:sp>
        <p:nvSpPr>
          <p:cNvPr id="31" name="risk-axis">
            <a:extLst xmlns:a="http://schemas.openxmlformats.org/drawingml/2006/main">
              <a:ext uri="{FF2B5EF4-FFF2-40B4-BE49-F238E27FC236}">
                <a16:creationId xmlns:a16="http://schemas.microsoft.com/office/drawing/2014/main" id="{9E8D5652-3414-4002-8BC1-A522F37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axis-left">
            <a:extLst xmlns:a="http://schemas.openxmlformats.org/drawingml/2006/main">
              <a:ext uri="{FF2B5EF4-FFF2-40B4-BE49-F238E27FC236}">
                <a16:creationId xmlns:a16="http://schemas.microsoft.com/office/drawing/2014/main" id="{02CFCDF5-20AF-459A-A511-A55C3252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低风险 / 可回滚</a:t>
            </a:r>
          </a:p>
        </p:txBody>
      </p:sp>
      <p:sp>
        <p:nvSpPr>
          <p:cNvPr id="33" name="axis-right">
            <a:extLst xmlns:a="http://schemas.openxmlformats.org/drawingml/2006/main">
              <a:ext uri="{FF2B5EF4-FFF2-40B4-BE49-F238E27FC236}">
                <a16:creationId xmlns:a16="http://schemas.microsoft.com/office/drawing/2014/main" id="{08971249-6B05-4A43-9CE9-5122CDB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高风险 / 难回滚</a:t>
            </a:r>
          </a:p>
        </p:txBody>
      </p:sp>
      <p:sp>
        <p:nvSpPr>
          <p:cNvPr id="34" name="shared-language">
            <a:extLst xmlns:a="http://schemas.openxmlformats.org/drawingml/2006/main">
              <a:ext uri="{FF2B5EF4-FFF2-40B4-BE49-F238E27FC236}">
                <a16:creationId xmlns:a16="http://schemas.microsoft.com/office/drawing/2014/main" id="{17349ABF-290C-44D6-BB08-6EBC5399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E"/>
            </a:solidFill>
            <a:prstDash val="solid"/>
          </a:ln>
        </p:spPr>
      </p:sp>
      <p:sp>
        <p:nvSpPr>
          <p:cNvPr id="35" name="shared-language-label">
            <a:extLst xmlns:a="http://schemas.openxmlformats.org/drawingml/2006/main">
              <a:ext uri="{FF2B5EF4-FFF2-40B4-BE49-F238E27FC236}">
                <a16:creationId xmlns:a16="http://schemas.microsoft.com/office/drawing/2014/main" id="{A9E851A8-060C-45F3-B8AE-EA4FD56B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482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工程语言可以统一它们</a:t>
            </a:r>
          </a:p>
        </p:txBody>
      </p:sp>
      <p:sp>
        <p:nvSpPr>
          <p:cNvPr id="36" name="shared-language-detail">
            <a:extLst xmlns:a="http://schemas.openxmlformats.org/drawingml/2006/main">
              <a:ext uri="{FF2B5EF4-FFF2-40B4-BE49-F238E27FC236}">
                <a16:creationId xmlns:a16="http://schemas.microsoft.com/office/drawing/2014/main" id="{9436FB33-BD41-410C-A2C3-65A01A05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状态表示、动作空间、反馈信号、评估指标、安全边界。</a:t>
            </a:r>
          </a:p>
        </p:txBody>
      </p:sp>
      <p:sp>
        <p:nvSpPr>
          <p:cNvPr id="37" name="action-env">
            <a:extLst xmlns:a="http://schemas.openxmlformats.org/drawingml/2006/main">
              <a:ext uri="{FF2B5EF4-FFF2-40B4-BE49-F238E27FC236}">
                <a16:creationId xmlns:a16="http://schemas.microsoft.com/office/drawing/2014/main" id="{133D3F0C-AFC1-4690-A196-0E3202C2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3390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E"/>
            </a:solidFill>
            <a:prstDash val="solid"/>
          </a:ln>
        </p:spPr>
      </p:sp>
      <p:sp>
        <p:nvSpPr>
          <p:cNvPr id="38" name="action-env-label">
            <a:extLst xmlns:a="http://schemas.openxmlformats.org/drawingml/2006/main">
              <a:ext uri="{FF2B5EF4-FFF2-40B4-BE49-F238E27FC236}">
                <a16:creationId xmlns:a16="http://schemas.microsoft.com/office/drawing/2014/main" id="{A60B1733-A433-4CC5-BB0F-2BBAEB33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64820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差异在动作与环境</a:t>
            </a:r>
          </a:p>
        </p:txBody>
      </p:sp>
      <p:sp>
        <p:nvSpPr>
          <p:cNvPr id="39" name="action-env-detail">
            <a:extLst xmlns:a="http://schemas.openxmlformats.org/drawingml/2006/main">
              <a:ext uri="{FF2B5EF4-FFF2-40B4-BE49-F238E27FC236}">
                <a16:creationId xmlns:a16="http://schemas.microsoft.com/office/drawing/2014/main" id="{E737A691-FB55-43F7-950C-E9647A2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953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从文本到工具，再到传感器、身体、物理约束。</a:t>
            </a:r>
          </a:p>
        </p:txBody>
      </p:sp>
      <p:sp>
        <p:nvSpPr>
          <p:cNvPr id="40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CF2F6B51-6C8D-4E2B-8189-0573D183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CEDCAF3-E42F-4E77-80ED-34893FE5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72000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讲课提示</a:t>
            </a:r>
          </a:p>
        </p:txBody>
      </p:sp>
      <p:sp>
        <p:nvSpPr>
          <p:cNvPr id="42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A5D06A62-27B5-4029-BDC1-6A6A734A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19650"/>
            <a:ext cx="232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先让听众把 Agent 的 tool use 看作“数字具身”，再迁移到机器人。</a:t>
            </a:r>
          </a:p>
        </p:txBody>
      </p:sp>
      <p:sp>
        <p:nvSpPr>
          <p:cNvPr id="4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B917093-94CC-4F67-A98E-656323CF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0C8BE28-5497-46A1-B7CF-1304E731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4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039B25F-41F6-431F-A6C0-1BA069D7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2532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63556A7-000A-47D9-9DA5-0435C0F6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114EE4AE-3D0F-4E3B-8DAF-03233D2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44BAD36F-D2DA-4E22-94B5-9A6655DE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C0E842A-730D-4F2B-8E63-F04EEC8B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698AFF5-B69E-4C1A-A38B-FADA11A6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WORLD MODEL / DEFINITION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43DAA97-3BAD-4809-8DD6-7A60425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世界模型不是知识库，而是行动前的预测器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6AA1217A-7E52-4C0A-B68D-D875B169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它回答的不是“事实是什么”，而是“如果我这样做，世界会怎样变”。</a:t>
            </a:r>
          </a:p>
        </p:txBody>
      </p:sp>
      <p:sp>
        <p:nvSpPr>
          <p:cNvPr id="8" name="obs">
            <a:extLst xmlns:a="http://schemas.openxmlformats.org/drawingml/2006/main">
              <a:ext uri="{FF2B5EF4-FFF2-40B4-BE49-F238E27FC236}">
                <a16:creationId xmlns:a16="http://schemas.microsoft.com/office/drawing/2014/main" id="{5B459BD7-B23D-46AD-83CD-EDB12B9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E"/>
            </a:solidFill>
            <a:prstDash val="solid"/>
          </a:ln>
        </p:spPr>
      </p:sp>
      <p:sp>
        <p:nvSpPr>
          <p:cNvPr id="9" name="obs-label">
            <a:extLst xmlns:a="http://schemas.openxmlformats.org/drawingml/2006/main">
              <a:ext uri="{FF2B5EF4-FFF2-40B4-BE49-F238E27FC236}">
                <a16:creationId xmlns:a16="http://schemas.microsoft.com/office/drawing/2014/main" id="{F36C0010-CD39-4513-8146-70A2D9C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观察</a:t>
            </a:r>
          </a:p>
        </p:txBody>
      </p:sp>
      <p:sp>
        <p:nvSpPr>
          <p:cNvPr id="10" name="obs-detail">
            <a:extLst xmlns:a="http://schemas.openxmlformats.org/drawingml/2006/main">
              <a:ext uri="{FF2B5EF4-FFF2-40B4-BE49-F238E27FC236}">
                <a16:creationId xmlns:a16="http://schemas.microsoft.com/office/drawing/2014/main" id="{75006356-5E6A-4D38-B180-10362C71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图像、视频、传感器、文本状态、历史轨迹</a:t>
            </a:r>
          </a:p>
        </p:txBody>
      </p:sp>
      <p:sp>
        <p:nvSpPr>
          <p:cNvPr id="11" name="action">
            <a:extLst xmlns:a="http://schemas.openxmlformats.org/drawingml/2006/main">
              <a:ext uri="{FF2B5EF4-FFF2-40B4-BE49-F238E27FC236}">
                <a16:creationId xmlns:a16="http://schemas.microsoft.com/office/drawing/2014/main" id="{95FD4FE1-DBC4-43D1-A85C-73ACD51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000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9CDBE"/>
            </a:solidFill>
            <a:prstDash val="solid"/>
          </a:ln>
        </p:spPr>
      </p:sp>
      <p:sp>
        <p:nvSpPr>
          <p:cNvPr id="12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5B899A36-9339-4258-941F-C09C9DE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候选动作</a:t>
            </a:r>
          </a:p>
        </p:txBody>
      </p:sp>
      <p:sp>
        <p:nvSpPr>
          <p:cNvPr id="13" name="action-detail">
            <a:extLst xmlns:a="http://schemas.openxmlformats.org/drawingml/2006/main">
              <a:ext uri="{FF2B5EF4-FFF2-40B4-BE49-F238E27FC236}">
                <a16:creationId xmlns:a16="http://schemas.microsoft.com/office/drawing/2014/main" id="{D5DB1754-A6D1-4AA6-8638-FC9C1C0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005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移动、抓取、点击、工具调用、控制指令</a:t>
            </a:r>
          </a:p>
        </p:txBody>
      </p:sp>
      <p:sp>
        <p:nvSpPr>
          <p:cNvPr id="14" name="obs-to-model-shaft">
            <a:extLst xmlns:a="http://schemas.openxmlformats.org/drawingml/2006/main">
              <a:ext uri="{FF2B5EF4-FFF2-40B4-BE49-F238E27FC236}">
                <a16:creationId xmlns:a16="http://schemas.microsoft.com/office/drawing/2014/main" id="{CAE4F795-B5D7-4D51-9AFF-B9FE76FF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37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obs-to-model-head">
            <a:extLst xmlns:a="http://schemas.openxmlformats.org/drawingml/2006/main">
              <a:ext uri="{FF2B5EF4-FFF2-40B4-BE49-F238E27FC236}">
                <a16:creationId xmlns:a16="http://schemas.microsoft.com/office/drawing/2014/main" id="{E1959B8F-30DD-410F-A974-6BFCB8B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84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action-to-model-shaft">
            <a:extLst xmlns:a="http://schemas.openxmlformats.org/drawingml/2006/main">
              <a:ext uri="{FF2B5EF4-FFF2-40B4-BE49-F238E27FC236}">
                <a16:creationId xmlns:a16="http://schemas.microsoft.com/office/drawing/2014/main" id="{A4CE7AA5-8D2E-4DDC-8645-42D1464F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672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action-to-model-head">
            <a:extLst xmlns:a="http://schemas.openxmlformats.org/drawingml/2006/main">
              <a:ext uri="{FF2B5EF4-FFF2-40B4-BE49-F238E27FC236}">
                <a16:creationId xmlns:a16="http://schemas.microsoft.com/office/drawing/2014/main" id="{C6FBFF47-B63C-4D01-8CE9-C9BF6874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719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world-model-core">
            <a:extLst xmlns:a="http://schemas.openxmlformats.org/drawingml/2006/main">
              <a:ext uri="{FF2B5EF4-FFF2-40B4-BE49-F238E27FC236}">
                <a16:creationId xmlns:a16="http://schemas.microsoft.com/office/drawing/2014/main" id="{FB8CEB56-C0EF-47C3-AC81-1BC896E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38450"/>
            <a:ext cx="2514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73B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" name="world-model-title">
            <a:extLst xmlns:a="http://schemas.openxmlformats.org/drawingml/2006/main">
              <a:ext uri="{FF2B5EF4-FFF2-40B4-BE49-F238E27FC236}">
                <a16:creationId xmlns:a16="http://schemas.microsoft.com/office/drawing/2014/main" id="{6B6F2DB7-AACC-46D5-B365-2F6228BD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943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World Model</a:t>
            </a:r>
          </a:p>
        </p:txBody>
      </p:sp>
      <p:sp>
        <p:nvSpPr>
          <p:cNvPr id="20" name="world-model-inner">
            <a:extLst xmlns:a="http://schemas.openxmlformats.org/drawingml/2006/main">
              <a:ext uri="{FF2B5EF4-FFF2-40B4-BE49-F238E27FC236}">
                <a16:creationId xmlns:a16="http://schemas.microsoft.com/office/drawing/2014/main" id="{AD73240C-9950-4531-AAB9-0320EABE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1790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latent state</a:t>
            </a:r>
          </a:p>
          <a:p xmlns:a="http://schemas.openxmlformats.org/drawingml/2006/main">
            <a:pPr algn="ctr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+ dynamics</a:t>
            </a:r>
          </a:p>
        </p:txBody>
      </p:sp>
      <p:sp>
        <p:nvSpPr>
          <p:cNvPr id="21" name="model-to-prediction-shaft">
            <a:extLst xmlns:a="http://schemas.openxmlformats.org/drawingml/2006/main">
              <a:ext uri="{FF2B5EF4-FFF2-40B4-BE49-F238E27FC236}">
                <a16:creationId xmlns:a16="http://schemas.microsoft.com/office/drawing/2014/main" id="{0C899F5B-0B0B-45CB-A07F-887320AD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model-to-prediction-head">
            <a:extLst xmlns:a="http://schemas.openxmlformats.org/drawingml/2006/main">
              <a:ext uri="{FF2B5EF4-FFF2-40B4-BE49-F238E27FC236}">
                <a16:creationId xmlns:a16="http://schemas.microsoft.com/office/drawing/2014/main" id="{1937A873-90CC-42D8-A17C-8934F27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next-state">
            <a:extLst xmlns:a="http://schemas.openxmlformats.org/drawingml/2006/main">
              <a:ext uri="{FF2B5EF4-FFF2-40B4-BE49-F238E27FC236}">
                <a16:creationId xmlns:a16="http://schemas.microsoft.com/office/drawing/2014/main" id="{22C08C4D-893C-40C4-91D7-AE6A1BCA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384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9525">
            <a:solidFill>
              <a:srgbClr val="B6D4D0"/>
            </a:solidFill>
            <a:prstDash val="solid"/>
          </a:ln>
        </p:spPr>
      </p:sp>
      <p:sp>
        <p:nvSpPr>
          <p:cNvPr id="24" name="next-state-label">
            <a:extLst xmlns:a="http://schemas.openxmlformats.org/drawingml/2006/main">
              <a:ext uri="{FF2B5EF4-FFF2-40B4-BE49-F238E27FC236}">
                <a16:creationId xmlns:a16="http://schemas.microsoft.com/office/drawing/2014/main" id="{7F7AEC0A-3B5E-4FCE-901E-C561A29F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下一状态</a:t>
            </a:r>
          </a:p>
        </p:txBody>
      </p:sp>
      <p:sp>
        <p:nvSpPr>
          <p:cNvPr id="25" name="next-state-detail">
            <a:extLst xmlns:a="http://schemas.openxmlformats.org/drawingml/2006/main">
              <a:ext uri="{FF2B5EF4-FFF2-40B4-BE49-F238E27FC236}">
                <a16:creationId xmlns:a16="http://schemas.microsoft.com/office/drawing/2014/main" id="{49660F2F-F650-4B8A-8CD8-269371F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物体位置、场景关系、任务进度</a:t>
            </a:r>
          </a:p>
        </p:txBody>
      </p:sp>
      <p:sp>
        <p:nvSpPr>
          <p:cNvPr id="26" name="reward-risk">
            <a:extLst xmlns:a="http://schemas.openxmlformats.org/drawingml/2006/main">
              <a:ext uri="{FF2B5EF4-FFF2-40B4-BE49-F238E27FC236}">
                <a16:creationId xmlns:a16="http://schemas.microsoft.com/office/drawing/2014/main" id="{C078A684-11A1-4F8C-BFA6-E88AEFBD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052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6C579"/>
            </a:solidFill>
            <a:prstDash val="solid"/>
          </a:ln>
        </p:spPr>
      </p:sp>
      <p:sp>
        <p:nvSpPr>
          <p:cNvPr id="27" name="reward-risk-label">
            <a:extLst xmlns:a="http://schemas.openxmlformats.org/drawingml/2006/main">
              <a:ext uri="{FF2B5EF4-FFF2-40B4-BE49-F238E27FC236}">
                <a16:creationId xmlns:a16="http://schemas.microsoft.com/office/drawing/2014/main" id="{95AD3213-266F-4D1B-8E40-D7D387D8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奖励 / 风险</a:t>
            </a:r>
          </a:p>
        </p:txBody>
      </p:sp>
      <p:sp>
        <p:nvSpPr>
          <p:cNvPr id="28" name="reward-risk-detail">
            <a:extLst xmlns:a="http://schemas.openxmlformats.org/drawingml/2006/main">
              <a:ext uri="{FF2B5EF4-FFF2-40B4-BE49-F238E27FC236}">
                <a16:creationId xmlns:a16="http://schemas.microsoft.com/office/drawing/2014/main" id="{8A81B6CA-0969-434D-9B2E-0D5BF2E0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243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成功概率、碰撞风险、安全违规</a:t>
            </a:r>
          </a:p>
        </p:txBody>
      </p:sp>
      <p:sp>
        <p:nvSpPr>
          <p:cNvPr id="29" name="affordance">
            <a:extLst xmlns:a="http://schemas.openxmlformats.org/drawingml/2006/main">
              <a:ext uri="{FF2B5EF4-FFF2-40B4-BE49-F238E27FC236}">
                <a16:creationId xmlns:a16="http://schemas.microsoft.com/office/drawing/2014/main" id="{22C594F3-2300-426C-B712-4E17B3DF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9525">
            <a:solidFill>
              <a:srgbClr val="A9C4B5"/>
            </a:solidFill>
            <a:prstDash val="solid"/>
          </a:ln>
        </p:spPr>
      </p:sp>
      <p:sp>
        <p:nvSpPr>
          <p:cNvPr id="30" name="affordance-label">
            <a:extLst xmlns:a="http://schemas.openxmlformats.org/drawingml/2006/main">
              <a:ext uri="{FF2B5EF4-FFF2-40B4-BE49-F238E27FC236}">
                <a16:creationId xmlns:a16="http://schemas.microsoft.com/office/drawing/2014/main" id="{6C705482-70BE-4763-87FF-1B4FBF45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可行动性</a:t>
            </a:r>
          </a:p>
        </p:txBody>
      </p:sp>
      <p:sp>
        <p:nvSpPr>
          <p:cNvPr id="31" name="affordance-detail">
            <a:extLst xmlns:a="http://schemas.openxmlformats.org/drawingml/2006/main">
              <a:ext uri="{FF2B5EF4-FFF2-40B4-BE49-F238E27FC236}">
                <a16:creationId xmlns:a16="http://schemas.microsoft.com/office/drawing/2014/main" id="{A8ABAB6A-0737-4209-BEC6-FEBB1B68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9110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当前身体与技能是否能执行</a:t>
            </a:r>
          </a:p>
        </p:txBody>
      </p:sp>
      <p:sp>
        <p:nvSpPr>
          <p:cNvPr id="32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DAA17E7F-2528-4255-A531-63B7D086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D5659702-D2B7-4BAD-80BF-7730D63D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57850"/>
            <a:ext cx="971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一句话</a:t>
            </a:r>
          </a:p>
        </p:txBody>
      </p:sp>
      <p:sp>
        <p:nvSpPr>
          <p:cNvPr id="34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BD7363B7-D841-4C4C-B711-A1FDDF22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57850"/>
            <a:ext cx="742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世界模型 = 给定当前观察、历史和动作，预测未来状态、收益、风险或可行动性的内部环境模型。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D61B5F-C31C-43FB-A540-21DE9AC2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6D368C0-D155-416D-9C33-F6182E4A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A83BE9A-EB70-43DA-90EE-3ACD58B9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649785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2822B118-85CB-4C7F-868A-7827CA45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E37B52A-DB6A-437A-ACFB-3DBE0F0A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859E1BE0-C18F-488A-BF78-9B28E17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27213918-1D13-4BA5-A726-8B371DD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B84076E-1FAD-4527-9B3D-81B42E35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MEANING MAP / FOUR ROUTES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F5D8A96-0C7C-47DF-B5A0-9913AF0F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同一个 World Model，论文和产业里常指四类能力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9C9CAC36-0DD9-4645-81A7-7315154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先判断语境，再讨论技术路线，否则容易把视频生成、RL 和仿真混在一起。</a:t>
            </a:r>
          </a:p>
        </p:txBody>
      </p:sp>
      <p:sp>
        <p:nvSpPr>
          <p:cNvPr id="8" name="cell-rl">
            <a:extLst xmlns:a="http://schemas.openxmlformats.org/drawingml/2006/main">
              <a:ext uri="{FF2B5EF4-FFF2-40B4-BE49-F238E27FC236}">
                <a16:creationId xmlns:a16="http://schemas.microsoft.com/office/drawing/2014/main" id="{97DD7F88-9D1B-42D7-9CC4-2A0B2831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9" name="cell-rl-accent">
            <a:extLst xmlns:a="http://schemas.openxmlformats.org/drawingml/2006/main">
              <a:ext uri="{FF2B5EF4-FFF2-40B4-BE49-F238E27FC236}">
                <a16:creationId xmlns:a16="http://schemas.microsoft.com/office/drawing/2014/main" id="{B7EF0D4A-C4DA-4C72-BA6A-13DDA1D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ell-rl-label">
            <a:extLst xmlns:a="http://schemas.openxmlformats.org/drawingml/2006/main">
              <a:ext uri="{FF2B5EF4-FFF2-40B4-BE49-F238E27FC236}">
                <a16:creationId xmlns:a16="http://schemas.microsoft.com/office/drawing/2014/main" id="{D60326E5-2293-4BF5-962E-903AD5F1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Model-based RL</a:t>
            </a:r>
          </a:p>
        </p:txBody>
      </p:sp>
      <p:sp>
        <p:nvSpPr>
          <p:cNvPr id="11" name="cell-rl-claim">
            <a:extLst xmlns:a="http://schemas.openxmlformats.org/drawingml/2006/main">
              <a:ext uri="{FF2B5EF4-FFF2-40B4-BE49-F238E27FC236}">
                <a16:creationId xmlns:a16="http://schemas.microsoft.com/office/drawing/2014/main" id="{72EE9D15-BD70-41C2-BDE1-B0BAF5BE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396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学习环境动力学，在模型里想象未来，再训练策略。</a:t>
            </a:r>
          </a:p>
        </p:txBody>
      </p:sp>
      <p:sp>
        <p:nvSpPr>
          <p:cNvPr id="12" name="cell-rl-examples">
            <a:extLst xmlns:a="http://schemas.openxmlformats.org/drawingml/2006/main">
              <a:ext uri="{FF2B5EF4-FFF2-40B4-BE49-F238E27FC236}">
                <a16:creationId xmlns:a16="http://schemas.microsoft.com/office/drawing/2014/main" id="{BBD33E52-90C5-4351-B922-85A47826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World Models / PlaNet / Dreamer</a:t>
            </a:r>
          </a:p>
        </p:txBody>
      </p:sp>
      <p:sp>
        <p:nvSpPr>
          <p:cNvPr id="13" name="cell-interactive">
            <a:extLst xmlns:a="http://schemas.openxmlformats.org/drawingml/2006/main">
              <a:ext uri="{FF2B5EF4-FFF2-40B4-BE49-F238E27FC236}">
                <a16:creationId xmlns:a16="http://schemas.microsoft.com/office/drawing/2014/main" id="{FF70166C-9DCF-4C1F-BD8C-012A718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14" name="cell-interactive-accent">
            <a:extLst xmlns:a="http://schemas.openxmlformats.org/drawingml/2006/main">
              <a:ext uri="{FF2B5EF4-FFF2-40B4-BE49-F238E27FC236}">
                <a16:creationId xmlns:a16="http://schemas.microsoft.com/office/drawing/2014/main" id="{73909F79-59E7-4C36-9272-4DAAC2DA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431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ell-interactive-label">
            <a:extLst xmlns:a="http://schemas.openxmlformats.org/drawingml/2006/main">
              <a:ext uri="{FF2B5EF4-FFF2-40B4-BE49-F238E27FC236}">
                <a16:creationId xmlns:a16="http://schemas.microsoft.com/office/drawing/2014/main" id="{89F96CEA-B02B-4045-B6CB-9A331349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交互式环境模型</a:t>
            </a:r>
          </a:p>
        </p:txBody>
      </p:sp>
      <p:sp>
        <p:nvSpPr>
          <p:cNvPr id="16" name="cell-interactive-claim">
            <a:extLst xmlns:a="http://schemas.openxmlformats.org/drawingml/2006/main">
              <a:ext uri="{FF2B5EF4-FFF2-40B4-BE49-F238E27FC236}">
                <a16:creationId xmlns:a16="http://schemas.microsoft.com/office/drawing/2014/main" id="{62138160-1A51-4521-B0E7-8481A2C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396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动作条件视频或 3D 环境，强调可控和时间一致。</a:t>
            </a:r>
          </a:p>
        </p:txBody>
      </p:sp>
      <p:sp>
        <p:nvSpPr>
          <p:cNvPr id="17" name="cell-interactive-examples">
            <a:extLst xmlns:a="http://schemas.openxmlformats.org/drawingml/2006/main">
              <a:ext uri="{FF2B5EF4-FFF2-40B4-BE49-F238E27FC236}">
                <a16:creationId xmlns:a16="http://schemas.microsoft.com/office/drawing/2014/main" id="{A4051496-A326-4392-AB71-1E7D41E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Genie / Genie 3 / game-like worlds</a:t>
            </a:r>
          </a:p>
        </p:txBody>
      </p:sp>
      <p:sp>
        <p:nvSpPr>
          <p:cNvPr id="18" name="cell-jepa">
            <a:extLst xmlns:a="http://schemas.openxmlformats.org/drawingml/2006/main">
              <a:ext uri="{FF2B5EF4-FFF2-40B4-BE49-F238E27FC236}">
                <a16:creationId xmlns:a16="http://schemas.microsoft.com/office/drawing/2014/main" id="{F1B27275-0313-4AA0-AC89-180173B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19" name="cell-jepa-accent">
            <a:extLst xmlns:a="http://schemas.openxmlformats.org/drawingml/2006/main">
              <a:ext uri="{FF2B5EF4-FFF2-40B4-BE49-F238E27FC236}">
                <a16:creationId xmlns:a16="http://schemas.microsoft.com/office/drawing/2014/main" id="{556A78E6-0801-485A-A365-D5881078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cell-jepa-label">
            <a:extLst xmlns:a="http://schemas.openxmlformats.org/drawingml/2006/main">
              <a:ext uri="{FF2B5EF4-FFF2-40B4-BE49-F238E27FC236}">
                <a16:creationId xmlns:a16="http://schemas.microsoft.com/office/drawing/2014/main" id="{781C9579-28BB-4F77-9461-124A7628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JEPA / latent prediction</a:t>
            </a:r>
          </a:p>
        </p:txBody>
      </p:sp>
      <p:sp>
        <p:nvSpPr>
          <p:cNvPr id="21" name="cell-jepa-claim">
            <a:extLst xmlns:a="http://schemas.openxmlformats.org/drawingml/2006/main">
              <a:ext uri="{FF2B5EF4-FFF2-40B4-BE49-F238E27FC236}">
                <a16:creationId xmlns:a16="http://schemas.microsoft.com/office/drawing/2014/main" id="{18521F04-9A7C-44BF-9050-2F00E064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96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在高层表征空间预测，不必重建每个像素。</a:t>
            </a:r>
          </a:p>
        </p:txBody>
      </p:sp>
      <p:sp>
        <p:nvSpPr>
          <p:cNvPr id="22" name="cell-jepa-examples">
            <a:extLst xmlns:a="http://schemas.openxmlformats.org/drawingml/2006/main">
              <a:ext uri="{FF2B5EF4-FFF2-40B4-BE49-F238E27FC236}">
                <a16:creationId xmlns:a16="http://schemas.microsoft.com/office/drawing/2014/main" id="{A9D459C7-223F-4C4C-801C-5D776099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I-JEPA / V-JEPA / V-JEPA 2</a:t>
            </a:r>
          </a:p>
        </p:txBody>
      </p:sp>
      <p:sp>
        <p:nvSpPr>
          <p:cNvPr id="23" name="cell-sim">
            <a:extLst xmlns:a="http://schemas.openxmlformats.org/drawingml/2006/main">
              <a:ext uri="{FF2B5EF4-FFF2-40B4-BE49-F238E27FC236}">
                <a16:creationId xmlns:a16="http://schemas.microsoft.com/office/drawing/2014/main" id="{AFB52B5B-9578-4000-A4D8-103C6646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4381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24" name="cell-sim-accent">
            <a:extLst xmlns:a="http://schemas.openxmlformats.org/drawingml/2006/main">
              <a:ext uri="{FF2B5EF4-FFF2-40B4-BE49-F238E27FC236}">
                <a16:creationId xmlns:a16="http://schemas.microsoft.com/office/drawing/2014/main" id="{B81485B9-0DDB-4CED-8D47-54B5FD31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9575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ell-sim-label">
            <a:extLst xmlns:a="http://schemas.openxmlformats.org/drawingml/2006/main">
              <a:ext uri="{FF2B5EF4-FFF2-40B4-BE49-F238E27FC236}">
                <a16:creationId xmlns:a16="http://schemas.microsoft.com/office/drawing/2014/main" id="{1CA236AA-FC9C-43CD-996F-A56C365D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672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机器人与自动驾驶仿真</a:t>
            </a:r>
          </a:p>
        </p:txBody>
      </p:sp>
      <p:sp>
        <p:nvSpPr>
          <p:cNvPr id="26" name="cell-sim-claim">
            <a:extLst xmlns:a="http://schemas.openxmlformats.org/drawingml/2006/main">
              <a:ext uri="{FF2B5EF4-FFF2-40B4-BE49-F238E27FC236}">
                <a16:creationId xmlns:a16="http://schemas.microsoft.com/office/drawing/2014/main" id="{620A8E3A-2E03-4530-8DE1-476150C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10100"/>
            <a:ext cx="3962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构造可控长尾场景，服务训练、评估和回归。</a:t>
            </a:r>
          </a:p>
        </p:txBody>
      </p:sp>
      <p:sp>
        <p:nvSpPr>
          <p:cNvPr id="27" name="cell-sim-examples">
            <a:extLst xmlns:a="http://schemas.openxmlformats.org/drawingml/2006/main">
              <a:ext uri="{FF2B5EF4-FFF2-40B4-BE49-F238E27FC236}">
                <a16:creationId xmlns:a16="http://schemas.microsoft.com/office/drawing/2014/main" id="{08348D45-1050-4438-806C-12853339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197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Cosmos / Waymo World Model / digital twin</a:t>
            </a:r>
          </a:p>
        </p:txBody>
      </p:sp>
      <p:sp>
        <p:nvSpPr>
          <p:cNvPr id="28" name="axis-left-top">
            <a:extLst xmlns:a="http://schemas.openxmlformats.org/drawingml/2006/main">
              <a:ext uri="{FF2B5EF4-FFF2-40B4-BE49-F238E27FC236}">
                <a16:creationId xmlns:a16="http://schemas.microsoft.com/office/drawing/2014/main" id="{D004FFE2-5C2B-4F6E-9E81-B73E206F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偏学习策略</a:t>
            </a:r>
          </a:p>
        </p:txBody>
      </p:sp>
      <p:sp>
        <p:nvSpPr>
          <p:cNvPr id="29" name="axis-right-top">
            <a:extLst xmlns:a="http://schemas.openxmlformats.org/drawingml/2006/main">
              <a:ext uri="{FF2B5EF4-FFF2-40B4-BE49-F238E27FC236}">
                <a16:creationId xmlns:a16="http://schemas.microsoft.com/office/drawing/2014/main" id="{2518E4F6-8CE2-45C5-9CFA-976CCD93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B6258"/>
                </a:solidFill>
                <a:latin typeface="Menlo"/>
                <a:ea typeface="Menlo"/>
                <a:cs typeface="Menlo"/>
              </a:rPr>
              <a:t>偏生成环境</a:t>
            </a:r>
          </a:p>
        </p:txBody>
      </p:sp>
      <p:sp>
        <p:nvSpPr>
          <p:cNvPr id="30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83EF8267-97BB-4BA1-97FC-462E46A2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E8DBF8C2-BF3E-4C23-BB03-22A41371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讲课提示</a:t>
            </a:r>
          </a:p>
        </p:txBody>
      </p:sp>
      <p:sp>
        <p:nvSpPr>
          <p:cNvPr id="32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374E6BE3-431F-4B83-BC8F-09D23F9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848350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不要问“哪种才是真的世界模型”。更好的问题是：它预测什么、受什么动作控制、服务哪个决策闭环？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BF48C7-4D16-43E8-BE47-890A1CBC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FD236B4-436E-4F69-AF40-E75BF20B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CF32A29-0F0D-4D73-B0BC-A5AC9E53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12322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720772A-DA5A-4186-B98A-E0ACA84A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1B5FC28-BE04-41F8-BF05-A5A6A7EB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A877667C-0977-497A-B348-12649F74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8F844438-8D6E-4E55-BF28-0BA81395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D1BCA810-5856-4989-B66F-8786966E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CLASSIC ROUTE / MODEL-BASED RL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3F46BEA-9285-40B6-84AA-9141249C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经典路线把感知、动态和策略解耦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86C97F29-5F28-48BA-A0B1-18513368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策略不直接吞原始像素，而是在压缩后的 latent state 中学习和规划。</a:t>
            </a:r>
          </a:p>
        </p:txBody>
      </p:sp>
      <p:sp>
        <p:nvSpPr>
          <p:cNvPr id="8" name="pipeline-1">
            <a:extLst xmlns:a="http://schemas.openxmlformats.org/drawingml/2006/main">
              <a:ext uri="{FF2B5EF4-FFF2-40B4-BE49-F238E27FC236}">
                <a16:creationId xmlns:a16="http://schemas.microsoft.com/office/drawing/2014/main" id="{1DA1E10C-D308-4C66-914C-E8A90BC3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E407C"/>
            </a:solidFill>
            <a:prstDash val="solid"/>
          </a:ln>
        </p:spPr>
      </p:sp>
      <p:sp>
        <p:nvSpPr>
          <p:cNvPr id="9" name="pipeline-1-label">
            <a:extLst xmlns:a="http://schemas.openxmlformats.org/drawingml/2006/main">
              <a:ext uri="{FF2B5EF4-FFF2-40B4-BE49-F238E27FC236}">
                <a16:creationId xmlns:a16="http://schemas.microsoft.com/office/drawing/2014/main" id="{D90BA114-7ED6-41C0-93D5-418A69A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10" name="pipeline-1-detail">
            <a:extLst xmlns:a="http://schemas.openxmlformats.org/drawingml/2006/main">
              <a:ext uri="{FF2B5EF4-FFF2-40B4-BE49-F238E27FC236}">
                <a16:creationId xmlns:a16="http://schemas.microsoft.com/office/drawing/2014/main" id="{B0D442DC-B856-418E-ABA3-5FEEFCF9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图像 / 状态</a:t>
            </a:r>
          </a:p>
        </p:txBody>
      </p:sp>
      <p:sp>
        <p:nvSpPr>
          <p:cNvPr id="11" name="pipeline-arrow-1-shaft">
            <a:extLst xmlns:a="http://schemas.openxmlformats.org/drawingml/2006/main">
              <a:ext uri="{FF2B5EF4-FFF2-40B4-BE49-F238E27FC236}">
                <a16:creationId xmlns:a16="http://schemas.microsoft.com/office/drawing/2014/main" id="{A04CA577-8E32-489E-82AB-D439E03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623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ipeline-arrow-1-head">
            <a:extLst xmlns:a="http://schemas.openxmlformats.org/drawingml/2006/main">
              <a:ext uri="{FF2B5EF4-FFF2-40B4-BE49-F238E27FC236}">
                <a16:creationId xmlns:a16="http://schemas.microsoft.com/office/drawing/2014/main" id="{20FA35AB-C6EF-4947-B617-C129E534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67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pipeline-2">
            <a:extLst xmlns:a="http://schemas.openxmlformats.org/drawingml/2006/main">
              <a:ext uri="{FF2B5EF4-FFF2-40B4-BE49-F238E27FC236}">
                <a16:creationId xmlns:a16="http://schemas.microsoft.com/office/drawing/2014/main" id="{DB42DD07-BC2B-4385-8610-7166BF63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" name="pipeline-2-label">
            <a:extLst xmlns:a="http://schemas.openxmlformats.org/drawingml/2006/main">
              <a:ext uri="{FF2B5EF4-FFF2-40B4-BE49-F238E27FC236}">
                <a16:creationId xmlns:a16="http://schemas.microsoft.com/office/drawing/2014/main" id="{86C0FD10-1CF8-4387-B6DA-153B25A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Encoder</a:t>
            </a:r>
          </a:p>
        </p:txBody>
      </p:sp>
      <p:sp>
        <p:nvSpPr>
          <p:cNvPr id="15" name="pipeline-2-detail">
            <a:extLst xmlns:a="http://schemas.openxmlformats.org/drawingml/2006/main">
              <a:ext uri="{FF2B5EF4-FFF2-40B4-BE49-F238E27FC236}">
                <a16:creationId xmlns:a16="http://schemas.microsoft.com/office/drawing/2014/main" id="{E08F6AF8-4F86-48B5-8B9D-FD21B776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VAE / CNN</a:t>
            </a:r>
          </a:p>
        </p:txBody>
      </p:sp>
      <p:sp>
        <p:nvSpPr>
          <p:cNvPr id="16" name="pipeline-arrow-2-shaft">
            <a:extLst xmlns:a="http://schemas.openxmlformats.org/drawingml/2006/main">
              <a:ext uri="{FF2B5EF4-FFF2-40B4-BE49-F238E27FC236}">
                <a16:creationId xmlns:a16="http://schemas.microsoft.com/office/drawing/2014/main" id="{8EF1FDAE-920C-4C40-BD2F-4E4558D9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ipeline-arrow-2-head">
            <a:extLst xmlns:a="http://schemas.openxmlformats.org/drawingml/2006/main">
              <a:ext uri="{FF2B5EF4-FFF2-40B4-BE49-F238E27FC236}">
                <a16:creationId xmlns:a16="http://schemas.microsoft.com/office/drawing/2014/main" id="{E612DDC3-EF69-4AB8-AFD2-47557121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67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pipeline-3">
            <a:extLst xmlns:a="http://schemas.openxmlformats.org/drawingml/2006/main">
              <a:ext uri="{FF2B5EF4-FFF2-40B4-BE49-F238E27FC236}">
                <a16:creationId xmlns:a16="http://schemas.microsoft.com/office/drawing/2014/main" id="{425A2061-BDF7-4CF5-8778-195A023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19" name="pipeline-3-label">
            <a:extLst xmlns:a="http://schemas.openxmlformats.org/drawingml/2006/main">
              <a:ext uri="{FF2B5EF4-FFF2-40B4-BE49-F238E27FC236}">
                <a16:creationId xmlns:a16="http://schemas.microsoft.com/office/drawing/2014/main" id="{0190902E-7240-4339-AA68-F65509E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Latent State</a:t>
            </a:r>
          </a:p>
        </p:txBody>
      </p:sp>
      <p:sp>
        <p:nvSpPr>
          <p:cNvPr id="20" name="pipeline-3-detail">
            <a:extLst xmlns:a="http://schemas.openxmlformats.org/drawingml/2006/main">
              <a:ext uri="{FF2B5EF4-FFF2-40B4-BE49-F238E27FC236}">
                <a16:creationId xmlns:a16="http://schemas.microsoft.com/office/drawing/2014/main" id="{50217B9D-6949-4B7D-AE4A-2DC01036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紧凑状态</a:t>
            </a:r>
          </a:p>
        </p:txBody>
      </p:sp>
      <p:sp>
        <p:nvSpPr>
          <p:cNvPr id="21" name="pipeline-arrow-3-shaft">
            <a:extLst xmlns:a="http://schemas.openxmlformats.org/drawingml/2006/main">
              <a:ext uri="{FF2B5EF4-FFF2-40B4-BE49-F238E27FC236}">
                <a16:creationId xmlns:a16="http://schemas.microsoft.com/office/drawing/2014/main" id="{D84B429F-00C0-4ACB-A32F-873191C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pipeline-arrow-3-head">
            <a:extLst xmlns:a="http://schemas.openxmlformats.org/drawingml/2006/main">
              <a:ext uri="{FF2B5EF4-FFF2-40B4-BE49-F238E27FC236}">
                <a16:creationId xmlns:a16="http://schemas.microsoft.com/office/drawing/2014/main" id="{E6767270-E4AA-4A43-AA53-2369730C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67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pipeline-4">
            <a:extLst xmlns:a="http://schemas.openxmlformats.org/drawingml/2006/main">
              <a:ext uri="{FF2B5EF4-FFF2-40B4-BE49-F238E27FC236}">
                <a16:creationId xmlns:a16="http://schemas.microsoft.com/office/drawing/2014/main" id="{F5335DF2-E175-4932-95B9-60C1E289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4" name="pipeline-4-label">
            <a:extLst xmlns:a="http://schemas.openxmlformats.org/drawingml/2006/main">
              <a:ext uri="{FF2B5EF4-FFF2-40B4-BE49-F238E27FC236}">
                <a16:creationId xmlns:a16="http://schemas.microsoft.com/office/drawing/2014/main" id="{657B3796-D671-4BC3-9785-0ED8FA7A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Dynamics</a:t>
            </a:r>
          </a:p>
        </p:txBody>
      </p:sp>
      <p:sp>
        <p:nvSpPr>
          <p:cNvPr id="25" name="pipeline-4-detail">
            <a:extLst xmlns:a="http://schemas.openxmlformats.org/drawingml/2006/main">
              <a:ext uri="{FF2B5EF4-FFF2-40B4-BE49-F238E27FC236}">
                <a16:creationId xmlns:a16="http://schemas.microsoft.com/office/drawing/2014/main" id="{8622989B-9992-4954-923B-FDE82AC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MDN-RNN / RSSM</a:t>
            </a:r>
          </a:p>
        </p:txBody>
      </p:sp>
      <p:sp>
        <p:nvSpPr>
          <p:cNvPr id="26" name="pipeline-arrow-4-shaft">
            <a:extLst xmlns:a="http://schemas.openxmlformats.org/drawingml/2006/main">
              <a:ext uri="{FF2B5EF4-FFF2-40B4-BE49-F238E27FC236}">
                <a16:creationId xmlns:a16="http://schemas.microsoft.com/office/drawing/2014/main" id="{B8B39A91-A949-49EF-96B0-9D6E528B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ipeline-arrow-4-head">
            <a:extLst xmlns:a="http://schemas.openxmlformats.org/drawingml/2006/main">
              <a:ext uri="{FF2B5EF4-FFF2-40B4-BE49-F238E27FC236}">
                <a16:creationId xmlns:a16="http://schemas.microsoft.com/office/drawing/2014/main" id="{7BDEF568-410A-4979-ACA5-48E58E3D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67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pipeline-5">
            <a:extLst xmlns:a="http://schemas.openxmlformats.org/drawingml/2006/main">
              <a:ext uri="{FF2B5EF4-FFF2-40B4-BE49-F238E27FC236}">
                <a16:creationId xmlns:a16="http://schemas.microsoft.com/office/drawing/2014/main" id="{1C79CB0F-B216-4B17-AD31-DFDFBE77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29" name="pipeline-5-label">
            <a:extLst xmlns:a="http://schemas.openxmlformats.org/drawingml/2006/main">
              <a:ext uri="{FF2B5EF4-FFF2-40B4-BE49-F238E27FC236}">
                <a16:creationId xmlns:a16="http://schemas.microsoft.com/office/drawing/2014/main" id="{2F1CA830-11B0-493F-B535-C62F9F35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Imagined Future</a:t>
            </a:r>
          </a:p>
        </p:txBody>
      </p:sp>
      <p:sp>
        <p:nvSpPr>
          <p:cNvPr id="30" name="pipeline-5-detail">
            <a:extLst xmlns:a="http://schemas.openxmlformats.org/drawingml/2006/main">
              <a:ext uri="{FF2B5EF4-FFF2-40B4-BE49-F238E27FC236}">
                <a16:creationId xmlns:a16="http://schemas.microsoft.com/office/drawing/2014/main" id="{953B9C4E-4D18-4D39-A3BE-2BD9A888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rollout 轨迹</a:t>
            </a:r>
          </a:p>
        </p:txBody>
      </p:sp>
      <p:sp>
        <p:nvSpPr>
          <p:cNvPr id="31" name="pipeline-arrow-5-shaft">
            <a:extLst xmlns:a="http://schemas.openxmlformats.org/drawingml/2006/main">
              <a:ext uri="{FF2B5EF4-FFF2-40B4-BE49-F238E27FC236}">
                <a16:creationId xmlns:a16="http://schemas.microsoft.com/office/drawing/2014/main" id="{8C71A658-ABD7-4CE9-999D-1E887135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ipeline-arrow-5-head">
            <a:extLst xmlns:a="http://schemas.openxmlformats.org/drawingml/2006/main">
              <a:ext uri="{FF2B5EF4-FFF2-40B4-BE49-F238E27FC236}">
                <a16:creationId xmlns:a16="http://schemas.microsoft.com/office/drawing/2014/main" id="{219F7990-B288-4953-B697-4D92E923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671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pipeline-6">
            <a:extLst xmlns:a="http://schemas.openxmlformats.org/drawingml/2006/main">
              <a:ext uri="{FF2B5EF4-FFF2-40B4-BE49-F238E27FC236}">
                <a16:creationId xmlns:a16="http://schemas.microsoft.com/office/drawing/2014/main" id="{F22FFA42-BC09-4AEB-B08B-823A8983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314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8E1"/>
          </a:solidFill>
          <a:ln xmlns:a="http://schemas.openxmlformats.org/drawingml/2006/main" w="19050">
            <a:solidFill>
              <a:srgbClr val="2A2E32"/>
            </a:solidFill>
            <a:prstDash val="solid"/>
          </a:ln>
        </p:spPr>
      </p:sp>
      <p:sp>
        <p:nvSpPr>
          <p:cNvPr id="34" name="pipeline-6-label">
            <a:extLst xmlns:a="http://schemas.openxmlformats.org/drawingml/2006/main">
              <a:ext uri="{FF2B5EF4-FFF2-40B4-BE49-F238E27FC236}">
                <a16:creationId xmlns:a16="http://schemas.microsoft.com/office/drawing/2014/main" id="{B75C03D5-6A3B-4BA0-AF25-881390D3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Policy</a:t>
            </a:r>
          </a:p>
        </p:txBody>
      </p:sp>
      <p:sp>
        <p:nvSpPr>
          <p:cNvPr id="35" name="pipeline-6-detail">
            <a:extLst xmlns:a="http://schemas.openxmlformats.org/drawingml/2006/main">
              <a:ext uri="{FF2B5EF4-FFF2-40B4-BE49-F238E27FC236}">
                <a16:creationId xmlns:a16="http://schemas.microsoft.com/office/drawing/2014/main" id="{7A5704F5-1C0A-4F57-800D-01B10F2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100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actor / controller</a:t>
            </a:r>
          </a:p>
        </p:txBody>
      </p:sp>
      <p:sp>
        <p:nvSpPr>
          <p:cNvPr id="36" name="ha-note">
            <a:extLst xmlns:a="http://schemas.openxmlformats.org/drawingml/2006/main">
              <a:ext uri="{FF2B5EF4-FFF2-40B4-BE49-F238E27FC236}">
                <a16:creationId xmlns:a16="http://schemas.microsoft.com/office/drawing/2014/main" id="{FF42559C-5977-46E6-B354-FC039F6D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37" name="ha-note-label">
            <a:extLst xmlns:a="http://schemas.openxmlformats.org/drawingml/2006/main">
              <a:ext uri="{FF2B5EF4-FFF2-40B4-BE49-F238E27FC236}">
                <a16:creationId xmlns:a16="http://schemas.microsoft.com/office/drawing/2014/main" id="{8D671325-DDDE-4BAA-AF64-92FFCC43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Ha &amp; Schmidhuber</a:t>
            </a:r>
          </a:p>
        </p:txBody>
      </p:sp>
      <p:sp>
        <p:nvSpPr>
          <p:cNvPr id="38" name="ha-note-detail">
            <a:extLst xmlns:a="http://schemas.openxmlformats.org/drawingml/2006/main">
              <a:ext uri="{FF2B5EF4-FFF2-40B4-BE49-F238E27FC236}">
                <a16:creationId xmlns:a16="http://schemas.microsoft.com/office/drawing/2014/main" id="{F4637506-2230-41EE-8707-81F0B6A2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0"/>
            <a:ext cx="2552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VAE + MDN-RNN + Controller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先学世界，再在梦境里训练</a:t>
            </a:r>
          </a:p>
        </p:txBody>
      </p:sp>
      <p:sp>
        <p:nvSpPr>
          <p:cNvPr id="39" name="dreamer-note">
            <a:extLst xmlns:a="http://schemas.openxmlformats.org/drawingml/2006/main">
              <a:ext uri="{FF2B5EF4-FFF2-40B4-BE49-F238E27FC236}">
                <a16:creationId xmlns:a16="http://schemas.microsoft.com/office/drawing/2014/main" id="{1D2751AE-D62F-4924-9A9A-5095E078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40" name="dreamer-note-label">
            <a:extLst xmlns:a="http://schemas.openxmlformats.org/drawingml/2006/main">
              <a:ext uri="{FF2B5EF4-FFF2-40B4-BE49-F238E27FC236}">
                <a16:creationId xmlns:a16="http://schemas.microsoft.com/office/drawing/2014/main" id="{08C49738-951F-4F4B-AD07-937B2D59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Dreamer 系列</a:t>
            </a:r>
          </a:p>
        </p:txBody>
      </p:sp>
      <p:sp>
        <p:nvSpPr>
          <p:cNvPr id="41" name="dreamer-note-detail">
            <a:extLst xmlns:a="http://schemas.openxmlformats.org/drawingml/2006/main">
              <a:ext uri="{FF2B5EF4-FFF2-40B4-BE49-F238E27FC236}">
                <a16:creationId xmlns:a16="http://schemas.microsoft.com/office/drawing/2014/main" id="{5374BDBF-C7B7-4EB8-9532-F3E23AD8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43500"/>
            <a:ext cx="2552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latent dynamics rollout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用 imagined trajectories 训练 actor-critic</a:t>
            </a:r>
          </a:p>
        </p:txBody>
      </p:sp>
      <p:sp>
        <p:nvSpPr>
          <p:cNvPr id="42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800976E2-3F87-4953-8F02-8F34F900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956A00E-5294-4F55-AD77-FDDA9A5D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2440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工程启发</a:t>
            </a:r>
          </a:p>
        </p:txBody>
      </p:sp>
      <p:sp>
        <p:nvSpPr>
          <p:cNvPr id="44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4D0E5F76-7F8D-48B9-B905-7C60AA9C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22479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真实机器人和路测都贵；能在学到的模型里试错，就能降低真实探索成本。</a:t>
            </a:r>
          </a:p>
        </p:txBody>
      </p:sp>
      <p:sp>
        <p:nvSpPr>
          <p:cNvPr id="45" name="main-insight">
            <a:extLst xmlns:a="http://schemas.openxmlformats.org/drawingml/2006/main">
              <a:ext uri="{FF2B5EF4-FFF2-40B4-BE49-F238E27FC236}">
                <a16:creationId xmlns:a16="http://schemas.microsoft.com/office/drawing/2014/main" id="{D7466377-316C-463B-86DB-8503DAD6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核心不是生成漂亮视频，而是让策略利用预测结果提升样本效率和泛化。</a:t>
            </a:r>
          </a:p>
        </p:txBody>
      </p:sp>
      <p:sp>
        <p:nvSpPr>
          <p:cNvPr id="4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36C7897-3260-45C2-BD6F-9944A3D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478589B-F2A9-4521-BD68-FA1AFD47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4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1E81216-2EE1-460F-970E-AC752CF9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86647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4F7CE05-F7C9-4ACA-B069-3EA63697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F0943575-AA0C-4B3E-AFF9-6BFECF8B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45AF840C-7FAB-42AA-9CE3-6A545276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9C1CF271-B1BA-4849-8F92-E70E8D9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4BA3F5CD-5BDE-4322-A697-04858F5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FOUNDATION MODEL / PHYSICAL PRIOR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D03FB92-70C0-4746-B1DC-B4F5B819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World Foundation Model 试图把物理与交互先验规模化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566E8D4B-47E7-434C-A26D-0A3A012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像语言基础模型学习语言一样，世界基础模型学习视频、传感器、仿真和动作数据里的动态规律。</a:t>
            </a:r>
          </a:p>
        </p:txBody>
      </p:sp>
      <p:sp>
        <p:nvSpPr>
          <p:cNvPr id="8" name="wf-data">
            <a:extLst xmlns:a="http://schemas.openxmlformats.org/drawingml/2006/main">
              <a:ext uri="{FF2B5EF4-FFF2-40B4-BE49-F238E27FC236}">
                <a16:creationId xmlns:a16="http://schemas.microsoft.com/office/drawing/2014/main" id="{C3415FF9-EC63-4C48-A4A9-5990A75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wf-data-label">
            <a:extLst xmlns:a="http://schemas.openxmlformats.org/drawingml/2006/main">
              <a:ext uri="{FF2B5EF4-FFF2-40B4-BE49-F238E27FC236}">
                <a16:creationId xmlns:a16="http://schemas.microsoft.com/office/drawing/2014/main" id="{763E4D46-5F81-4DC7-9D51-C0BDB8F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数据来源</a:t>
            </a:r>
          </a:p>
        </p:txBody>
      </p:sp>
      <p:sp>
        <p:nvSpPr>
          <p:cNvPr id="10" name="wf-data-detail">
            <a:extLst xmlns:a="http://schemas.openxmlformats.org/drawingml/2006/main">
              <a:ext uri="{FF2B5EF4-FFF2-40B4-BE49-F238E27FC236}">
                <a16:creationId xmlns:a16="http://schemas.microsoft.com/office/drawing/2014/main" id="{158821B4-117C-44F7-88C0-CF022AF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视频、机器人轨迹、仿真、传感器、真实日志</a:t>
            </a:r>
          </a:p>
        </p:txBody>
      </p:sp>
      <p:sp>
        <p:nvSpPr>
          <p:cNvPr id="11" name="wf-arrow-1-shaft">
            <a:extLst xmlns:a="http://schemas.openxmlformats.org/drawingml/2006/main">
              <a:ext uri="{FF2B5EF4-FFF2-40B4-BE49-F238E27FC236}">
                <a16:creationId xmlns:a16="http://schemas.microsoft.com/office/drawing/2014/main" id="{E4B2E4AA-5D3D-4273-9B4E-7FE68839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71825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wf-arrow-1-head">
            <a:extLst xmlns:a="http://schemas.openxmlformats.org/drawingml/2006/main">
              <a:ext uri="{FF2B5EF4-FFF2-40B4-BE49-F238E27FC236}">
                <a16:creationId xmlns:a16="http://schemas.microsoft.com/office/drawing/2014/main" id="{B2602834-6638-4A68-B8A9-055FBEC3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765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wf-model">
            <a:extLst xmlns:a="http://schemas.openxmlformats.org/drawingml/2006/main">
              <a:ext uri="{FF2B5EF4-FFF2-40B4-BE49-F238E27FC236}">
                <a16:creationId xmlns:a16="http://schemas.microsoft.com/office/drawing/2014/main" id="{03C15E98-C43B-42F8-875C-37531D23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247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4" name="wf-model-label">
            <a:extLst xmlns:a="http://schemas.openxmlformats.org/drawingml/2006/main">
              <a:ext uri="{FF2B5EF4-FFF2-40B4-BE49-F238E27FC236}">
                <a16:creationId xmlns:a16="http://schemas.microsoft.com/office/drawing/2014/main" id="{34864262-7730-4710-B077-6D88FFE5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955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世界基础模型</a:t>
            </a:r>
          </a:p>
        </p:txBody>
      </p:sp>
      <p:sp>
        <p:nvSpPr>
          <p:cNvPr id="15" name="wf-model-detail">
            <a:extLst xmlns:a="http://schemas.openxmlformats.org/drawingml/2006/main">
              <a:ext uri="{FF2B5EF4-FFF2-40B4-BE49-F238E27FC236}">
                <a16:creationId xmlns:a16="http://schemas.microsoft.com/office/drawing/2014/main" id="{910E1813-C31D-435A-997E-F4AF1888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00350"/>
            <a:ext cx="2171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video tokenizer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latent dynamics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action-conditioned generation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physical priors</a:t>
            </a:r>
          </a:p>
        </p:txBody>
      </p:sp>
      <p:sp>
        <p:nvSpPr>
          <p:cNvPr id="16" name="wf-arrow-2-shaft">
            <a:extLst xmlns:a="http://schemas.openxmlformats.org/drawingml/2006/main">
              <a:ext uri="{FF2B5EF4-FFF2-40B4-BE49-F238E27FC236}">
                <a16:creationId xmlns:a16="http://schemas.microsoft.com/office/drawing/2014/main" id="{C459450D-889B-49FD-824B-44957B6E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7182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wf-arrow-2-head">
            <a:extLst xmlns:a="http://schemas.openxmlformats.org/drawingml/2006/main">
              <a:ext uri="{FF2B5EF4-FFF2-40B4-BE49-F238E27FC236}">
                <a16:creationId xmlns:a16="http://schemas.microsoft.com/office/drawing/2014/main" id="{F4D8A517-B9F5-4060-BAED-9CCA9741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765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wf-downstream">
            <a:extLst xmlns:a="http://schemas.openxmlformats.org/drawingml/2006/main">
              <a:ext uri="{FF2B5EF4-FFF2-40B4-BE49-F238E27FC236}">
                <a16:creationId xmlns:a16="http://schemas.microsoft.com/office/drawing/2014/main" id="{E4CC811B-4EF3-4CAB-BA79-F994F957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479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1E5B4B"/>
            </a:solidFill>
            <a:prstDash val="solid"/>
          </a:ln>
        </p:spPr>
      </p:sp>
      <p:sp>
        <p:nvSpPr>
          <p:cNvPr id="19" name="wf-downstream-label">
            <a:extLst xmlns:a="http://schemas.openxmlformats.org/drawingml/2006/main">
              <a:ext uri="{FF2B5EF4-FFF2-40B4-BE49-F238E27FC236}">
                <a16:creationId xmlns:a16="http://schemas.microsoft.com/office/drawing/2014/main" id="{B9E33B97-4DEA-4B69-8F88-E23C1B11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622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下游适配</a:t>
            </a:r>
          </a:p>
        </p:txBody>
      </p:sp>
      <p:sp>
        <p:nvSpPr>
          <p:cNvPr id="20" name="wf-downstream-detail">
            <a:extLst xmlns:a="http://schemas.openxmlformats.org/drawingml/2006/main">
              <a:ext uri="{FF2B5EF4-FFF2-40B4-BE49-F238E27FC236}">
                <a16:creationId xmlns:a16="http://schemas.microsoft.com/office/drawing/2014/main" id="{6DC2302C-CB9F-4A75-8774-9411B898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机器人、自动驾驶、游戏、仿真、评估环境</a:t>
            </a:r>
          </a:p>
        </p:txBody>
      </p:sp>
      <p:sp>
        <p:nvSpPr>
          <p:cNvPr id="21" name="example-1">
            <a:extLst xmlns:a="http://schemas.openxmlformats.org/drawingml/2006/main">
              <a:ext uri="{FF2B5EF4-FFF2-40B4-BE49-F238E27FC236}">
                <a16:creationId xmlns:a16="http://schemas.microsoft.com/office/drawing/2014/main" id="{D7A1DF00-8228-4ECF-A382-8813E02F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2" name="example-1-label">
            <a:extLst xmlns:a="http://schemas.openxmlformats.org/drawingml/2006/main">
              <a:ext uri="{FF2B5EF4-FFF2-40B4-BE49-F238E27FC236}">
                <a16:creationId xmlns:a16="http://schemas.microsoft.com/office/drawing/2014/main" id="{4288EDA9-1EED-41FD-B144-0E16EBAA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62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Genie</a:t>
            </a:r>
          </a:p>
        </p:txBody>
      </p:sp>
      <p:sp>
        <p:nvSpPr>
          <p:cNvPr id="23" name="example-1-detail">
            <a:extLst xmlns:a="http://schemas.openxmlformats.org/drawingml/2006/main">
              <a:ext uri="{FF2B5EF4-FFF2-40B4-BE49-F238E27FC236}">
                <a16:creationId xmlns:a16="http://schemas.microsoft.com/office/drawing/2014/main" id="{7507BA89-74CB-4D51-BE42-EA12674D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从提示生成可交互环境</a:t>
            </a:r>
          </a:p>
        </p:txBody>
      </p:sp>
      <p:sp>
        <p:nvSpPr>
          <p:cNvPr id="24" name="example-2">
            <a:extLst xmlns:a="http://schemas.openxmlformats.org/drawingml/2006/main">
              <a:ext uri="{FF2B5EF4-FFF2-40B4-BE49-F238E27FC236}">
                <a16:creationId xmlns:a16="http://schemas.microsoft.com/office/drawing/2014/main" id="{45B262F4-3846-4163-8014-63AC41E7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482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25" name="example-2-label">
            <a:extLst xmlns:a="http://schemas.openxmlformats.org/drawingml/2006/main">
              <a:ext uri="{FF2B5EF4-FFF2-40B4-BE49-F238E27FC236}">
                <a16:creationId xmlns:a16="http://schemas.microsoft.com/office/drawing/2014/main" id="{B13393EC-CD88-47AE-AD57-EEBD248F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762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Cosmos</a:t>
            </a:r>
          </a:p>
        </p:txBody>
      </p:sp>
      <p:sp>
        <p:nvSpPr>
          <p:cNvPr id="26" name="example-2-detail">
            <a:extLst xmlns:a="http://schemas.openxmlformats.org/drawingml/2006/main">
              <a:ext uri="{FF2B5EF4-FFF2-40B4-BE49-F238E27FC236}">
                <a16:creationId xmlns:a16="http://schemas.microsoft.com/office/drawing/2014/main" id="{3815EEA0-9577-44C1-AF65-E475D2B8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0673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Physical AI 平台与数据栈</a:t>
            </a:r>
          </a:p>
        </p:txBody>
      </p:sp>
      <p:sp>
        <p:nvSpPr>
          <p:cNvPr id="27" name="example-3">
            <a:extLst xmlns:a="http://schemas.openxmlformats.org/drawingml/2006/main">
              <a:ext uri="{FF2B5EF4-FFF2-40B4-BE49-F238E27FC236}">
                <a16:creationId xmlns:a16="http://schemas.microsoft.com/office/drawing/2014/main" id="{298BF148-3BC9-44D7-9087-DA454715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2343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28" name="example-3-label">
            <a:extLst xmlns:a="http://schemas.openxmlformats.org/drawingml/2006/main">
              <a:ext uri="{FF2B5EF4-FFF2-40B4-BE49-F238E27FC236}">
                <a16:creationId xmlns:a16="http://schemas.microsoft.com/office/drawing/2014/main" id="{876A0567-42A4-4B4E-93CC-D0B82A84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625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Waymo</a:t>
            </a:r>
          </a:p>
        </p:txBody>
      </p:sp>
      <p:sp>
        <p:nvSpPr>
          <p:cNvPr id="29" name="example-3-detail">
            <a:extLst xmlns:a="http://schemas.openxmlformats.org/drawingml/2006/main">
              <a:ext uri="{FF2B5EF4-FFF2-40B4-BE49-F238E27FC236}">
                <a16:creationId xmlns:a16="http://schemas.microsoft.com/office/drawing/2014/main" id="{32ABFD63-59BD-4262-8A3A-B91AC4FD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67300"/>
            <a:ext cx="2038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自动驾驶长尾仿真</a:t>
            </a:r>
          </a:p>
        </p:txBody>
      </p:sp>
      <p:sp>
        <p:nvSpPr>
          <p:cNvPr id="30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87A22939-147F-41E2-A342-61B0A6E0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148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19ABDEB-B9B9-4495-85ED-9B50BA1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910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保持清醒</a:t>
            </a:r>
          </a:p>
        </p:txBody>
      </p:sp>
      <p:sp>
        <p:nvSpPr>
          <p:cNvPr id="32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0C08C6ED-8FB7-45B3-87E2-B0E36F6C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38700"/>
            <a:ext cx="1390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看起来真实，不等于满足严格物理、安全和传感器评估。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8884995-EA11-40CF-ABD5-759A6DD0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D29553F-C72D-4BD2-8AF4-BAA0DCF1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9BAB777-82EF-45FA-B050-E750D89A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818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246B5C2-AFC3-4970-925D-90AC9E8D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left-accent">
            <a:extLst xmlns:a="http://schemas.openxmlformats.org/drawingml/2006/main">
              <a:ext uri="{FF2B5EF4-FFF2-40B4-BE49-F238E27FC236}">
                <a16:creationId xmlns:a16="http://schemas.microsoft.com/office/drawing/2014/main" id="{9B826A73-649C-4E82-885D-342657C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ark-right-panel">
            <a:extLst xmlns:a="http://schemas.openxmlformats.org/drawingml/2006/main">
              <a:ext uri="{FF2B5EF4-FFF2-40B4-BE49-F238E27FC236}">
                <a16:creationId xmlns:a16="http://schemas.microsoft.com/office/drawing/2014/main" id="{D2A90479-86F5-4F30-8B88-7CDDE4C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237F4BB1-B69D-4B10-A659-4D61B7AF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F8A4B23C-C97F-4AC2-AA4E-9803C7EA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D1C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8D1C6"/>
                </a:solidFill>
                <a:latin typeface="Menlo"/>
                <a:ea typeface="Menlo"/>
                <a:cs typeface="Menlo"/>
              </a:rPr>
              <a:t>EMBODIED AI / CLOSED LOOP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A89173D-5DA0-4AD7-AF05-43A641A5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具身智能的关键不是机器人外接聊天模型，而是反馈闭环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624F8A21-2C13-4046-8B5C-BFB14114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C7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FC7BA"/>
                </a:solidFill>
                <a:latin typeface="PingFang SC"/>
                <a:ea typeface="PingFang SC"/>
                <a:cs typeface="PingFang SC"/>
              </a:rPr>
              <a:t>身体、传感器、执行器和环境共同决定什么动作可行、什么失败不可接受。</a:t>
            </a:r>
          </a:p>
        </p:txBody>
      </p:sp>
      <p:sp>
        <p:nvSpPr>
          <p:cNvPr id="8" name="loop-sense">
            <a:extLst xmlns:a="http://schemas.openxmlformats.org/drawingml/2006/main">
              <a:ext uri="{FF2B5EF4-FFF2-40B4-BE49-F238E27FC236}">
                <a16:creationId xmlns:a16="http://schemas.microsoft.com/office/drawing/2014/main" id="{5F38551F-8D99-446D-8565-5C172FEB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860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loop-sense-label">
            <a:extLst xmlns:a="http://schemas.openxmlformats.org/drawingml/2006/main">
              <a:ext uri="{FF2B5EF4-FFF2-40B4-BE49-F238E27FC236}">
                <a16:creationId xmlns:a16="http://schemas.microsoft.com/office/drawing/2014/main" id="{E498526D-3E2A-4459-822B-96BB4F70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0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Sense</a:t>
            </a:r>
          </a:p>
        </p:txBody>
      </p:sp>
      <p:sp>
        <p:nvSpPr>
          <p:cNvPr id="10" name="loop-sense-detail">
            <a:extLst xmlns:a="http://schemas.openxmlformats.org/drawingml/2006/main">
              <a:ext uri="{FF2B5EF4-FFF2-40B4-BE49-F238E27FC236}">
                <a16:creationId xmlns:a16="http://schemas.microsoft.com/office/drawing/2014/main" id="{9ABA2D3E-D7DD-4283-980B-9606043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摄像头 / 深度 / 触觉</a:t>
            </a:r>
          </a:p>
        </p:txBody>
      </p:sp>
      <p:sp>
        <p:nvSpPr>
          <p:cNvPr id="11" name="loop-arrow-1-shaft">
            <a:extLst xmlns:a="http://schemas.openxmlformats.org/drawingml/2006/main">
              <a:ext uri="{FF2B5EF4-FFF2-40B4-BE49-F238E27FC236}">
                <a16:creationId xmlns:a16="http://schemas.microsoft.com/office/drawing/2014/main" id="{0C6BD3E1-6410-4275-9395-D946A72F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6705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loop-arrow-1-head">
            <a:extLst xmlns:a="http://schemas.openxmlformats.org/drawingml/2006/main">
              <a:ext uri="{FF2B5EF4-FFF2-40B4-BE49-F238E27FC236}">
                <a16:creationId xmlns:a16="http://schemas.microsoft.com/office/drawing/2014/main" id="{C0013926-9A97-4F41-89B5-B2BF8125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loop-understand">
            <a:extLst xmlns:a="http://schemas.openxmlformats.org/drawingml/2006/main">
              <a:ext uri="{FF2B5EF4-FFF2-40B4-BE49-F238E27FC236}">
                <a16:creationId xmlns:a16="http://schemas.microsoft.com/office/drawing/2014/main" id="{F96076FB-323A-4248-9656-D29DB05D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14" name="loop-understand-label">
            <a:extLst xmlns:a="http://schemas.openxmlformats.org/drawingml/2006/main">
              <a:ext uri="{FF2B5EF4-FFF2-40B4-BE49-F238E27FC236}">
                <a16:creationId xmlns:a16="http://schemas.microsoft.com/office/drawing/2014/main" id="{E63280CB-47E5-48F4-A4B9-B09D79F0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00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Understand</a:t>
            </a:r>
          </a:p>
        </p:txBody>
      </p:sp>
      <p:sp>
        <p:nvSpPr>
          <p:cNvPr id="15" name="loop-understand-detail">
            <a:extLst xmlns:a="http://schemas.openxmlformats.org/drawingml/2006/main">
              <a:ext uri="{FF2B5EF4-FFF2-40B4-BE49-F238E27FC236}">
                <a16:creationId xmlns:a16="http://schemas.microsoft.com/office/drawing/2014/main" id="{8ACBB9EA-F2D7-4E11-8FB5-74951563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051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状态估计 / 场景关系</a:t>
            </a:r>
          </a:p>
        </p:txBody>
      </p:sp>
      <p:sp>
        <p:nvSpPr>
          <p:cNvPr id="16" name="loop-arrow-2-shaft">
            <a:extLst xmlns:a="http://schemas.openxmlformats.org/drawingml/2006/main">
              <a:ext uri="{FF2B5EF4-FFF2-40B4-BE49-F238E27FC236}">
                <a16:creationId xmlns:a16="http://schemas.microsoft.com/office/drawing/2014/main" id="{A3A654AF-CD3F-49B1-930B-C54D30F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67050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loop-arrow-2-head">
            <a:extLst xmlns:a="http://schemas.openxmlformats.org/drawingml/2006/main">
              <a:ext uri="{FF2B5EF4-FFF2-40B4-BE49-F238E27FC236}">
                <a16:creationId xmlns:a16="http://schemas.microsoft.com/office/drawing/2014/main" id="{0BB63B6E-EC8B-4BCB-AA4C-F3B3DBA0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loop-plan">
            <a:extLst xmlns:a="http://schemas.openxmlformats.org/drawingml/2006/main">
              <a:ext uri="{FF2B5EF4-FFF2-40B4-BE49-F238E27FC236}">
                <a16:creationId xmlns:a16="http://schemas.microsoft.com/office/drawing/2014/main" id="{0B6EF16B-5280-4390-B6DD-F1FBA44A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860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6E407C"/>
            </a:solidFill>
            <a:prstDash val="solid"/>
          </a:ln>
        </p:spPr>
      </p:sp>
      <p:sp>
        <p:nvSpPr>
          <p:cNvPr id="19" name="loop-plan-label">
            <a:extLst xmlns:a="http://schemas.openxmlformats.org/drawingml/2006/main">
              <a:ext uri="{FF2B5EF4-FFF2-40B4-BE49-F238E27FC236}">
                <a16:creationId xmlns:a16="http://schemas.microsoft.com/office/drawing/2014/main" id="{DAC48E48-C6EE-420C-A3B9-E39967F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Plan</a:t>
            </a:r>
          </a:p>
        </p:txBody>
      </p:sp>
      <p:sp>
        <p:nvSpPr>
          <p:cNvPr id="20" name="loop-plan-detail">
            <a:extLst xmlns:a="http://schemas.openxmlformats.org/drawingml/2006/main">
              <a:ext uri="{FF2B5EF4-FFF2-40B4-BE49-F238E27FC236}">
                <a16:creationId xmlns:a16="http://schemas.microsoft.com/office/drawing/2014/main" id="{821F6A3A-C3E8-4073-8BE0-A5C88D11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目标拆解 / 技能选择</a:t>
            </a:r>
          </a:p>
        </p:txBody>
      </p:sp>
      <p:sp>
        <p:nvSpPr>
          <p:cNvPr id="21" name="loop-arrow-3-shaft">
            <a:extLst xmlns:a="http://schemas.openxmlformats.org/drawingml/2006/main">
              <a:ext uri="{FF2B5EF4-FFF2-40B4-BE49-F238E27FC236}">
                <a16:creationId xmlns:a16="http://schemas.microsoft.com/office/drawing/2014/main" id="{D90F7E3D-23A1-4424-AA6B-326E7096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623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loop-arrow-3-head">
            <a:extLst xmlns:a="http://schemas.openxmlformats.org/drawingml/2006/main">
              <a:ext uri="{FF2B5EF4-FFF2-40B4-BE49-F238E27FC236}">
                <a16:creationId xmlns:a16="http://schemas.microsoft.com/office/drawing/2014/main" id="{A8547940-AAD3-4A32-99A4-F517BFD4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338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3" name="loop-act">
            <a:extLst xmlns:a="http://schemas.openxmlformats.org/drawingml/2006/main">
              <a:ext uri="{FF2B5EF4-FFF2-40B4-BE49-F238E27FC236}">
                <a16:creationId xmlns:a16="http://schemas.microsoft.com/office/drawing/2014/main" id="{0754BE33-B5E3-4030-BA92-05582B4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38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027"/>
          </a:solidFill>
          <a:ln xmlns:a="http://schemas.openxmlformats.org/drawingml/2006/main" w="9525">
            <a:solidFill>
              <a:srgbClr val="1E5B4B"/>
            </a:solidFill>
            <a:prstDash val="solid"/>
          </a:ln>
        </p:spPr>
      </p:sp>
      <p:sp>
        <p:nvSpPr>
          <p:cNvPr id="24" name="loop-act-label">
            <a:extLst xmlns:a="http://schemas.openxmlformats.org/drawingml/2006/main">
              <a:ext uri="{FF2B5EF4-FFF2-40B4-BE49-F238E27FC236}">
                <a16:creationId xmlns:a16="http://schemas.microsoft.com/office/drawing/2014/main" id="{A4BBE2FA-8FA7-441A-A912-929FFF3E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Act</a:t>
            </a:r>
          </a:p>
        </p:txBody>
      </p:sp>
      <p:sp>
        <p:nvSpPr>
          <p:cNvPr id="25" name="loop-act-detail">
            <a:extLst xmlns:a="http://schemas.openxmlformats.org/drawingml/2006/main">
              <a:ext uri="{FF2B5EF4-FFF2-40B4-BE49-F238E27FC236}">
                <a16:creationId xmlns:a16="http://schemas.microsoft.com/office/drawing/2014/main" id="{E67C067F-681F-4A8C-9A75-A22B770E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577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ED9D2"/>
                </a:solidFill>
                <a:latin typeface="PingFang SC"/>
                <a:ea typeface="PingFang SC"/>
                <a:cs typeface="PingFang SC"/>
              </a:rPr>
              <a:t>控制器 / 执行器</a:t>
            </a:r>
          </a:p>
        </p:txBody>
      </p:sp>
      <p:sp>
        <p:nvSpPr>
          <p:cNvPr id="26" name="loop-arrow-4-shaft">
            <a:extLst xmlns:a="http://schemas.openxmlformats.org/drawingml/2006/main">
              <a:ext uri="{FF2B5EF4-FFF2-40B4-BE49-F238E27FC236}">
                <a16:creationId xmlns:a16="http://schemas.microsoft.com/office/drawing/2014/main" id="{50E5A8E9-037E-4C2F-B462-DF2EEEB0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9175"/>
            <a:ext cx="245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loop-arrow-4-head">
            <a:extLst xmlns:a="http://schemas.openxmlformats.org/drawingml/2006/main">
              <a:ext uri="{FF2B5EF4-FFF2-40B4-BE49-F238E27FC236}">
                <a16:creationId xmlns:a16="http://schemas.microsoft.com/office/drawing/2014/main" id="{C3257D09-D043-4C8A-8250-93D14ACC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33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loop-feedback">
            <a:extLst xmlns:a="http://schemas.openxmlformats.org/drawingml/2006/main">
              <a:ext uri="{FF2B5EF4-FFF2-40B4-BE49-F238E27FC236}">
                <a16:creationId xmlns:a16="http://schemas.microsoft.com/office/drawing/2014/main" id="{03C4D57C-2F78-4606-89ED-F0D247E6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29" name="loop-feedback-label">
            <a:extLst xmlns:a="http://schemas.openxmlformats.org/drawingml/2006/main">
              <a:ext uri="{FF2B5EF4-FFF2-40B4-BE49-F238E27FC236}">
                <a16:creationId xmlns:a16="http://schemas.microsoft.com/office/drawing/2014/main" id="{36B8059B-8EF0-436A-83D5-5E7D0528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52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Feedback</a:t>
            </a:r>
          </a:p>
        </p:txBody>
      </p:sp>
      <p:sp>
        <p:nvSpPr>
          <p:cNvPr id="30" name="loop-feedback-detail">
            <a:extLst xmlns:a="http://schemas.openxmlformats.org/drawingml/2006/main">
              <a:ext uri="{FF2B5EF4-FFF2-40B4-BE49-F238E27FC236}">
                <a16:creationId xmlns:a16="http://schemas.microsoft.com/office/drawing/2014/main" id="{035106A0-0F6A-4413-A54C-1E6DFA4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57750"/>
            <a:ext cx="1314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9C4C4"/>
                </a:solidFill>
                <a:latin typeface="PingFang SC"/>
                <a:ea typeface="PingFang SC"/>
                <a:cs typeface="PingFang SC"/>
              </a:rPr>
              <a:t>新观察 / 失败恢复</a:t>
            </a:r>
          </a:p>
        </p:txBody>
      </p:sp>
      <p:sp>
        <p:nvSpPr>
          <p:cNvPr id="31" name="loop-arrow-5-shaft">
            <a:extLst xmlns:a="http://schemas.openxmlformats.org/drawingml/2006/main">
              <a:ext uri="{FF2B5EF4-FFF2-40B4-BE49-F238E27FC236}">
                <a16:creationId xmlns:a16="http://schemas.microsoft.com/office/drawing/2014/main" id="{9ACBC98B-B322-46A0-86B4-183C8F5A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29175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loop-arrow-5-head">
            <a:extLst xmlns:a="http://schemas.openxmlformats.org/drawingml/2006/main">
              <a:ext uri="{FF2B5EF4-FFF2-40B4-BE49-F238E27FC236}">
                <a16:creationId xmlns:a16="http://schemas.microsoft.com/office/drawing/2014/main" id="{E43DE719-78CF-4797-81B8-7B7BF94C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339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3" name="safety-rule">
            <a:extLst xmlns:a="http://schemas.openxmlformats.org/drawingml/2006/main">
              <a:ext uri="{FF2B5EF4-FFF2-40B4-BE49-F238E27FC236}">
                <a16:creationId xmlns:a16="http://schemas.microsoft.com/office/drawing/2014/main" id="{CF56684E-273A-4B75-81C4-97492F2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afety-gate">
            <a:extLst xmlns:a="http://schemas.openxmlformats.org/drawingml/2006/main">
              <a:ext uri="{FF2B5EF4-FFF2-40B4-BE49-F238E27FC236}">
                <a16:creationId xmlns:a16="http://schemas.microsoft.com/office/drawing/2014/main" id="{A3143C07-67EC-49E8-8E18-C55604CA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F1C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35" name="safety-gate-label">
            <a:extLst xmlns:a="http://schemas.openxmlformats.org/drawingml/2006/main">
              <a:ext uri="{FF2B5EF4-FFF2-40B4-BE49-F238E27FC236}">
                <a16:creationId xmlns:a16="http://schemas.microsoft.com/office/drawing/2014/main" id="{57955D2C-11C7-4359-9815-FDDBEC5F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Safety Gate</a:t>
            </a:r>
          </a:p>
        </p:txBody>
      </p:sp>
      <p:sp>
        <p:nvSpPr>
          <p:cNvPr id="36" name="safety-gate-detail">
            <a:extLst xmlns:a="http://schemas.openxmlformats.org/drawingml/2006/main">
              <a:ext uri="{FF2B5EF4-FFF2-40B4-BE49-F238E27FC236}">
                <a16:creationId xmlns:a16="http://schemas.microsoft.com/office/drawing/2014/main" id="{2269B1BA-D02B-4C4D-BCA4-EB27C35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76650"/>
            <a:ext cx="1390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2C6B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E2C6BA"/>
                </a:solidFill>
                <a:latin typeface="PingFang SC"/>
                <a:ea typeface="PingFang SC"/>
                <a:cs typeface="PingFang SC"/>
              </a:rPr>
              <a:t>限速、限力、避碰、禁区、急停、人工接管</a:t>
            </a:r>
          </a:p>
        </p:txBody>
      </p:sp>
      <p:sp>
        <p:nvSpPr>
          <p:cNvPr id="37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5DA0CE6F-AF37-430C-9B58-BCD65ABE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48C5AB1-C9A5-47F0-8926-CC45BC7F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2533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反直觉点</a:t>
            </a:r>
          </a:p>
        </p:txBody>
      </p:sp>
      <p:sp>
        <p:nvSpPr>
          <p:cNvPr id="39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01D6DCE7-D5F6-4A1E-990F-49D9F429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533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7B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FC7BA"/>
                </a:solidFill>
                <a:latin typeface="PingFang SC"/>
                <a:ea typeface="PingFang SC"/>
                <a:cs typeface="PingFang SC"/>
              </a:rPr>
              <a:t>LLM 的安全提示不能替代底层控制安全。物理世界的失败不能简单 revert。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FCE290E-935D-4019-BB7A-2321433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DE8EFDB-1686-4252-8181-A34F7643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4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E4A8524-3C5F-447E-9853-8755FA96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6A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9CA6A6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62861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CAA8E52-F389-413B-B228-A5FA7EF7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64A01883-E569-4544-B575-11F6129E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5C395A9A-EED0-4956-97C9-7618C78E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134FCC5-11D1-449B-BFF2-7A03ED2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13EDD177-5A49-445F-9C3B-22823621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AFFORDANCE / LANGUAGE TO ACTION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A92860FA-C693-49A6-A7AC-D65D1763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Affordance 把语言计划过滤成当前身体能执行的动作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D4E853D7-BF0C-46F4-8DC7-899E4D5C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语义上合理的步骤，不一定在当前环境、身体和技能集合下可执行。</a:t>
            </a:r>
          </a:p>
        </p:txBody>
      </p:sp>
      <p:sp>
        <p:nvSpPr>
          <p:cNvPr id="8" name="llm-plan">
            <a:extLst xmlns:a="http://schemas.openxmlformats.org/drawingml/2006/main">
              <a:ext uri="{FF2B5EF4-FFF2-40B4-BE49-F238E27FC236}">
                <a16:creationId xmlns:a16="http://schemas.microsoft.com/office/drawing/2014/main" id="{7626BE7B-DBB6-48BA-9E47-07AFC889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E407C"/>
            </a:solidFill>
            <a:prstDash val="solid"/>
          </a:ln>
        </p:spPr>
      </p:sp>
      <p:sp>
        <p:nvSpPr>
          <p:cNvPr id="9" name="llm-plan-label">
            <a:extLst xmlns:a="http://schemas.openxmlformats.org/drawingml/2006/main">
              <a:ext uri="{FF2B5EF4-FFF2-40B4-BE49-F238E27FC236}">
                <a16:creationId xmlns:a16="http://schemas.microsoft.com/office/drawing/2014/main" id="{028D2313-4D30-4B82-9B77-D7A976DE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LLM 高层计划</a:t>
            </a:r>
          </a:p>
        </p:txBody>
      </p:sp>
      <p:sp>
        <p:nvSpPr>
          <p:cNvPr id="10" name="llm-plan-detail">
            <a:extLst xmlns:a="http://schemas.openxmlformats.org/drawingml/2006/main">
              <a:ext uri="{FF2B5EF4-FFF2-40B4-BE49-F238E27FC236}">
                <a16:creationId xmlns:a16="http://schemas.microsoft.com/office/drawing/2014/main" id="{7712D42D-EE32-4E67-873A-362D2A3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90850"/>
            <a:ext cx="1981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“清理溢出的饮料”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找纸巾 → 擦拭 → 丢垃圾</a:t>
            </a:r>
          </a:p>
        </p:txBody>
      </p:sp>
      <p:sp>
        <p:nvSpPr>
          <p:cNvPr id="11" name="aff-arrow-1-shaft">
            <a:extLst xmlns:a="http://schemas.openxmlformats.org/drawingml/2006/main">
              <a:ext uri="{FF2B5EF4-FFF2-40B4-BE49-F238E27FC236}">
                <a16:creationId xmlns:a16="http://schemas.microsoft.com/office/drawing/2014/main" id="{1178867C-8305-48D3-BBB9-74AECD9A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14675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40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ff-arrow-1-head">
            <a:extLst xmlns:a="http://schemas.openxmlformats.org/drawingml/2006/main">
              <a:ext uri="{FF2B5EF4-FFF2-40B4-BE49-F238E27FC236}">
                <a16:creationId xmlns:a16="http://schemas.microsoft.com/office/drawing/2014/main" id="{2D39480E-0FBB-45A6-B719-8C1B1C05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194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E407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affordance-core">
            <a:extLst xmlns:a="http://schemas.openxmlformats.org/drawingml/2006/main">
              <a:ext uri="{FF2B5EF4-FFF2-40B4-BE49-F238E27FC236}">
                <a16:creationId xmlns:a16="http://schemas.microsoft.com/office/drawing/2014/main" id="{AA67D2A2-D817-4A69-B9BD-29FBA5D1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43150"/>
            <a:ext cx="2571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4" name="affordance-core-label">
            <a:extLst xmlns:a="http://schemas.openxmlformats.org/drawingml/2006/main">
              <a:ext uri="{FF2B5EF4-FFF2-40B4-BE49-F238E27FC236}">
                <a16:creationId xmlns:a16="http://schemas.microsoft.com/office/drawing/2014/main" id="{0B271E32-6D42-4BF3-8A40-93ECC4D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Affordance / Value</a:t>
            </a:r>
          </a:p>
        </p:txBody>
      </p:sp>
      <p:sp>
        <p:nvSpPr>
          <p:cNvPr id="15" name="affordance-core-detail">
            <a:extLst xmlns:a="http://schemas.openxmlformats.org/drawingml/2006/main">
              <a:ext uri="{FF2B5EF4-FFF2-40B4-BE49-F238E27FC236}">
                <a16:creationId xmlns:a16="http://schemas.microsoft.com/office/drawing/2014/main" id="{E644D188-E4A4-4B0E-8EFC-19B619E6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62250"/>
            <a:ext cx="2266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纸巾是否可见？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机器人能否到达？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是否掌握擦拭技能？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动作是否安全？</a:t>
            </a:r>
          </a:p>
        </p:txBody>
      </p:sp>
      <p:sp>
        <p:nvSpPr>
          <p:cNvPr id="16" name="aff-arrow-2-shaft">
            <a:extLst xmlns:a="http://schemas.openxmlformats.org/drawingml/2006/main">
              <a:ext uri="{FF2B5EF4-FFF2-40B4-BE49-F238E27FC236}">
                <a16:creationId xmlns:a16="http://schemas.microsoft.com/office/drawing/2014/main" id="{4A671324-C03B-4ECB-8E93-07C243B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6702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aff-arrow-2-head">
            <a:extLst xmlns:a="http://schemas.openxmlformats.org/drawingml/2006/main">
              <a:ext uri="{FF2B5EF4-FFF2-40B4-BE49-F238E27FC236}">
                <a16:creationId xmlns:a16="http://schemas.microsoft.com/office/drawing/2014/main" id="{5323A8AA-A333-4080-967C-0146B04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717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aff-arrow-3-shaft">
            <a:extLst xmlns:a="http://schemas.openxmlformats.org/drawingml/2006/main">
              <a:ext uri="{FF2B5EF4-FFF2-40B4-BE49-F238E27FC236}">
                <a16:creationId xmlns:a16="http://schemas.microsoft.com/office/drawing/2014/main" id="{BA2B122D-BF71-49E6-B084-BC60BD1C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71875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aff-arrow-3-head">
            <a:extLst xmlns:a="http://schemas.openxmlformats.org/drawingml/2006/main">
              <a:ext uri="{FF2B5EF4-FFF2-40B4-BE49-F238E27FC236}">
                <a16:creationId xmlns:a16="http://schemas.microsoft.com/office/drawing/2014/main" id="{63D9BE15-6B28-4CAD-AA27-320698C6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76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accepted">
            <a:extLst xmlns:a="http://schemas.openxmlformats.org/drawingml/2006/main">
              <a:ext uri="{FF2B5EF4-FFF2-40B4-BE49-F238E27FC236}">
                <a16:creationId xmlns:a16="http://schemas.microsoft.com/office/drawing/2014/main" id="{27888FE7-CA37-4AB9-A569-44783B2A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228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EA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21" name="accepted-label">
            <a:extLst xmlns:a="http://schemas.openxmlformats.org/drawingml/2006/main">
              <a:ext uri="{FF2B5EF4-FFF2-40B4-BE49-F238E27FC236}">
                <a16:creationId xmlns:a16="http://schemas.microsoft.com/office/drawing/2014/main" id="{AE4D3F61-94BE-44E1-9E83-E1EAE667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可执行动作</a:t>
            </a:r>
          </a:p>
        </p:txBody>
      </p:sp>
      <p:sp>
        <p:nvSpPr>
          <p:cNvPr id="22" name="accepted-detail">
            <a:extLst xmlns:a="http://schemas.openxmlformats.org/drawingml/2006/main">
              <a:ext uri="{FF2B5EF4-FFF2-40B4-BE49-F238E27FC236}">
                <a16:creationId xmlns:a16="http://schemas.microsoft.com/office/drawing/2014/main" id="{1A326DDD-D5F0-4C49-97DF-21D2C605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3845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靠近桌面、拿纸巾、擦拭指定区域</a:t>
            </a:r>
          </a:p>
        </p:txBody>
      </p:sp>
      <p:sp>
        <p:nvSpPr>
          <p:cNvPr id="23" name="rejected">
            <a:extLst xmlns:a="http://schemas.openxmlformats.org/drawingml/2006/main">
              <a:ext uri="{FF2B5EF4-FFF2-40B4-BE49-F238E27FC236}">
                <a16:creationId xmlns:a16="http://schemas.microsoft.com/office/drawing/2014/main" id="{04FC004A-4462-4288-9BB2-C1DC9344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228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4" name="rejected-label">
            <a:extLst xmlns:a="http://schemas.openxmlformats.org/drawingml/2006/main">
              <a:ext uri="{FF2B5EF4-FFF2-40B4-BE49-F238E27FC236}">
                <a16:creationId xmlns:a16="http://schemas.microsoft.com/office/drawing/2014/main" id="{20C41F41-FBE3-4638-BD41-0EEC6767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拒绝或改写</a:t>
            </a:r>
          </a:p>
        </p:txBody>
      </p:sp>
      <p:sp>
        <p:nvSpPr>
          <p:cNvPr id="25" name="rejected-detail">
            <a:extLst xmlns:a="http://schemas.openxmlformats.org/drawingml/2006/main">
              <a:ext uri="{FF2B5EF4-FFF2-40B4-BE49-F238E27FC236}">
                <a16:creationId xmlns:a16="http://schemas.microsoft.com/office/drawing/2014/main" id="{8EC34F14-6574-4045-A5EE-289656CB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24300"/>
            <a:ext cx="1981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拿不到纸巾、热水危险、路径被挡</a:t>
            </a:r>
          </a:p>
        </p:txBody>
      </p:sp>
      <p:sp>
        <p:nvSpPr>
          <p:cNvPr id="26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0F7D67A8-6191-4099-973B-7524134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12529C57-38C0-4C6B-91DF-D951CFC4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95850"/>
            <a:ext cx="853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SayCan 式表达</a:t>
            </a:r>
          </a:p>
        </p:txBody>
      </p:sp>
      <p:sp>
        <p:nvSpPr>
          <p:cNvPr id="28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B1344BF3-B4A0-4162-A65D-E8BA94F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853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LLM 负责“语义上应该做什么”，affordance/value function 负责“当前机器人能不能做、做了是否有用”。</a:t>
            </a:r>
          </a:p>
        </p:txBody>
      </p:sp>
      <p:sp>
        <p:nvSpPr>
          <p:cNvPr id="29" name="interview-line">
            <a:extLst xmlns:a="http://schemas.openxmlformats.org/drawingml/2006/main">
              <a:ext uri="{FF2B5EF4-FFF2-40B4-BE49-F238E27FC236}">
                <a16:creationId xmlns:a16="http://schemas.microsoft.com/office/drawing/2014/main" id="{BF14CEE9-881D-488B-BF90-AD64B665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531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面试里可说：Affordance 是连接语言计划和物理行动的桥。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915DE9E-A2A1-4BEA-8F4B-E7BC091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FC9693F-CDEA-413B-87E4-AB6A5EE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2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3CDD510-C8C6-4E4A-8BB5-AEE67B9D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01152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0898359-8A2C-4BFD-8E59-EC2CE79E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57F091B5-B2A7-48DF-9878-5B484C33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7879C254-BD66-4F4C-9752-E09B8868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971B1E4-61C6-4641-B81F-673DE8F7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AB2AC7DB-2C92-4513-98BC-0E96A790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VLA / MODEL FAMILIES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47CABF7-4A85-4F96-88D2-985F1AC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VLA 把视觉、语言和动作放进同一个训练目标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D959FB33-88D5-416F-AA00-64C4746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关键变化：模型不只输出文本，还要输出 action token、轨迹 waypoint 或连续动作序列。</a:t>
            </a:r>
          </a:p>
        </p:txBody>
      </p:sp>
      <p:sp>
        <p:nvSpPr>
          <p:cNvPr id="8" name="input-vision">
            <a:extLst xmlns:a="http://schemas.openxmlformats.org/drawingml/2006/main">
              <a:ext uri="{FF2B5EF4-FFF2-40B4-BE49-F238E27FC236}">
                <a16:creationId xmlns:a16="http://schemas.microsoft.com/office/drawing/2014/main" id="{A3B4303D-142C-4ACE-8232-161B18F2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E8B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087E8B"/>
                </a:solidFill>
                <a:latin typeface="Menlo"/>
                <a:ea typeface="Menlo"/>
                <a:cs typeface="Menlo"/>
              </a:rPr>
              <a:t>image / video observation</a:t>
            </a:r>
          </a:p>
        </p:txBody>
      </p:sp>
      <p:sp>
        <p:nvSpPr>
          <p:cNvPr id="9" name="input-lang">
            <a:extLst xmlns:a="http://schemas.openxmlformats.org/drawingml/2006/main">
              <a:ext uri="{FF2B5EF4-FFF2-40B4-BE49-F238E27FC236}">
                <a16:creationId xmlns:a16="http://schemas.microsoft.com/office/drawing/2014/main" id="{AD1CEA0F-E011-47DA-BF26-389DD8AD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05050"/>
            <a:ext cx="200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407C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6E407C"/>
                </a:solidFill>
                <a:latin typeface="Menlo"/>
                <a:ea typeface="Menlo"/>
                <a:cs typeface="Menlo"/>
              </a:rPr>
              <a:t>+ language instruction</a:t>
            </a:r>
          </a:p>
        </p:txBody>
      </p:sp>
      <p:sp>
        <p:nvSpPr>
          <p:cNvPr id="10" name="vla-input-arrow-shaft">
            <a:extLst xmlns:a="http://schemas.openxmlformats.org/drawingml/2006/main">
              <a:ext uri="{FF2B5EF4-FFF2-40B4-BE49-F238E27FC236}">
                <a16:creationId xmlns:a16="http://schemas.microsoft.com/office/drawing/2014/main" id="{5D8E76E8-24D9-46D7-A47C-6BF8B134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47925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vla-input-arrow-head">
            <a:extLst xmlns:a="http://schemas.openxmlformats.org/drawingml/2006/main">
              <a:ext uri="{FF2B5EF4-FFF2-40B4-BE49-F238E27FC236}">
                <a16:creationId xmlns:a16="http://schemas.microsoft.com/office/drawing/2014/main" id="{F33DF597-AB9A-4079-B537-4DC533D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526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vla-core">
            <a:extLst xmlns:a="http://schemas.openxmlformats.org/drawingml/2006/main">
              <a:ext uri="{FF2B5EF4-FFF2-40B4-BE49-F238E27FC236}">
                <a16:creationId xmlns:a16="http://schemas.microsoft.com/office/drawing/2014/main" id="{8E089F65-706B-4407-BA29-37C80FF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38350"/>
            <a:ext cx="2247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13" name="vla-core-label">
            <a:extLst xmlns:a="http://schemas.openxmlformats.org/drawingml/2006/main">
              <a:ext uri="{FF2B5EF4-FFF2-40B4-BE49-F238E27FC236}">
                <a16:creationId xmlns:a16="http://schemas.microsoft.com/office/drawing/2014/main" id="{79327658-8C3F-40CF-89BE-FDBB01FD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VLA Model</a:t>
            </a:r>
          </a:p>
        </p:txBody>
      </p:sp>
      <p:sp>
        <p:nvSpPr>
          <p:cNvPr id="14" name="vla-core-detail">
            <a:extLst xmlns:a="http://schemas.openxmlformats.org/drawingml/2006/main">
              <a:ext uri="{FF2B5EF4-FFF2-40B4-BE49-F238E27FC236}">
                <a16:creationId xmlns:a16="http://schemas.microsoft.com/office/drawing/2014/main" id="{36E4F2E9-BE9F-4757-AA08-F010D4F9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57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视觉 + 语言 + 动作</a:t>
            </a:r>
          </a:p>
          <a:p xmlns:a="http://schemas.openxmlformats.org/drawingml/2006/main">
            <a:pPr algn="l">
              <a:def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5E2"/>
                </a:solidFill>
                <a:latin typeface="PingFang SC"/>
                <a:ea typeface="PingFang SC"/>
                <a:cs typeface="PingFang SC"/>
              </a:rPr>
              <a:t>同一训练目标</a:t>
            </a:r>
          </a:p>
        </p:txBody>
      </p:sp>
      <p:sp>
        <p:nvSpPr>
          <p:cNvPr id="15" name="vla-output-arrow-shaft">
            <a:extLst xmlns:a="http://schemas.openxmlformats.org/drawingml/2006/main">
              <a:ext uri="{FF2B5EF4-FFF2-40B4-BE49-F238E27FC236}">
                <a16:creationId xmlns:a16="http://schemas.microsoft.com/office/drawing/2014/main" id="{2D88EF93-DBD6-4DC9-9048-6D062EE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479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E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vla-output-arrow-head">
            <a:extLst xmlns:a="http://schemas.openxmlformats.org/drawingml/2006/main">
              <a:ext uri="{FF2B5EF4-FFF2-40B4-BE49-F238E27FC236}">
                <a16:creationId xmlns:a16="http://schemas.microsoft.com/office/drawing/2014/main" id="{40ED5F07-1D2B-407D-8DD8-3AE6D09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526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7" name="action-output">
            <a:extLst xmlns:a="http://schemas.openxmlformats.org/drawingml/2006/main">
              <a:ext uri="{FF2B5EF4-FFF2-40B4-BE49-F238E27FC236}">
                <a16:creationId xmlns:a16="http://schemas.microsoft.com/office/drawing/2014/main" id="{97A1F955-AFEE-4F7F-9439-876C0D71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209800"/>
            <a:ext cx="1181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5B4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E5B4B"/>
                </a:solidFill>
                <a:latin typeface="Menlo"/>
                <a:ea typeface="Menlo"/>
                <a:cs typeface="Menlo"/>
              </a:rPr>
              <a:t>robot</a:t>
            </a:r>
          </a:p>
          <a:p xmlns:a="http://schemas.openxmlformats.org/drawingml/2006/main">
            <a:pPr algn="l">
              <a:defRPr sz="1500" b="1">
                <a:solidFill>
                  <a:srgbClr val="1E5B4B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1E5B4B"/>
                </a:solidFill>
                <a:latin typeface="Menlo"/>
                <a:ea typeface="Menlo"/>
                <a:cs typeface="Menlo"/>
              </a:rPr>
              <a:t>action</a:t>
            </a:r>
          </a:p>
        </p:txBody>
      </p:sp>
      <p:sp>
        <p:nvSpPr>
          <p:cNvPr id="18" name="vla-model-1">
            <a:extLst xmlns:a="http://schemas.openxmlformats.org/drawingml/2006/main">
              <a:ext uri="{FF2B5EF4-FFF2-40B4-BE49-F238E27FC236}">
                <a16:creationId xmlns:a16="http://schemas.microsoft.com/office/drawing/2014/main" id="{59831EB0-C13C-4476-B1FA-6120EDD8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19" name="vla-model-1-label">
            <a:extLst xmlns:a="http://schemas.openxmlformats.org/drawingml/2006/main">
              <a:ext uri="{FF2B5EF4-FFF2-40B4-BE49-F238E27FC236}">
                <a16:creationId xmlns:a16="http://schemas.microsoft.com/office/drawing/2014/main" id="{9AE2FF9B-C18A-402A-BF29-E7FF5E5C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RT-2</a:t>
            </a:r>
          </a:p>
        </p:txBody>
      </p:sp>
      <p:sp>
        <p:nvSpPr>
          <p:cNvPr id="20" name="vla-model-1-detail">
            <a:extLst xmlns:a="http://schemas.openxmlformats.org/drawingml/2006/main">
              <a:ext uri="{FF2B5EF4-FFF2-40B4-BE49-F238E27FC236}">
                <a16:creationId xmlns:a16="http://schemas.microsoft.com/office/drawing/2014/main" id="{DF210401-ECEE-4AB0-A473-E1C44E1F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动作 token 化</a:t>
            </a:r>
          </a:p>
        </p:txBody>
      </p:sp>
      <p:sp>
        <p:nvSpPr>
          <p:cNvPr id="21" name="vla-model-2">
            <a:extLst xmlns:a="http://schemas.openxmlformats.org/drawingml/2006/main">
              <a:ext uri="{FF2B5EF4-FFF2-40B4-BE49-F238E27FC236}">
                <a16:creationId xmlns:a16="http://schemas.microsoft.com/office/drawing/2014/main" id="{76D892B5-EF28-4DED-9C6F-1E8FDE5A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623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22" name="vla-model-2-label">
            <a:extLst xmlns:a="http://schemas.openxmlformats.org/drawingml/2006/main">
              <a:ext uri="{FF2B5EF4-FFF2-40B4-BE49-F238E27FC236}">
                <a16:creationId xmlns:a16="http://schemas.microsoft.com/office/drawing/2014/main" id="{6C4EBFD5-36EA-4292-98BC-B10821C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PaLM-E</a:t>
            </a:r>
          </a:p>
        </p:txBody>
      </p:sp>
      <p:sp>
        <p:nvSpPr>
          <p:cNvPr id="23" name="vla-model-2-detail">
            <a:extLst xmlns:a="http://schemas.openxmlformats.org/drawingml/2006/main">
              <a:ext uri="{FF2B5EF4-FFF2-40B4-BE49-F238E27FC236}">
                <a16:creationId xmlns:a16="http://schemas.microsoft.com/office/drawing/2014/main" id="{6DF57127-8B29-4B19-8343-EFEF2802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48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传感器 grounding</a:t>
            </a:r>
          </a:p>
        </p:txBody>
      </p:sp>
      <p:sp>
        <p:nvSpPr>
          <p:cNvPr id="24" name="vla-model-3">
            <a:extLst xmlns:a="http://schemas.openxmlformats.org/drawingml/2006/main">
              <a:ext uri="{FF2B5EF4-FFF2-40B4-BE49-F238E27FC236}">
                <a16:creationId xmlns:a16="http://schemas.microsoft.com/office/drawing/2014/main" id="{91F1374F-1761-4838-BF8B-9D0F6442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623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5" name="vla-model-3-label">
            <a:extLst xmlns:a="http://schemas.openxmlformats.org/drawingml/2006/main">
              <a:ext uri="{FF2B5EF4-FFF2-40B4-BE49-F238E27FC236}">
                <a16:creationId xmlns:a16="http://schemas.microsoft.com/office/drawing/2014/main" id="{7159C506-D8C0-451D-95DA-F7C0F651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385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RT-X / Open X</a:t>
            </a:r>
          </a:p>
        </p:txBody>
      </p:sp>
      <p:sp>
        <p:nvSpPr>
          <p:cNvPr id="26" name="vla-model-3-detail">
            <a:extLst xmlns:a="http://schemas.openxmlformats.org/drawingml/2006/main">
              <a:ext uri="{FF2B5EF4-FFF2-40B4-BE49-F238E27FC236}">
                <a16:creationId xmlns:a16="http://schemas.microsoft.com/office/drawing/2014/main" id="{15877DF3-DCF5-4836-A109-4022EE3E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8481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跨机器人数据</a:t>
            </a:r>
          </a:p>
        </p:txBody>
      </p:sp>
      <p:sp>
        <p:nvSpPr>
          <p:cNvPr id="27" name="vla-model-4">
            <a:extLst xmlns:a="http://schemas.openxmlformats.org/drawingml/2006/main">
              <a:ext uri="{FF2B5EF4-FFF2-40B4-BE49-F238E27FC236}">
                <a16:creationId xmlns:a16="http://schemas.microsoft.com/office/drawing/2014/main" id="{5931E6DF-F783-40D0-ACC4-9DDA6BC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28" name="vla-model-4-label">
            <a:extLst xmlns:a="http://schemas.openxmlformats.org/drawingml/2006/main">
              <a:ext uri="{FF2B5EF4-FFF2-40B4-BE49-F238E27FC236}">
                <a16:creationId xmlns:a16="http://schemas.microsoft.com/office/drawing/2014/main" id="{13414B48-6831-449F-9836-DF23EF4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Octo</a:t>
            </a:r>
          </a:p>
        </p:txBody>
      </p:sp>
      <p:sp>
        <p:nvSpPr>
          <p:cNvPr id="29" name="vla-model-4-detail">
            <a:extLst xmlns:a="http://schemas.openxmlformats.org/drawingml/2006/main">
              <a:ext uri="{FF2B5EF4-FFF2-40B4-BE49-F238E27FC236}">
                <a16:creationId xmlns:a16="http://schemas.microsoft.com/office/drawing/2014/main" id="{84292BE3-3EDD-4400-9394-AC255EF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开源通用策略</a:t>
            </a:r>
          </a:p>
        </p:txBody>
      </p:sp>
      <p:sp>
        <p:nvSpPr>
          <p:cNvPr id="30" name="vla-model-5">
            <a:extLst xmlns:a="http://schemas.openxmlformats.org/drawingml/2006/main">
              <a:ext uri="{FF2B5EF4-FFF2-40B4-BE49-F238E27FC236}">
                <a16:creationId xmlns:a16="http://schemas.microsoft.com/office/drawing/2014/main" id="{E4395FC6-09BA-44B5-B4D4-AAD07951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386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E407C"/>
            </a:solidFill>
            <a:prstDash val="solid"/>
          </a:ln>
        </p:spPr>
      </p:sp>
      <p:sp>
        <p:nvSpPr>
          <p:cNvPr id="31" name="vla-model-5-label">
            <a:extLst xmlns:a="http://schemas.openxmlformats.org/drawingml/2006/main">
              <a:ext uri="{FF2B5EF4-FFF2-40B4-BE49-F238E27FC236}">
                <a16:creationId xmlns:a16="http://schemas.microsoft.com/office/drawing/2014/main" id="{DAB44CC0-28E6-478F-AFC7-85F0554A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π0 → π0.7</a:t>
            </a:r>
          </a:p>
        </p:txBody>
      </p:sp>
      <p:sp>
        <p:nvSpPr>
          <p:cNvPr id="32" name="vla-model-5-detail">
            <a:extLst xmlns:a="http://schemas.openxmlformats.org/drawingml/2006/main">
              <a:ext uri="{FF2B5EF4-FFF2-40B4-BE49-F238E27FC236}">
                <a16:creationId xmlns:a16="http://schemas.microsoft.com/office/drawing/2014/main" id="{7DD0992D-DE17-41DE-95CF-0E369958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24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连续控制与泛化</a:t>
            </a:r>
          </a:p>
        </p:txBody>
      </p:sp>
      <p:sp>
        <p:nvSpPr>
          <p:cNvPr id="33" name="vla-model-6">
            <a:extLst xmlns:a="http://schemas.openxmlformats.org/drawingml/2006/main">
              <a:ext uri="{FF2B5EF4-FFF2-40B4-BE49-F238E27FC236}">
                <a16:creationId xmlns:a16="http://schemas.microsoft.com/office/drawing/2014/main" id="{246EA7AA-23CE-44C5-AE89-45B94090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285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2A2E32"/>
            </a:solidFill>
            <a:prstDash val="solid"/>
          </a:ln>
        </p:spPr>
      </p:sp>
      <p:sp>
        <p:nvSpPr>
          <p:cNvPr id="34" name="vla-model-6-label">
            <a:extLst xmlns:a="http://schemas.openxmlformats.org/drawingml/2006/main">
              <a:ext uri="{FF2B5EF4-FFF2-40B4-BE49-F238E27FC236}">
                <a16:creationId xmlns:a16="http://schemas.microsoft.com/office/drawing/2014/main" id="{E92AE7B6-5D63-4D1F-A4E1-D440C8E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148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Gemini / Helix</a:t>
            </a:r>
          </a:p>
        </p:txBody>
      </p:sp>
      <p:sp>
        <p:nvSpPr>
          <p:cNvPr id="35" name="vla-model-6-detail">
            <a:extLst xmlns:a="http://schemas.openxmlformats.org/drawingml/2006/main">
              <a:ext uri="{FF2B5EF4-FFF2-40B4-BE49-F238E27FC236}">
                <a16:creationId xmlns:a16="http://schemas.microsoft.com/office/drawing/2014/main" id="{3C9351E9-E38C-41F1-AF4B-CFE416BE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724400"/>
            <a:ext cx="2552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工业系统集成</a:t>
            </a:r>
          </a:p>
        </p:txBody>
      </p:sp>
      <p:sp>
        <p:nvSpPr>
          <p:cNvPr id="36" name="vla-bottom-claim">
            <a:extLst xmlns:a="http://schemas.openxmlformats.org/drawingml/2006/main">
              <a:ext uri="{FF2B5EF4-FFF2-40B4-BE49-F238E27FC236}">
                <a16:creationId xmlns:a16="http://schemas.microsoft.com/office/drawing/2014/main" id="{F9030F42-2C0F-4331-8A14-E879E18B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动作表示从离散 token 走向 diffusion / flow 生成的连续轨迹；生产系统通常还会保留低层控制器。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27300D2-8FE1-4CD8-B863-5A9EEEB5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BB97BA4-810F-447D-817A-255B821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B89CCDB-A1AD-4C9A-A463-2DC98942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4679932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C5F2C1B-1212-4B79-8B4E-E1845EB0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00F98120-554A-4F96-872C-9634266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4BDC0410-C2F1-4BB4-81B2-8DB482DD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FAEE9BE-B818-41C3-BB87-4A5FB4A1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86754B5-991A-4B58-BA44-14497671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PHYSICAL AI STACK / PRODUCTION VIEW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4286B8A-FB99-4E6B-997D-EAC3CE3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生产级 Physical AI 是安全优先的系统栈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D6AC8651-7894-4DCB-A2ED-329B64D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真正落地时，模型只是栈中的一层；安全、控制、日志和评估同样是主路径。</a:t>
            </a:r>
          </a:p>
        </p:txBody>
      </p:sp>
      <p:sp>
        <p:nvSpPr>
          <p:cNvPr id="8" name="stack-layer-1">
            <a:extLst xmlns:a="http://schemas.openxmlformats.org/drawingml/2006/main">
              <a:ext uri="{FF2B5EF4-FFF2-40B4-BE49-F238E27FC236}">
                <a16:creationId xmlns:a16="http://schemas.microsoft.com/office/drawing/2014/main" id="{1794B125-0EB7-48C5-913A-3BC6DBF7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193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6E407C"/>
            </a:solidFill>
            <a:prstDash val="solid"/>
          </a:ln>
        </p:spPr>
      </p:sp>
      <p:sp>
        <p:nvSpPr>
          <p:cNvPr id="9" name="stack-layer-1-label">
            <a:extLst xmlns:a="http://schemas.openxmlformats.org/drawingml/2006/main">
              <a:ext uri="{FF2B5EF4-FFF2-40B4-BE49-F238E27FC236}">
                <a16:creationId xmlns:a16="http://schemas.microsoft.com/office/drawing/2014/main" id="{05F83D84-2F36-427E-9028-32BE5A16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User / Task</a:t>
            </a:r>
          </a:p>
        </p:txBody>
      </p:sp>
      <p:sp>
        <p:nvSpPr>
          <p:cNvPr id="10" name="stack-layer-1-detail">
            <a:extLst xmlns:a="http://schemas.openxmlformats.org/drawingml/2006/main">
              <a:ext uri="{FF2B5EF4-FFF2-40B4-BE49-F238E27FC236}">
                <a16:creationId xmlns:a16="http://schemas.microsoft.com/office/drawing/2014/main" id="{9AC22232-4031-49FF-A8A1-0982506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自然语言目标、任务约束</a:t>
            </a:r>
          </a:p>
        </p:txBody>
      </p:sp>
      <p:sp>
        <p:nvSpPr>
          <p:cNvPr id="11" name="stack-arrow-1">
            <a:extLst xmlns:a="http://schemas.openxmlformats.org/drawingml/2006/main">
              <a:ext uri="{FF2B5EF4-FFF2-40B4-BE49-F238E27FC236}">
                <a16:creationId xmlns:a16="http://schemas.microsoft.com/office/drawing/2014/main" id="{91209560-AF7C-47A5-A465-777033E7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050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407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E407C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2" name="stack-layer-2">
            <a:extLst xmlns:a="http://schemas.openxmlformats.org/drawingml/2006/main">
              <a:ext uri="{FF2B5EF4-FFF2-40B4-BE49-F238E27FC236}">
                <a16:creationId xmlns:a16="http://schemas.microsoft.com/office/drawing/2014/main" id="{BC8AE9BC-F218-4388-A6FB-C4B38C0A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3" name="stack-layer-2-label">
            <a:extLst xmlns:a="http://schemas.openxmlformats.org/drawingml/2006/main">
              <a:ext uri="{FF2B5EF4-FFF2-40B4-BE49-F238E27FC236}">
                <a16:creationId xmlns:a16="http://schemas.microsoft.com/office/drawing/2014/main" id="{2E1282F5-DD16-4109-BE28-68EFF068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Planner / ER Model</a:t>
            </a:r>
          </a:p>
        </p:txBody>
      </p:sp>
      <p:sp>
        <p:nvSpPr>
          <p:cNvPr id="14" name="stack-layer-2-detail">
            <a:extLst xmlns:a="http://schemas.openxmlformats.org/drawingml/2006/main">
              <a:ext uri="{FF2B5EF4-FFF2-40B4-BE49-F238E27FC236}">
                <a16:creationId xmlns:a16="http://schemas.microsoft.com/office/drawing/2014/main" id="{0D0B1D6E-7295-474F-9483-3A98CE31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任务拆解、状态理解、技能选择</a:t>
            </a:r>
          </a:p>
        </p:txBody>
      </p:sp>
      <p:sp>
        <p:nvSpPr>
          <p:cNvPr id="15" name="stack-arrow-2">
            <a:extLst xmlns:a="http://schemas.openxmlformats.org/drawingml/2006/main">
              <a:ext uri="{FF2B5EF4-FFF2-40B4-BE49-F238E27FC236}">
                <a16:creationId xmlns:a16="http://schemas.microsoft.com/office/drawing/2014/main" id="{E6E4A7B8-0259-41D9-8B8E-F877647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146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6" name="stack-layer-3">
            <a:extLst xmlns:a="http://schemas.openxmlformats.org/drawingml/2006/main">
              <a:ext uri="{FF2B5EF4-FFF2-40B4-BE49-F238E27FC236}">
                <a16:creationId xmlns:a16="http://schemas.microsoft.com/office/drawing/2014/main" id="{81CB12CE-FC7D-40F0-930A-5324E518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17" name="stack-layer-3-label">
            <a:extLst xmlns:a="http://schemas.openxmlformats.org/drawingml/2006/main">
              <a:ext uri="{FF2B5EF4-FFF2-40B4-BE49-F238E27FC236}">
                <a16:creationId xmlns:a16="http://schemas.microsoft.com/office/drawing/2014/main" id="{E1AF9A97-FD3B-436A-8351-3492FF28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VLA / Skill Policy / World Model</a:t>
            </a:r>
          </a:p>
        </p:txBody>
      </p:sp>
      <p:sp>
        <p:nvSpPr>
          <p:cNvPr id="18" name="stack-layer-3-detail">
            <a:extLst xmlns:a="http://schemas.openxmlformats.org/drawingml/2006/main">
              <a:ext uri="{FF2B5EF4-FFF2-40B4-BE49-F238E27FC236}">
                <a16:creationId xmlns:a16="http://schemas.microsoft.com/office/drawing/2014/main" id="{51F2BC6D-C6C5-490A-AB1F-AAFEEEBF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动作生成、后果预测、仿真场景</a:t>
            </a:r>
          </a:p>
        </p:txBody>
      </p:sp>
      <p:sp>
        <p:nvSpPr>
          <p:cNvPr id="19" name="stack-arrow-3">
            <a:extLst xmlns:a="http://schemas.openxmlformats.org/drawingml/2006/main">
              <a:ext uri="{FF2B5EF4-FFF2-40B4-BE49-F238E27FC236}">
                <a16:creationId xmlns:a16="http://schemas.microsoft.com/office/drawing/2014/main" id="{6B0F5707-9F31-4EC6-B523-D3676765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242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0" name="stack-layer-4">
            <a:extLst xmlns:a="http://schemas.openxmlformats.org/drawingml/2006/main">
              <a:ext uri="{FF2B5EF4-FFF2-40B4-BE49-F238E27FC236}">
                <a16:creationId xmlns:a16="http://schemas.microsoft.com/office/drawing/2014/main" id="{1DA497F6-2ED3-41FB-9038-CDD6FB79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21" name="stack-layer-4-label">
            <a:extLst xmlns:a="http://schemas.openxmlformats.org/drawingml/2006/main">
              <a:ext uri="{FF2B5EF4-FFF2-40B4-BE49-F238E27FC236}">
                <a16:creationId xmlns:a16="http://schemas.microsoft.com/office/drawing/2014/main" id="{718FAEBE-0C86-4BC0-B881-1842EB4C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Safety Layer</a:t>
            </a:r>
          </a:p>
        </p:txBody>
      </p:sp>
      <p:sp>
        <p:nvSpPr>
          <p:cNvPr id="22" name="stack-layer-4-detail">
            <a:extLst xmlns:a="http://schemas.openxmlformats.org/drawingml/2006/main">
              <a:ext uri="{FF2B5EF4-FFF2-40B4-BE49-F238E27FC236}">
                <a16:creationId xmlns:a16="http://schemas.microsoft.com/office/drawing/2014/main" id="{AE1BB481-AA46-42E0-B154-1E0DC2F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338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限幅、避碰、禁区、急停、人工接管</a:t>
            </a:r>
          </a:p>
        </p:txBody>
      </p:sp>
      <p:sp>
        <p:nvSpPr>
          <p:cNvPr id="23" name="stack-arrow-4">
            <a:extLst xmlns:a="http://schemas.openxmlformats.org/drawingml/2006/main">
              <a:ext uri="{FF2B5EF4-FFF2-40B4-BE49-F238E27FC236}">
                <a16:creationId xmlns:a16="http://schemas.microsoft.com/office/drawing/2014/main" id="{260EEA3F-6D6E-4F5D-B277-4A9CC425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338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4" name="stack-layer-5">
            <a:extLst xmlns:a="http://schemas.openxmlformats.org/drawingml/2006/main">
              <a:ext uri="{FF2B5EF4-FFF2-40B4-BE49-F238E27FC236}">
                <a16:creationId xmlns:a16="http://schemas.microsoft.com/office/drawing/2014/main" id="{4F3B06E2-1F24-420F-AFE9-98F14A6D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25" name="stack-layer-5-label">
            <a:extLst xmlns:a="http://schemas.openxmlformats.org/drawingml/2006/main">
              <a:ext uri="{FF2B5EF4-FFF2-40B4-BE49-F238E27FC236}">
                <a16:creationId xmlns:a16="http://schemas.microsoft.com/office/drawing/2014/main" id="{0DBEDA31-7185-483E-B049-5EE438D5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Low-level Controller</a:t>
            </a:r>
          </a:p>
        </p:txBody>
      </p:sp>
      <p:sp>
        <p:nvSpPr>
          <p:cNvPr id="26" name="stack-layer-5-detail">
            <a:extLst xmlns:a="http://schemas.openxmlformats.org/drawingml/2006/main">
              <a:ext uri="{FF2B5EF4-FFF2-40B4-BE49-F238E27FC236}">
                <a16:creationId xmlns:a16="http://schemas.microsoft.com/office/drawing/2014/main" id="{8F3CAFA7-F0C2-4C11-A76D-2318E0E7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轨迹跟踪、稳定性、实时控制</a:t>
            </a:r>
          </a:p>
        </p:txBody>
      </p:sp>
      <p:sp>
        <p:nvSpPr>
          <p:cNvPr id="27" name="stack-arrow-5">
            <a:extLst xmlns:a="http://schemas.openxmlformats.org/drawingml/2006/main">
              <a:ext uri="{FF2B5EF4-FFF2-40B4-BE49-F238E27FC236}">
                <a16:creationId xmlns:a16="http://schemas.microsoft.com/office/drawing/2014/main" id="{6A59F838-DB16-45AE-A028-3694AFD8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43475"/>
            <a:ext cx="228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8" name="stack-layer-6">
            <a:extLst xmlns:a="http://schemas.openxmlformats.org/drawingml/2006/main">
              <a:ext uri="{FF2B5EF4-FFF2-40B4-BE49-F238E27FC236}">
                <a16:creationId xmlns:a16="http://schemas.microsoft.com/office/drawing/2014/main" id="{35D9B7E0-4AE4-4863-82B8-6F4043F7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2A2E32"/>
            </a:solidFill>
            <a:prstDash val="solid"/>
          </a:ln>
        </p:spPr>
      </p:sp>
      <p:sp>
        <p:nvSpPr>
          <p:cNvPr id="29" name="stack-layer-6-label">
            <a:extLst xmlns:a="http://schemas.openxmlformats.org/drawingml/2006/main">
              <a:ext uri="{FF2B5EF4-FFF2-40B4-BE49-F238E27FC236}">
                <a16:creationId xmlns:a16="http://schemas.microsoft.com/office/drawing/2014/main" id="{BDED28F8-B04E-4BEE-B207-CBF5C6A1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0"/>
            <a:ext cx="493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Robot / Sensors / Actuators</a:t>
            </a:r>
          </a:p>
        </p:txBody>
      </p:sp>
      <p:sp>
        <p:nvSpPr>
          <p:cNvPr id="30" name="stack-layer-6-detail">
            <a:extLst xmlns:a="http://schemas.openxmlformats.org/drawingml/2006/main">
              <a:ext uri="{FF2B5EF4-FFF2-40B4-BE49-F238E27FC236}">
                <a16:creationId xmlns:a16="http://schemas.microsoft.com/office/drawing/2014/main" id="{5DFC6E25-DD80-4CDF-8416-6F4DD6FB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53050"/>
            <a:ext cx="4933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身体、摄像头、触觉、执行器</a:t>
            </a:r>
          </a:p>
        </p:txBody>
      </p:sp>
      <p:sp>
        <p:nvSpPr>
          <p:cNvPr id="31" name="trace-panel">
            <a:extLst xmlns:a="http://schemas.openxmlformats.org/drawingml/2006/main">
              <a:ext uri="{FF2B5EF4-FFF2-40B4-BE49-F238E27FC236}">
                <a16:creationId xmlns:a16="http://schemas.microsoft.com/office/drawing/2014/main" id="{03961157-0A53-44E9-B44F-2204A0C2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3124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32" name="trace-title">
            <a:extLst xmlns:a="http://schemas.openxmlformats.org/drawingml/2006/main">
              <a:ext uri="{FF2B5EF4-FFF2-40B4-BE49-F238E27FC236}">
                <a16:creationId xmlns:a16="http://schemas.microsoft.com/office/drawing/2014/main" id="{35C8B2DE-91F8-4279-995D-64F2A39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Trace / Eval / Data Flywheel</a:t>
            </a:r>
          </a:p>
        </p:txBody>
      </p:sp>
      <p:sp>
        <p:nvSpPr>
          <p:cNvPr id="33" name="trace-list">
            <a:extLst xmlns:a="http://schemas.openxmlformats.org/drawingml/2006/main">
              <a:ext uri="{FF2B5EF4-FFF2-40B4-BE49-F238E27FC236}">
                <a16:creationId xmlns:a16="http://schemas.microsoft.com/office/drawing/2014/main" id="{A76D60A5-6C78-48F3-92C8-3B74D5B3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传感器帧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动作轨迹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模型输出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安全事件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成功 / 失败标签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回归评估</a:t>
            </a:r>
          </a:p>
          <a:p xmlns:a="http://schemas.openxmlformats.org/drawingml/2006/main">
            <a:pPr algn="l">
              <a:defRPr sz="1350" b="0">
                <a:solidFill>
                  <a:srgbClr val="D4E5E2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4E5E2"/>
                </a:solidFill>
                <a:latin typeface="Menlo"/>
                <a:ea typeface="Menlo"/>
                <a:cs typeface="Menlo"/>
              </a:rPr>
              <a:t>再训练</a:t>
            </a:r>
          </a:p>
        </p:txBody>
      </p:sp>
      <p:sp>
        <p:nvSpPr>
          <p:cNvPr id="34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310C5645-2DE5-46AB-A389-B915A9E3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C01F86A1-0873-473F-A029-7B8E5535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14950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硬约束</a:t>
            </a:r>
          </a:p>
        </p:txBody>
      </p:sp>
      <p:sp>
        <p:nvSpPr>
          <p:cNvPr id="36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DF363F06-E01F-4ED3-9072-6D5E399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14950"/>
            <a:ext cx="180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不能把“提示词安全”当作物理安全。底层安全层必须可验证、可接管。</a:t>
            </a:r>
          </a:p>
        </p:txBody>
      </p:sp>
      <p:sp>
        <p:nvSpPr>
          <p:cNvPr id="3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546C7FF-2A4F-4FF9-9523-1C03C14B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30E18F5-89CA-4695-97E6-B8A33766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3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21864CC-E285-403C-9A1A-D992FBA5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21197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5E9005A-117E-46D5-B662-65EC6E45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D0BCD929-9983-4271-B0A2-11D03E9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C2C30E0D-D52C-40C6-8195-9611307F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4019257B-F795-4918-9585-EEB1473B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F030C1A1-233A-4660-A512-6B005631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SCALE BOTTLENECK / DATA AND SIMULATION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BC53CD4-B06B-4902-AED4-0E5FE032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规模化瓶颈在数据飞轮、仿真差距和硬件差异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DB3E322E-D3E8-41B2-87CE-898C3C33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具身数据不仅有输入，还必须带动作、状态、结果和环境元数据。</a:t>
            </a:r>
          </a:p>
        </p:txBody>
      </p:sp>
      <p:sp>
        <p:nvSpPr>
          <p:cNvPr id="8" name="flywheel-1">
            <a:extLst xmlns:a="http://schemas.openxmlformats.org/drawingml/2006/main">
              <a:ext uri="{FF2B5EF4-FFF2-40B4-BE49-F238E27FC236}">
                <a16:creationId xmlns:a16="http://schemas.microsoft.com/office/drawing/2014/main" id="{EB706062-E652-48EB-B1EC-7CC1752D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1E5B4B"/>
            </a:solidFill>
            <a:prstDash val="solid"/>
          </a:ln>
        </p:spPr>
      </p:sp>
      <p:sp>
        <p:nvSpPr>
          <p:cNvPr id="9" name="flywheel-1-label">
            <a:extLst xmlns:a="http://schemas.openxmlformats.org/drawingml/2006/main">
              <a:ext uri="{FF2B5EF4-FFF2-40B4-BE49-F238E27FC236}">
                <a16:creationId xmlns:a16="http://schemas.microsoft.com/office/drawing/2014/main" id="{79BBC28F-62DC-4BF7-89DD-A6ED186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部署</a:t>
            </a:r>
          </a:p>
        </p:txBody>
      </p:sp>
      <p:sp>
        <p:nvSpPr>
          <p:cNvPr id="10" name="flywheel-1-detail">
            <a:extLst xmlns:a="http://schemas.openxmlformats.org/drawingml/2006/main">
              <a:ext uri="{FF2B5EF4-FFF2-40B4-BE49-F238E27FC236}">
                <a16:creationId xmlns:a16="http://schemas.microsoft.com/office/drawing/2014/main" id="{052E5437-CF92-45FB-9CDD-3ABEDF5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真实执行日志</a:t>
            </a:r>
          </a:p>
        </p:txBody>
      </p:sp>
      <p:sp>
        <p:nvSpPr>
          <p:cNvPr id="11" name="flywheel-2">
            <a:extLst xmlns:a="http://schemas.openxmlformats.org/drawingml/2006/main">
              <a:ext uri="{FF2B5EF4-FFF2-40B4-BE49-F238E27FC236}">
                <a16:creationId xmlns:a16="http://schemas.microsoft.com/office/drawing/2014/main" id="{44807654-6B6E-471C-9D5D-CC940154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717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2" name="flywheel-2-label">
            <a:extLst xmlns:a="http://schemas.openxmlformats.org/drawingml/2006/main">
              <a:ext uri="{FF2B5EF4-FFF2-40B4-BE49-F238E27FC236}">
                <a16:creationId xmlns:a16="http://schemas.microsoft.com/office/drawing/2014/main" id="{E1650D6C-703D-43BE-B86F-6DD3BE7B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采集轨迹</a:t>
            </a:r>
          </a:p>
        </p:txBody>
      </p:sp>
      <p:sp>
        <p:nvSpPr>
          <p:cNvPr id="13" name="flywheel-2-detail">
            <a:extLst xmlns:a="http://schemas.openxmlformats.org/drawingml/2006/main">
              <a:ext uri="{FF2B5EF4-FFF2-40B4-BE49-F238E27FC236}">
                <a16:creationId xmlns:a16="http://schemas.microsoft.com/office/drawing/2014/main" id="{34A2A9AB-81BD-4C33-A79A-561C56C2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575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图像 / 状态 / 动作</a:t>
            </a:r>
          </a:p>
        </p:txBody>
      </p:sp>
      <p:sp>
        <p:nvSpPr>
          <p:cNvPr id="14" name="flywheel-3">
            <a:extLst xmlns:a="http://schemas.openxmlformats.org/drawingml/2006/main">
              <a:ext uri="{FF2B5EF4-FFF2-40B4-BE49-F238E27FC236}">
                <a16:creationId xmlns:a16="http://schemas.microsoft.com/office/drawing/2014/main" id="{7840AA42-FDC7-4CFC-BF1B-2AF91AF4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005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15" name="flywheel-3-label">
            <a:extLst xmlns:a="http://schemas.openxmlformats.org/drawingml/2006/main">
              <a:ext uri="{FF2B5EF4-FFF2-40B4-BE49-F238E27FC236}">
                <a16:creationId xmlns:a16="http://schemas.microsoft.com/office/drawing/2014/main" id="{452AFDED-0741-45C2-B079-CEA079F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767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挖掘长尾</a:t>
            </a:r>
          </a:p>
        </p:txBody>
      </p:sp>
      <p:sp>
        <p:nvSpPr>
          <p:cNvPr id="16" name="flywheel-3-detail">
            <a:extLst xmlns:a="http://schemas.openxmlformats.org/drawingml/2006/main">
              <a:ext uri="{FF2B5EF4-FFF2-40B4-BE49-F238E27FC236}">
                <a16:creationId xmlns:a16="http://schemas.microsoft.com/office/drawing/2014/main" id="{E72FC00A-CFD8-45AD-A3E7-8BD946E4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86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失败和恢复样本</a:t>
            </a:r>
          </a:p>
        </p:txBody>
      </p:sp>
      <p:sp>
        <p:nvSpPr>
          <p:cNvPr id="17" name="flywheel-4">
            <a:extLst xmlns:a="http://schemas.openxmlformats.org/drawingml/2006/main">
              <a:ext uri="{FF2B5EF4-FFF2-40B4-BE49-F238E27FC236}">
                <a16:creationId xmlns:a16="http://schemas.microsoft.com/office/drawing/2014/main" id="{10414470-59DA-48C6-AB5A-8F3C756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005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18" name="flywheel-4-label">
            <a:extLst xmlns:a="http://schemas.openxmlformats.org/drawingml/2006/main">
              <a:ext uri="{FF2B5EF4-FFF2-40B4-BE49-F238E27FC236}">
                <a16:creationId xmlns:a16="http://schemas.microsoft.com/office/drawing/2014/main" id="{CA6AA13F-5684-4D26-AD3B-8CEC454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训练评估</a:t>
            </a:r>
          </a:p>
        </p:txBody>
      </p:sp>
      <p:sp>
        <p:nvSpPr>
          <p:cNvPr id="19" name="flywheel-4-detail">
            <a:extLst xmlns:a="http://schemas.openxmlformats.org/drawingml/2006/main">
              <a:ext uri="{FF2B5EF4-FFF2-40B4-BE49-F238E27FC236}">
                <a16:creationId xmlns:a16="http://schemas.microsoft.com/office/drawing/2014/main" id="{9490382E-7A55-4B05-8864-10852FB2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回归集再部署</a:t>
            </a:r>
          </a:p>
        </p:txBody>
      </p:sp>
      <p:sp>
        <p:nvSpPr>
          <p:cNvPr id="20" name="flywheel-a1-shaft">
            <a:extLst xmlns:a="http://schemas.openxmlformats.org/drawingml/2006/main">
              <a:ext uri="{FF2B5EF4-FFF2-40B4-BE49-F238E27FC236}">
                <a16:creationId xmlns:a16="http://schemas.microsoft.com/office/drawing/2014/main" id="{F4EBFED9-A49B-4BDC-994F-C40AF37C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flywheel-a1-head">
            <a:extLst xmlns:a="http://schemas.openxmlformats.org/drawingml/2006/main">
              <a:ext uri="{FF2B5EF4-FFF2-40B4-BE49-F238E27FC236}">
                <a16:creationId xmlns:a16="http://schemas.microsoft.com/office/drawing/2014/main" id="{49448227-F286-42D5-A043-4E6A716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003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2" name="flywheel-a2-shaft">
            <a:extLst xmlns:a="http://schemas.openxmlformats.org/drawingml/2006/main">
              <a:ext uri="{FF2B5EF4-FFF2-40B4-BE49-F238E27FC236}">
                <a16:creationId xmlns:a16="http://schemas.microsoft.com/office/drawing/2014/main" id="{68B340E1-32E6-4DAD-9A93-EA0A594D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766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lywheel-a2-head">
            <a:extLst xmlns:a="http://schemas.openxmlformats.org/drawingml/2006/main">
              <a:ext uri="{FF2B5EF4-FFF2-40B4-BE49-F238E27FC236}">
                <a16:creationId xmlns:a16="http://schemas.microsoft.com/office/drawing/2014/main" id="{25F57BED-41B4-49E9-8A41-107C663F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71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4" name="flywheel-a3-shaft">
            <a:extLst xmlns:a="http://schemas.openxmlformats.org/drawingml/2006/main">
              <a:ext uri="{FF2B5EF4-FFF2-40B4-BE49-F238E27FC236}">
                <a16:creationId xmlns:a16="http://schemas.microsoft.com/office/drawing/2014/main" id="{004A2788-6491-4761-BA62-FF5C860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148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lywheel-a3-head">
            <a:extLst xmlns:a="http://schemas.openxmlformats.org/drawingml/2006/main">
              <a:ext uri="{FF2B5EF4-FFF2-40B4-BE49-F238E27FC236}">
                <a16:creationId xmlns:a16="http://schemas.microsoft.com/office/drawing/2014/main" id="{6875685B-852D-4878-A8F1-0481668C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196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85C3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6" name="flywheel-a4-shaft">
            <a:extLst xmlns:a="http://schemas.openxmlformats.org/drawingml/2006/main">
              <a:ext uri="{FF2B5EF4-FFF2-40B4-BE49-F238E27FC236}">
                <a16:creationId xmlns:a16="http://schemas.microsoft.com/office/drawing/2014/main" id="{6DD6BD14-6FC7-4EA9-ABD0-3A328483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76600"/>
            <a:ext cx="19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lywheel-a4-head">
            <a:extLst xmlns:a="http://schemas.openxmlformats.org/drawingml/2006/main">
              <a:ext uri="{FF2B5EF4-FFF2-40B4-BE49-F238E27FC236}">
                <a16:creationId xmlns:a16="http://schemas.microsoft.com/office/drawing/2014/main" id="{CCC13959-76F4-46E3-AB9B-D8ABAA63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71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8" name="flywheel-title">
            <a:extLst xmlns:a="http://schemas.openxmlformats.org/drawingml/2006/main">
              <a:ext uri="{FF2B5EF4-FFF2-40B4-BE49-F238E27FC236}">
                <a16:creationId xmlns:a16="http://schemas.microsoft.com/office/drawing/2014/main" id="{FB73FAC2-B49E-4BEE-8ABB-5762765F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数据飞轮</a:t>
            </a:r>
          </a:p>
        </p:txBody>
      </p:sp>
      <p:sp>
        <p:nvSpPr>
          <p:cNvPr id="29" name="split-rule">
            <a:extLst xmlns:a="http://schemas.openxmlformats.org/drawingml/2006/main">
              <a:ext uri="{FF2B5EF4-FFF2-40B4-BE49-F238E27FC236}">
                <a16:creationId xmlns:a16="http://schemas.microsoft.com/office/drawing/2014/main" id="{C0BAE814-A919-4C43-85F5-82725DB3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im2real">
            <a:extLst xmlns:a="http://schemas.openxmlformats.org/drawingml/2006/main">
              <a:ext uri="{FF2B5EF4-FFF2-40B4-BE49-F238E27FC236}">
                <a16:creationId xmlns:a16="http://schemas.microsoft.com/office/drawing/2014/main" id="{A0114C8D-588D-4647-AF96-484C7E09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F1"/>
          </a:solidFill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31" name="sim2real-label">
            <a:extLst xmlns:a="http://schemas.openxmlformats.org/drawingml/2006/main">
              <a:ext uri="{FF2B5EF4-FFF2-40B4-BE49-F238E27FC236}">
                <a16:creationId xmlns:a16="http://schemas.microsoft.com/office/drawing/2014/main" id="{7B27C9A1-84A4-4D86-A44B-347C3075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Sim2Real</a:t>
            </a:r>
          </a:p>
        </p:txBody>
      </p:sp>
      <p:sp>
        <p:nvSpPr>
          <p:cNvPr id="32" name="sim2real-detail">
            <a:extLst xmlns:a="http://schemas.openxmlformats.org/drawingml/2006/main">
              <a:ext uri="{FF2B5EF4-FFF2-40B4-BE49-F238E27FC236}">
                <a16:creationId xmlns:a16="http://schemas.microsoft.com/office/drawing/2014/main" id="{41052DF8-77A5-4536-909A-3496E2D3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861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仿真训练 / 测试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迁移到真实世界</a:t>
            </a:r>
          </a:p>
        </p:txBody>
      </p:sp>
      <p:sp>
        <p:nvSpPr>
          <p:cNvPr id="33" name="sim-arrow-1-shaft">
            <a:extLst xmlns:a="http://schemas.openxmlformats.org/drawingml/2006/main">
              <a:ext uri="{FF2B5EF4-FFF2-40B4-BE49-F238E27FC236}">
                <a16:creationId xmlns:a16="http://schemas.microsoft.com/office/drawing/2014/main" id="{7C7C10CD-2426-41D1-B672-DD0C2C8E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623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im-arrow-1-head">
            <a:extLst xmlns:a="http://schemas.openxmlformats.org/drawingml/2006/main">
              <a:ext uri="{FF2B5EF4-FFF2-40B4-BE49-F238E27FC236}">
                <a16:creationId xmlns:a16="http://schemas.microsoft.com/office/drawing/2014/main" id="{F9744F01-4872-4499-9182-5EBD0D2A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00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5" name="real2sim">
            <a:extLst xmlns:a="http://schemas.openxmlformats.org/drawingml/2006/main">
              <a:ext uri="{FF2B5EF4-FFF2-40B4-BE49-F238E27FC236}">
                <a16:creationId xmlns:a16="http://schemas.microsoft.com/office/drawing/2014/main" id="{9890ADF4-2953-432E-9569-B6B2F7DA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19050">
            <a:solidFill>
              <a:srgbClr val="D5A021"/>
            </a:solidFill>
            <a:prstDash val="solid"/>
          </a:ln>
        </p:spPr>
      </p:sp>
      <p:sp>
        <p:nvSpPr>
          <p:cNvPr id="36" name="real2sim-label">
            <a:extLst xmlns:a="http://schemas.openxmlformats.org/drawingml/2006/main">
              <a:ext uri="{FF2B5EF4-FFF2-40B4-BE49-F238E27FC236}">
                <a16:creationId xmlns:a16="http://schemas.microsoft.com/office/drawing/2014/main" id="{7873C1D6-E866-45D3-9581-7F20DB58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Real2Sim</a:t>
            </a:r>
          </a:p>
        </p:txBody>
      </p:sp>
      <p:sp>
        <p:nvSpPr>
          <p:cNvPr id="37" name="real2sim-detail">
            <a:extLst xmlns:a="http://schemas.openxmlformats.org/drawingml/2006/main">
              <a:ext uri="{FF2B5EF4-FFF2-40B4-BE49-F238E27FC236}">
                <a16:creationId xmlns:a16="http://schemas.microsoft.com/office/drawing/2014/main" id="{90C9CDAD-5B4B-4ECB-9964-17B16B61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863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复现真实失败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做反事实测试</a:t>
            </a:r>
          </a:p>
        </p:txBody>
      </p:sp>
      <p:sp>
        <p:nvSpPr>
          <p:cNvPr id="38" name="sim-gap">
            <a:extLst xmlns:a="http://schemas.openxmlformats.org/drawingml/2006/main">
              <a:ext uri="{FF2B5EF4-FFF2-40B4-BE49-F238E27FC236}">
                <a16:creationId xmlns:a16="http://schemas.microsoft.com/office/drawing/2014/main" id="{771CFDFE-FD9F-4FA3-BAA3-C6732584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52750"/>
            <a:ext cx="1619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6DF"/>
          </a:solidFill>
          <a:ln xmlns:a="http://schemas.openxmlformats.org/drawingml/2006/main" w="19050">
            <a:solidFill>
              <a:srgbClr val="B85C38"/>
            </a:solidFill>
            <a:prstDash val="solid"/>
          </a:ln>
        </p:spPr>
      </p:sp>
      <p:sp>
        <p:nvSpPr>
          <p:cNvPr id="39" name="sim-gap-label">
            <a:extLst xmlns:a="http://schemas.openxmlformats.org/drawingml/2006/main">
              <a:ext uri="{FF2B5EF4-FFF2-40B4-BE49-F238E27FC236}">
                <a16:creationId xmlns:a16="http://schemas.microsoft.com/office/drawing/2014/main" id="{52B5BDAF-0788-4A22-A084-5539808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Simulation Gap</a:t>
            </a:r>
          </a:p>
        </p:txBody>
      </p:sp>
      <p:sp>
        <p:nvSpPr>
          <p:cNvPr id="40" name="sim-gap-detail">
            <a:extLst xmlns:a="http://schemas.openxmlformats.org/drawingml/2006/main">
              <a:ext uri="{FF2B5EF4-FFF2-40B4-BE49-F238E27FC236}">
                <a16:creationId xmlns:a16="http://schemas.microsoft.com/office/drawing/2014/main" id="{8F2A6257-BDD3-44C0-B1E3-DE41F6D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1314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材质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摩擦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传感器噪声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光照遮挡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执行器误差</a:t>
            </a:r>
          </a:p>
          <a:p xmlns:a="http://schemas.openxmlformats.org/drawingml/2006/main">
            <a:pPr algn="l">
              <a:def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动态主体</a:t>
            </a:r>
          </a:p>
        </p:txBody>
      </p:sp>
      <p:sp>
        <p:nvSpPr>
          <p:cNvPr id="41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EF0A46B7-3650-4A0C-8A21-AA84A0BF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76900"/>
            <a:ext cx="57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F4F488C5-ACA5-46A1-955E-1B127638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工程判断</a:t>
            </a:r>
          </a:p>
        </p:txBody>
      </p:sp>
      <p:sp>
        <p:nvSpPr>
          <p:cNvPr id="43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5158D2E1-2D4C-4861-B122-2CCB189B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721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仿真不是替代真实数据，而是和真实日志、世界模型、在线反馈一起覆盖昂贵且危险的长尾。</a:t>
            </a:r>
          </a:p>
        </p:txBody>
      </p:sp>
      <p:sp>
        <p:nvSpPr>
          <p:cNvPr id="4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BD5E86-8247-494E-9CF6-62E60AEB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9209661-6FF4-496D-BEDA-EB2203CF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4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55966F81-5DA9-4009-8AB9-24B0CBCE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032182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B61C9BF-E061-445C-B00E-4641B91B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left-accent">
            <a:extLst xmlns:a="http://schemas.openxmlformats.org/drawingml/2006/main">
              <a:ext uri="{FF2B5EF4-FFF2-40B4-BE49-F238E27FC236}">
                <a16:creationId xmlns:a16="http://schemas.microsoft.com/office/drawing/2014/main" id="{7E8EAFEA-6F53-494A-B94C-C93C8757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ight-wash">
            <a:extLst xmlns:a="http://schemas.openxmlformats.org/drawingml/2006/main">
              <a:ext uri="{FF2B5EF4-FFF2-40B4-BE49-F238E27FC236}">
                <a16:creationId xmlns:a16="http://schemas.microsoft.com/office/drawing/2014/main" id="{081066C5-D17F-4DF8-9C68-F6443A3A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0"/>
            <a:ext cx="106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2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794CBF4-F3C6-4B63-B434-FD490675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A9498D1D-9475-4A31-A045-1F948C32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625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B6258"/>
                </a:solidFill>
                <a:latin typeface="Menlo"/>
                <a:ea typeface="Menlo"/>
                <a:cs typeface="Menlo"/>
              </a:rPr>
              <a:t>EVALUATION / BEYOND DEMO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B45B6C3A-A03A-4A1A-8726-5DD1014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评估要看可控、一致、可迁移和安全，而不是一次 demo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793DB04A-3AB7-4B01-830F-268B6DEF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B6258"/>
                </a:solidFill>
                <a:latin typeface="PingFang SC"/>
                <a:ea typeface="PingFang SC"/>
                <a:cs typeface="PingFang SC"/>
              </a:rPr>
              <a:t>世界模型看任务有效性，具身智能看多场景长期可靠运行。</a:t>
            </a:r>
          </a:p>
        </p:txBody>
      </p:sp>
      <p:sp>
        <p:nvSpPr>
          <p:cNvPr id="8" name="eval-header-1">
            <a:extLst xmlns:a="http://schemas.openxmlformats.org/drawingml/2006/main">
              <a:ext uri="{FF2B5EF4-FFF2-40B4-BE49-F238E27FC236}">
                <a16:creationId xmlns:a16="http://schemas.microsoft.com/office/drawing/2014/main" id="{91EE1469-3F89-4207-9514-9A3B8BEC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可控性</a:t>
            </a:r>
          </a:p>
        </p:txBody>
      </p:sp>
      <p:sp>
        <p:nvSpPr>
          <p:cNvPr id="9" name="eval-header-2">
            <a:extLst xmlns:a="http://schemas.openxmlformats.org/drawingml/2006/main">
              <a:ext uri="{FF2B5EF4-FFF2-40B4-BE49-F238E27FC236}">
                <a16:creationId xmlns:a16="http://schemas.microsoft.com/office/drawing/2014/main" id="{97CDAE28-63F0-4400-988F-DF677B9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一致性</a:t>
            </a:r>
          </a:p>
        </p:txBody>
      </p:sp>
      <p:sp>
        <p:nvSpPr>
          <p:cNvPr id="10" name="eval-header-3">
            <a:extLst xmlns:a="http://schemas.openxmlformats.org/drawingml/2006/main">
              <a:ext uri="{FF2B5EF4-FFF2-40B4-BE49-F238E27FC236}">
                <a16:creationId xmlns:a16="http://schemas.microsoft.com/office/drawing/2014/main" id="{4F784293-F28F-4EF8-9491-DD5A6178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迁移有效性</a:t>
            </a:r>
          </a:p>
        </p:txBody>
      </p:sp>
      <p:sp>
        <p:nvSpPr>
          <p:cNvPr id="11" name="eval-header-4">
            <a:extLst xmlns:a="http://schemas.openxmlformats.org/drawingml/2006/main">
              <a:ext uri="{FF2B5EF4-FFF2-40B4-BE49-F238E27FC236}">
                <a16:creationId xmlns:a16="http://schemas.microsoft.com/office/drawing/2014/main" id="{AA5941EA-DF4F-4AF7-A3FD-864BBCB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安全覆盖</a:t>
            </a:r>
          </a:p>
        </p:txBody>
      </p:sp>
      <p:sp>
        <p:nvSpPr>
          <p:cNvPr id="12" name="eval-header-5">
            <a:extLst xmlns:a="http://schemas.openxmlformats.org/drawingml/2006/main">
              <a:ext uri="{FF2B5EF4-FFF2-40B4-BE49-F238E27FC236}">
                <a16:creationId xmlns:a16="http://schemas.microsoft.com/office/drawing/2014/main" id="{B0B7B472-E470-4E9A-9F47-571EA0F1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21417"/>
                </a:solidFill>
                <a:latin typeface="PingFang SC"/>
                <a:ea typeface="PingFang SC"/>
                <a:cs typeface="PingFang SC"/>
              </a:rPr>
              <a:t>失败恢复</a:t>
            </a:r>
          </a:p>
        </p:txBody>
      </p:sp>
      <p:sp>
        <p:nvSpPr>
          <p:cNvPr id="13" name="row-world">
            <a:extLst xmlns:a="http://schemas.openxmlformats.org/drawingml/2006/main">
              <a:ext uri="{FF2B5EF4-FFF2-40B4-BE49-F238E27FC236}">
                <a16:creationId xmlns:a16="http://schemas.microsoft.com/office/drawing/2014/main" id="{6C8449B2-CF69-438A-82B7-49498E6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E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87E8B"/>
                </a:solidFill>
                <a:latin typeface="PingFang SC"/>
                <a:ea typeface="PingFang SC"/>
                <a:cs typeface="PingFang SC"/>
              </a:rPr>
              <a:t>World Model</a:t>
            </a:r>
          </a:p>
        </p:txBody>
      </p:sp>
      <p:sp>
        <p:nvSpPr>
          <p:cNvPr id="14" name="row-embodied">
            <a:extLst xmlns:a="http://schemas.openxmlformats.org/drawingml/2006/main">
              <a:ext uri="{FF2B5EF4-FFF2-40B4-BE49-F238E27FC236}">
                <a16:creationId xmlns:a16="http://schemas.microsoft.com/office/drawing/2014/main" id="{C33E8702-51E1-45B3-9BC2-E19B3646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B4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E5B4B"/>
                </a:solidFill>
                <a:latin typeface="PingFang SC"/>
                <a:ea typeface="PingFang SC"/>
                <a:cs typeface="PingFang SC"/>
              </a:rPr>
              <a:t>Embodied AI</a:t>
            </a:r>
          </a:p>
        </p:txBody>
      </p:sp>
      <p:sp>
        <p:nvSpPr>
          <p:cNvPr id="15" name="world-cell-1">
            <a:extLst xmlns:a="http://schemas.openxmlformats.org/drawingml/2006/main">
              <a:ext uri="{FF2B5EF4-FFF2-40B4-BE49-F238E27FC236}">
                <a16:creationId xmlns:a16="http://schemas.microsoft.com/office/drawing/2014/main" id="{BE27202F-A3E3-4090-9F18-D6BD97F8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16" name="world-cell-1-accent">
            <a:extLst xmlns:a="http://schemas.openxmlformats.org/drawingml/2006/main">
              <a:ext uri="{FF2B5EF4-FFF2-40B4-BE49-F238E27FC236}">
                <a16:creationId xmlns:a16="http://schemas.microsoft.com/office/drawing/2014/main" id="{A7AEA7EA-C503-4E03-9471-84060D3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world-cell-1-text">
            <a:extLst xmlns:a="http://schemas.openxmlformats.org/drawingml/2006/main">
              <a:ext uri="{FF2B5EF4-FFF2-40B4-BE49-F238E27FC236}">
                <a16:creationId xmlns:a16="http://schemas.microsoft.com/office/drawing/2014/main" id="{D04ED51E-E7AF-47E6-9C74-691E31E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动作后场景是否按条件变化</a:t>
            </a:r>
          </a:p>
        </p:txBody>
      </p:sp>
      <p:sp>
        <p:nvSpPr>
          <p:cNvPr id="18" name="world-cell-2">
            <a:extLst xmlns:a="http://schemas.openxmlformats.org/drawingml/2006/main">
              <a:ext uri="{FF2B5EF4-FFF2-40B4-BE49-F238E27FC236}">
                <a16:creationId xmlns:a16="http://schemas.microsoft.com/office/drawing/2014/main" id="{511551A2-7332-45C7-BF00-1AB877E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19" name="world-cell-2-accent">
            <a:extLst xmlns:a="http://schemas.openxmlformats.org/drawingml/2006/main">
              <a:ext uri="{FF2B5EF4-FFF2-40B4-BE49-F238E27FC236}">
                <a16:creationId xmlns:a16="http://schemas.microsoft.com/office/drawing/2014/main" id="{13B12275-9BC6-4F57-B82B-A0015F4A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world-cell-2-text">
            <a:extLst xmlns:a="http://schemas.openxmlformats.org/drawingml/2006/main">
              <a:ext uri="{FF2B5EF4-FFF2-40B4-BE49-F238E27FC236}">
                <a16:creationId xmlns:a16="http://schemas.microsoft.com/office/drawing/2014/main" id="{BAAC455E-FC0B-4E8E-A8B6-FD43CFB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物体身份、位置、长时记忆是否稳定</a:t>
            </a:r>
          </a:p>
        </p:txBody>
      </p:sp>
      <p:sp>
        <p:nvSpPr>
          <p:cNvPr id="21" name="world-cell-3">
            <a:extLst xmlns:a="http://schemas.openxmlformats.org/drawingml/2006/main">
              <a:ext uri="{FF2B5EF4-FFF2-40B4-BE49-F238E27FC236}">
                <a16:creationId xmlns:a16="http://schemas.microsoft.com/office/drawing/2014/main" id="{DD498710-E8DA-46AA-9247-AC0DA054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22" name="world-cell-3-accent">
            <a:extLst xmlns:a="http://schemas.openxmlformats.org/drawingml/2006/main">
              <a:ext uri="{FF2B5EF4-FFF2-40B4-BE49-F238E27FC236}">
                <a16:creationId xmlns:a16="http://schemas.microsoft.com/office/drawing/2014/main" id="{D3DFAE21-7662-4168-A4FE-8BE5DB63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world-cell-3-text">
            <a:extLst xmlns:a="http://schemas.openxmlformats.org/drawingml/2006/main">
              <a:ext uri="{FF2B5EF4-FFF2-40B4-BE49-F238E27FC236}">
                <a16:creationId xmlns:a16="http://schemas.microsoft.com/office/drawing/2014/main" id="{6D7B3AF2-E3B1-4B6A-99A3-43EA2028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训练/评估策略是否提升真实表现</a:t>
            </a:r>
          </a:p>
        </p:txBody>
      </p:sp>
      <p:sp>
        <p:nvSpPr>
          <p:cNvPr id="24" name="world-cell-4">
            <a:extLst xmlns:a="http://schemas.openxmlformats.org/drawingml/2006/main">
              <a:ext uri="{FF2B5EF4-FFF2-40B4-BE49-F238E27FC236}">
                <a16:creationId xmlns:a16="http://schemas.microsoft.com/office/drawing/2014/main" id="{FD3D401C-4C29-4B26-B3EE-924663FD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25" name="world-cell-4-accent">
            <a:extLst xmlns:a="http://schemas.openxmlformats.org/drawingml/2006/main">
              <a:ext uri="{FF2B5EF4-FFF2-40B4-BE49-F238E27FC236}">
                <a16:creationId xmlns:a16="http://schemas.microsoft.com/office/drawing/2014/main" id="{8AB4DCC3-1DBF-4A2E-9979-5EB9768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world-cell-4-text">
            <a:extLst xmlns:a="http://schemas.openxmlformats.org/drawingml/2006/main">
              <a:ext uri="{FF2B5EF4-FFF2-40B4-BE49-F238E27FC236}">
                <a16:creationId xmlns:a16="http://schemas.microsoft.com/office/drawing/2014/main" id="{2F672DF4-935E-4C24-A31A-34C870ED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能否生成高风险长尾场景</a:t>
            </a:r>
          </a:p>
        </p:txBody>
      </p:sp>
      <p:sp>
        <p:nvSpPr>
          <p:cNvPr id="27" name="world-cell-5">
            <a:extLst xmlns:a="http://schemas.openxmlformats.org/drawingml/2006/main">
              <a:ext uri="{FF2B5EF4-FFF2-40B4-BE49-F238E27FC236}">
                <a16:creationId xmlns:a16="http://schemas.microsoft.com/office/drawing/2014/main" id="{7EDA5399-B778-472D-B862-EB40ABA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28" name="world-cell-5-accent">
            <a:extLst xmlns:a="http://schemas.openxmlformats.org/drawingml/2006/main">
              <a:ext uri="{FF2B5EF4-FFF2-40B4-BE49-F238E27FC236}">
                <a16:creationId xmlns:a16="http://schemas.microsoft.com/office/drawing/2014/main" id="{04203988-F61A-4231-B46C-8568F590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669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world-cell-5-text">
            <a:extLst xmlns:a="http://schemas.openxmlformats.org/drawingml/2006/main">
              <a:ext uri="{FF2B5EF4-FFF2-40B4-BE49-F238E27FC236}">
                <a16:creationId xmlns:a16="http://schemas.microsoft.com/office/drawing/2014/main" id="{9A5BD9D2-1961-4A1C-81FD-BF6AB8C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907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多轮交互后是否崩坏</a:t>
            </a:r>
          </a:p>
        </p:txBody>
      </p:sp>
      <p:sp>
        <p:nvSpPr>
          <p:cNvPr id="30" name="embodied-cell-1">
            <a:extLst xmlns:a="http://schemas.openxmlformats.org/drawingml/2006/main">
              <a:ext uri="{FF2B5EF4-FFF2-40B4-BE49-F238E27FC236}">
                <a16:creationId xmlns:a16="http://schemas.microsoft.com/office/drawing/2014/main" id="{304F12FE-AF97-4A32-ABC1-F9209E0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31" name="embodied-cell-1-accent">
            <a:extLst xmlns:a="http://schemas.openxmlformats.org/drawingml/2006/main">
              <a:ext uri="{FF2B5EF4-FFF2-40B4-BE49-F238E27FC236}">
                <a16:creationId xmlns:a16="http://schemas.microsoft.com/office/drawing/2014/main" id="{EA3E01C1-30F7-416F-B9AD-EC026C26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embodied-cell-1-text">
            <a:extLst xmlns:a="http://schemas.openxmlformats.org/drawingml/2006/main">
              <a:ext uri="{FF2B5EF4-FFF2-40B4-BE49-F238E27FC236}">
                <a16:creationId xmlns:a16="http://schemas.microsoft.com/office/drawing/2014/main" id="{57EC59DD-4408-4008-A8DC-217940EA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575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多指令、多物体、多布局</a:t>
            </a:r>
          </a:p>
        </p:txBody>
      </p:sp>
      <p:sp>
        <p:nvSpPr>
          <p:cNvPr id="33" name="embodied-cell-2">
            <a:extLst xmlns:a="http://schemas.openxmlformats.org/drawingml/2006/main">
              <a:ext uri="{FF2B5EF4-FFF2-40B4-BE49-F238E27FC236}">
                <a16:creationId xmlns:a16="http://schemas.microsoft.com/office/drawing/2014/main" id="{AA50E8FA-D22A-4228-8DB6-983E490E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34" name="embodied-cell-2-accent">
            <a:extLst xmlns:a="http://schemas.openxmlformats.org/drawingml/2006/main">
              <a:ext uri="{FF2B5EF4-FFF2-40B4-BE49-F238E27FC236}">
                <a16:creationId xmlns:a16="http://schemas.microsoft.com/office/drawing/2014/main" id="{D39A9F8F-72AB-4B89-A07F-57EAB53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33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embodied-cell-2-text">
            <a:extLst xmlns:a="http://schemas.openxmlformats.org/drawingml/2006/main">
              <a:ext uri="{FF2B5EF4-FFF2-40B4-BE49-F238E27FC236}">
                <a16:creationId xmlns:a16="http://schemas.microsoft.com/office/drawing/2014/main" id="{2FE9765E-EE7B-4B23-B8F2-CC91384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575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成功率、时间、碰撞、接管</a:t>
            </a:r>
          </a:p>
        </p:txBody>
      </p:sp>
      <p:sp>
        <p:nvSpPr>
          <p:cNvPr id="36" name="embodied-cell-3">
            <a:extLst xmlns:a="http://schemas.openxmlformats.org/drawingml/2006/main">
              <a:ext uri="{FF2B5EF4-FFF2-40B4-BE49-F238E27FC236}">
                <a16:creationId xmlns:a16="http://schemas.microsoft.com/office/drawing/2014/main" id="{622276C4-6D4F-4BE5-98F9-9D0EF8AA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337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37" name="embodied-cell-3-accent">
            <a:extLst xmlns:a="http://schemas.openxmlformats.org/drawingml/2006/main">
              <a:ext uri="{FF2B5EF4-FFF2-40B4-BE49-F238E27FC236}">
                <a16:creationId xmlns:a16="http://schemas.microsoft.com/office/drawing/2014/main" id="{F5EB8EEB-DE2F-403C-984E-99BC69F1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33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embodied-cell-3-text">
            <a:extLst xmlns:a="http://schemas.openxmlformats.org/drawingml/2006/main">
              <a:ext uri="{FF2B5EF4-FFF2-40B4-BE49-F238E27FC236}">
                <a16:creationId xmlns:a16="http://schemas.microsoft.com/office/drawing/2014/main" id="{2539D161-1E92-4A5F-B3E4-897EE03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575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新物体/新语言/新环境泛化</a:t>
            </a:r>
          </a:p>
        </p:txBody>
      </p:sp>
      <p:sp>
        <p:nvSpPr>
          <p:cNvPr id="39" name="embodied-cell-4">
            <a:extLst xmlns:a="http://schemas.openxmlformats.org/drawingml/2006/main">
              <a:ext uri="{FF2B5EF4-FFF2-40B4-BE49-F238E27FC236}">
                <a16:creationId xmlns:a16="http://schemas.microsoft.com/office/drawing/2014/main" id="{9E9328AD-54A7-4C80-B05F-2F176294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40" name="embodied-cell-4-accent">
            <a:extLst xmlns:a="http://schemas.openxmlformats.org/drawingml/2006/main">
              <a:ext uri="{FF2B5EF4-FFF2-40B4-BE49-F238E27FC236}">
                <a16:creationId xmlns:a16="http://schemas.microsoft.com/office/drawing/2014/main" id="{68CABA86-C787-4047-89E8-C09C5D92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embodied-cell-4-text">
            <a:extLst xmlns:a="http://schemas.openxmlformats.org/drawingml/2006/main">
              <a:ext uri="{FF2B5EF4-FFF2-40B4-BE49-F238E27FC236}">
                <a16:creationId xmlns:a16="http://schemas.microsoft.com/office/drawing/2014/main" id="{CB82D0CE-E3B7-4524-8EDB-9FEE8BD5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575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安全违规率和人机协作体验</a:t>
            </a:r>
          </a:p>
        </p:txBody>
      </p:sp>
      <p:sp>
        <p:nvSpPr>
          <p:cNvPr id="42" name="embodied-cell-5">
            <a:extLst xmlns:a="http://schemas.openxmlformats.org/drawingml/2006/main">
              <a:ext uri="{FF2B5EF4-FFF2-40B4-BE49-F238E27FC236}">
                <a16:creationId xmlns:a16="http://schemas.microsoft.com/office/drawing/2014/main" id="{764BDC96-9097-46D2-B617-09DFC6D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1543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D8C9B8"/>
            </a:solidFill>
            <a:prstDash val="solid"/>
          </a:ln>
        </p:spPr>
      </p:sp>
      <p:sp>
        <p:nvSpPr>
          <p:cNvPr id="43" name="embodied-cell-5-accent">
            <a:extLst xmlns:a="http://schemas.openxmlformats.org/drawingml/2006/main">
              <a:ext uri="{FF2B5EF4-FFF2-40B4-BE49-F238E27FC236}">
                <a16:creationId xmlns:a16="http://schemas.microsoft.com/office/drawing/2014/main" id="{030123C4-38A8-4702-98C1-B7BAB0C0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337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embodied-cell-5-text">
            <a:extLst xmlns:a="http://schemas.openxmlformats.org/drawingml/2006/main">
              <a:ext uri="{FF2B5EF4-FFF2-40B4-BE49-F238E27FC236}">
                <a16:creationId xmlns:a16="http://schemas.microsoft.com/office/drawing/2014/main" id="{D5127095-A581-4376-AC84-1BF73032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57575"/>
            <a:ext cx="133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2A2E32"/>
                </a:solidFill>
                <a:latin typeface="PingFang SC"/>
                <a:ea typeface="PingFang SC"/>
                <a:cs typeface="PingFang SC"/>
              </a:rPr>
              <a:t>失败后暂停、回退、再感知</a:t>
            </a:r>
          </a:p>
        </p:txBody>
      </p:sp>
      <p:sp>
        <p:nvSpPr>
          <p:cNvPr id="45" name="bottom-answer">
            <a:extLst xmlns:a="http://schemas.openxmlformats.org/drawingml/2006/main">
              <a:ext uri="{FF2B5EF4-FFF2-40B4-BE49-F238E27FC236}">
                <a16:creationId xmlns:a16="http://schemas.microsoft.com/office/drawing/2014/main" id="{A231D6F7-D8FF-4B3C-B8D5-0EB1D0F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920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interview-answer">
            <a:extLst xmlns:a="http://schemas.openxmlformats.org/drawingml/2006/main">
              <a:ext uri="{FF2B5EF4-FFF2-40B4-BE49-F238E27FC236}">
                <a16:creationId xmlns:a16="http://schemas.microsoft.com/office/drawing/2014/main" id="{C7E76F48-10C1-463F-A2BD-4514D6E2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006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面试答法：把指标拆成成功率、泛化、效率、安全、可恢复性；失败样本进入 trace 和回归集。</a:t>
            </a:r>
          </a:p>
        </p:txBody>
      </p:sp>
      <p:sp>
        <p:nvSpPr>
          <p:cNvPr id="4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1DBA18E-EB6F-4252-A569-4CE5AA0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39B2F1E-2FE8-43A6-8A67-6971E309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8A8177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49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0766DA1-A324-4A91-9B9B-C72F64B1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A8177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8A8177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54715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2BA9E3-4B23-4485-8F99-3DAE5838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dark-left-accent">
            <a:extLst xmlns:a="http://schemas.openxmlformats.org/drawingml/2006/main">
              <a:ext uri="{FF2B5EF4-FFF2-40B4-BE49-F238E27FC236}">
                <a16:creationId xmlns:a16="http://schemas.microsoft.com/office/drawing/2014/main" id="{DE786310-C9CB-425E-AB28-DE0BAEA1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dark-right-panel">
            <a:extLst xmlns:a="http://schemas.openxmlformats.org/drawingml/2006/main">
              <a:ext uri="{FF2B5EF4-FFF2-40B4-BE49-F238E27FC236}">
                <a16:creationId xmlns:a16="http://schemas.microsoft.com/office/drawing/2014/main" id="{670041E8-3C33-4771-9B60-8ACCBA4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F24BFB65-9665-4D42-8CE6-6CEC4FB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0D6FDA0D-0EB3-42E4-BC73-E3940842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D1C6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8D1C6"/>
                </a:solidFill>
                <a:latin typeface="Menlo"/>
                <a:ea typeface="Menlo"/>
                <a:cs typeface="Menlo"/>
              </a:rPr>
              <a:t>INTERVIEW FRAME / CLOSE</a:t>
            </a:r>
          </a:p>
        </p:txBody>
      </p:sp>
      <p:sp>
        <p:nvSpPr>
          <p:cNvPr id="6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DFBAC94-8136-40E9-B468-AD16604C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面试表达要把定义、架构和 trade-off 一次讲清</a:t>
            </a:r>
          </a:p>
        </p:txBody>
      </p:sp>
      <p:sp>
        <p:nvSpPr>
          <p:cNvPr id="7" name="support-subtitle">
            <a:extLst xmlns:a="http://schemas.openxmlformats.org/drawingml/2006/main">
              <a:ext uri="{FF2B5EF4-FFF2-40B4-BE49-F238E27FC236}">
                <a16:creationId xmlns:a16="http://schemas.microsoft.com/office/drawing/2014/main" id="{982CB7C2-7153-447B-9BC4-169AF93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C7B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FC7BA"/>
                </a:solidFill>
                <a:latin typeface="PingFang SC"/>
                <a:ea typeface="PingFang SC"/>
                <a:cs typeface="PingFang SC"/>
              </a:rPr>
              <a:t>先定义问题，再画系统，再说明为什么不是 demo 驱动。</a:t>
            </a:r>
          </a:p>
        </p:txBody>
      </p:sp>
      <p:sp>
        <p:nvSpPr>
          <p:cNvPr id="8" name="answer-def">
            <a:extLst xmlns:a="http://schemas.openxmlformats.org/drawingml/2006/main">
              <a:ext uri="{FF2B5EF4-FFF2-40B4-BE49-F238E27FC236}">
                <a16:creationId xmlns:a16="http://schemas.microsoft.com/office/drawing/2014/main" id="{3AB618DD-97E8-4610-A00A-57D65D56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087E8B"/>
            </a:solidFill>
            <a:prstDash val="solid"/>
          </a:ln>
        </p:spPr>
      </p:sp>
      <p:sp>
        <p:nvSpPr>
          <p:cNvPr id="9" name="answer-def-label">
            <a:extLst xmlns:a="http://schemas.openxmlformats.org/drawingml/2006/main">
              <a:ext uri="{FF2B5EF4-FFF2-40B4-BE49-F238E27FC236}">
                <a16:creationId xmlns:a16="http://schemas.microsoft.com/office/drawing/2014/main" id="{228A44DA-972D-46BA-9B0B-875321CD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 定义</a:t>
            </a:r>
          </a:p>
        </p:txBody>
      </p:sp>
      <p:sp>
        <p:nvSpPr>
          <p:cNvPr id="10" name="answer-def-detail">
            <a:extLst xmlns:a="http://schemas.openxmlformats.org/drawingml/2006/main">
              <a:ext uri="{FF2B5EF4-FFF2-40B4-BE49-F238E27FC236}">
                <a16:creationId xmlns:a16="http://schemas.microsoft.com/office/drawing/2014/main" id="{785D6155-52F4-436A-AE17-014AE937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世界模型预测状态变化和动作后果；具身智能是带身体的闭环行动系统。</a:t>
            </a:r>
          </a:p>
        </p:txBody>
      </p:sp>
      <p:sp>
        <p:nvSpPr>
          <p:cNvPr id="11" name="answer-arrow-1-shaft">
            <a:extLst xmlns:a="http://schemas.openxmlformats.org/drawingml/2006/main">
              <a:ext uri="{FF2B5EF4-FFF2-40B4-BE49-F238E27FC236}">
                <a16:creationId xmlns:a16="http://schemas.microsoft.com/office/drawing/2014/main" id="{B20BE906-B533-46C0-8E28-D9A275D3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194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nswer-arrow-1-head">
            <a:extLst xmlns:a="http://schemas.openxmlformats.org/drawingml/2006/main">
              <a:ext uri="{FF2B5EF4-FFF2-40B4-BE49-F238E27FC236}">
                <a16:creationId xmlns:a16="http://schemas.microsoft.com/office/drawing/2014/main" id="{1CDA4176-C38F-4222-BC80-49A07E84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241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answer-arch">
            <a:extLst xmlns:a="http://schemas.openxmlformats.org/drawingml/2006/main">
              <a:ext uri="{FF2B5EF4-FFF2-40B4-BE49-F238E27FC236}">
                <a16:creationId xmlns:a16="http://schemas.microsoft.com/office/drawing/2014/main" id="{A8661A0F-5B10-4A5C-9985-E254F00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527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1E5B4B"/>
            </a:solidFill>
            <a:prstDash val="solid"/>
          </a:ln>
        </p:spPr>
      </p:sp>
      <p:sp>
        <p:nvSpPr>
          <p:cNvPr id="14" name="answer-arch-label">
            <a:extLst xmlns:a="http://schemas.openxmlformats.org/drawingml/2006/main">
              <a:ext uri="{FF2B5EF4-FFF2-40B4-BE49-F238E27FC236}">
                <a16:creationId xmlns:a16="http://schemas.microsoft.com/office/drawing/2014/main" id="{BBC84D9C-BBF4-49CD-9239-ECDE00F1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2. 架构</a:t>
            </a:r>
          </a:p>
        </p:txBody>
      </p:sp>
      <p:sp>
        <p:nvSpPr>
          <p:cNvPr id="15" name="answer-arch-detail">
            <a:extLst xmlns:a="http://schemas.openxmlformats.org/drawingml/2006/main">
              <a:ext uri="{FF2B5EF4-FFF2-40B4-BE49-F238E27FC236}">
                <a16:creationId xmlns:a16="http://schemas.microsoft.com/office/drawing/2014/main" id="{B46EA797-0B31-4648-8319-4181C93A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Planner + Perception + VLA/Skill + World Model + Safety + Controller + Trace。</a:t>
            </a:r>
          </a:p>
        </p:txBody>
      </p:sp>
      <p:sp>
        <p:nvSpPr>
          <p:cNvPr id="16" name="answer-arrow-2-shaft">
            <a:extLst xmlns:a="http://schemas.openxmlformats.org/drawingml/2006/main">
              <a:ext uri="{FF2B5EF4-FFF2-40B4-BE49-F238E27FC236}">
                <a16:creationId xmlns:a16="http://schemas.microsoft.com/office/drawing/2014/main" id="{3EFEF7A5-0716-4B7E-9E3C-0501F6BB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19425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answer-arrow-2-head">
            <a:extLst xmlns:a="http://schemas.openxmlformats.org/drawingml/2006/main">
              <a:ext uri="{FF2B5EF4-FFF2-40B4-BE49-F238E27FC236}">
                <a16:creationId xmlns:a16="http://schemas.microsoft.com/office/drawing/2014/main" id="{2391F5A4-1291-4115-BB2D-F124ACBB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241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5A021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answer-tradeoff">
            <a:extLst xmlns:a="http://schemas.openxmlformats.org/drawingml/2006/main">
              <a:ext uri="{FF2B5EF4-FFF2-40B4-BE49-F238E27FC236}">
                <a16:creationId xmlns:a16="http://schemas.microsoft.com/office/drawing/2014/main" id="{E4625520-7A10-47F2-9786-7B265A1A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52700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2C"/>
          </a:solidFill>
          <a:ln xmlns:a="http://schemas.openxmlformats.org/drawingml/2006/main" w="9525">
            <a:solidFill>
              <a:srgbClr val="B85C38"/>
            </a:solidFill>
            <a:prstDash val="solid"/>
          </a:ln>
        </p:spPr>
      </p:sp>
      <p:sp>
        <p:nvSpPr>
          <p:cNvPr id="19" name="answer-tradeoff-label">
            <a:extLst xmlns:a="http://schemas.openxmlformats.org/drawingml/2006/main">
              <a:ext uri="{FF2B5EF4-FFF2-40B4-BE49-F238E27FC236}">
                <a16:creationId xmlns:a16="http://schemas.microsoft.com/office/drawing/2014/main" id="{67857E06-DDB1-4AE9-80AE-04BFCAA6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3. 取舍</a:t>
            </a:r>
          </a:p>
        </p:txBody>
      </p:sp>
      <p:sp>
        <p:nvSpPr>
          <p:cNvPr id="20" name="answer-tradeoff-detail">
            <a:extLst xmlns:a="http://schemas.openxmlformats.org/drawingml/2006/main">
              <a:ext uri="{FF2B5EF4-FFF2-40B4-BE49-F238E27FC236}">
                <a16:creationId xmlns:a16="http://schemas.microsoft.com/office/drawing/2014/main" id="{8D22B194-09AA-4C16-B08A-5624A191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9D8D6"/>
                </a:solidFill>
                <a:latin typeface="PingFang SC"/>
                <a:ea typeface="PingFang SC"/>
                <a:cs typeface="PingFang SC"/>
              </a:rPr>
              <a:t>端到端泛化强但验证难；模块化可控但接口和技能库成本高。</a:t>
            </a:r>
          </a:p>
        </p:txBody>
      </p:sp>
      <p:sp>
        <p:nvSpPr>
          <p:cNvPr id="21" name="closing-script-box">
            <a:extLst xmlns:a="http://schemas.openxmlformats.org/drawingml/2006/main">
              <a:ext uri="{FF2B5EF4-FFF2-40B4-BE49-F238E27FC236}">
                <a16:creationId xmlns:a16="http://schemas.microsoft.com/office/drawing/2014/main" id="{6324A08F-E1B5-41B3-9321-7F69584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3726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427"/>
          </a:solidFill>
          <a:ln xmlns:a="http://schemas.openxmlformats.org/drawingml/2006/main" w="9525">
            <a:solidFill>
              <a:srgbClr val="3D4649"/>
            </a:solidFill>
            <a:prstDash val="solid"/>
          </a:ln>
        </p:spPr>
      </p:sp>
      <p:sp>
        <p:nvSpPr>
          <p:cNvPr id="22" name="closing-script">
            <a:extLst xmlns:a="http://schemas.openxmlformats.org/drawingml/2006/main">
              <a:ext uri="{FF2B5EF4-FFF2-40B4-BE49-F238E27FC236}">
                <a16:creationId xmlns:a16="http://schemas.microsoft.com/office/drawing/2014/main" id="{77751C89-CF65-471A-9463-304D40C3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8858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30 秒版：世界模型是行动决策用的环境预测器；具身智能把模型放进有身体、有传感器、有执行器的闭环系统。落地时我会优先关注 grounding、affordance、连续控制、仿真评估、低层安全约束和数据飞轮。</a:t>
            </a:r>
          </a:p>
        </p:txBody>
      </p:sp>
      <p:sp>
        <p:nvSpPr>
          <p:cNvPr id="23" name="callout-accent">
            <a:extLst xmlns:a="http://schemas.openxmlformats.org/drawingml/2006/main">
              <a:ext uri="{FF2B5EF4-FFF2-40B4-BE49-F238E27FC236}">
                <a16:creationId xmlns:a16="http://schemas.microsoft.com/office/drawing/2014/main" id="{A6A066FE-1A18-4A26-89C1-76397A6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571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188A617C-8FC3-4442-A7E4-D7C987D3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6479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最后检查</a:t>
            </a:r>
          </a:p>
        </p:txBody>
      </p:sp>
      <p:sp>
        <p:nvSpPr>
          <p:cNvPr id="25" name="callout-body">
            <a:extLst xmlns:a="http://schemas.openxmlformats.org/drawingml/2006/main">
              <a:ext uri="{FF2B5EF4-FFF2-40B4-BE49-F238E27FC236}">
                <a16:creationId xmlns:a16="http://schemas.microsoft.com/office/drawing/2014/main" id="{35AF21CC-65FB-4350-BC1A-3AC41FE1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95600"/>
            <a:ext cx="12001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7B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FC7BA"/>
                </a:solidFill>
                <a:latin typeface="PingFang SC"/>
                <a:ea typeface="PingFang SC"/>
                <a:cs typeface="PingFang SC"/>
              </a:rPr>
              <a:t>能区分知识图谱、视频生成和世界模型；能说清 VLA、sim2real、安全层和评估。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772BA1-556E-43C4-9914-7B39419B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6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E0CCC80-3C18-4559-A3E2-F4F803B9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CA6A6"/>
                </a:solidFill>
                <a:latin typeface="PingFang SC"/>
                <a:ea typeface="PingFang SC"/>
                <a:cs typeface="PingFang SC"/>
              </a:rPr>
              <a:t>Source: 第 28 章《世界模型与具身智能》</a:t>
            </a:r>
          </a:p>
        </p:txBody>
      </p:sp>
      <p:sp>
        <p:nvSpPr>
          <p:cNvPr id="2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47A0D234-CEF5-4FF8-B2A5-69DBC49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CA6A6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9CA6A6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571614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2026-05-17T08:17:04.5310000Z</dcterms:created>
  <dcterms:modified xsi:type="dcterms:W3CDTF">2026-05-17T08:17:04.5320000Z</dcterms:modified>
</coreProperties>
</file>