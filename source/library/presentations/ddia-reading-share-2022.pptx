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3716000" cx="24384000"/>
  <p:notesSz cx="6858000" cy="9144000"/>
  <p:embeddedFontLst>
    <p:embeddedFont>
      <p:font typeface="Helvetica Neue"/>
      <p:regular r:id="rId24"/>
      <p:bold r:id="rId25"/>
      <p:italic r:id="rId26"/>
      <p:boldItalic r:id="rId27"/>
    </p:embeddedFon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uXMREwJ47N9LOmwqfW1ToBtke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5C7F70-49E7-4B43-8A84-E369A4147F12}">
  <a:tblStyle styleId="{655C7F70-49E7-4B43-8A84-E369A4147F1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06AADBA-BB5E-43D5-B89C-AE3343BA0EA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HelveticaNeue-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OpenSans-regular.fntdata"/><Relationship Id="rId27"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 name="Google Shape;4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29d97c5c9d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29d97c5c9d5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f0545097e0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gf0545097e0_0_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zh-CN"/>
              <a:t>数据密集型系统通用架构</a:t>
            </a:r>
            <a:endParaRPr/>
          </a:p>
          <a:p>
            <a:pPr indent="0" lvl="0" marL="0" rtl="0" algn="l">
              <a:lnSpc>
                <a:spcPct val="117999"/>
              </a:lnSpc>
              <a:spcBef>
                <a:spcPts val="0"/>
              </a:spcBef>
              <a:spcAft>
                <a:spcPts val="0"/>
              </a:spcAft>
              <a:buSzPts val="1400"/>
              <a:buNone/>
            </a:pPr>
            <a:r>
              <a:rPr lang="zh-CN"/>
              <a:t>介绍数据密集型、CPU密集型、IO密集型</a:t>
            </a:r>
            <a:endParaRPr/>
          </a:p>
          <a:p>
            <a:pPr indent="0" lvl="0" marL="0" rtl="0" algn="l">
              <a:lnSpc>
                <a:spcPct val="117999"/>
              </a:lnSpc>
              <a:spcBef>
                <a:spcPts val="0"/>
              </a:spcBef>
              <a:spcAft>
                <a:spcPts val="0"/>
              </a:spcAft>
              <a:buSzPts val="1400"/>
              <a:buNone/>
            </a:pPr>
            <a:r>
              <a:rPr lang="zh-CN"/>
              <a:t>数据密集型架构的组成</a:t>
            </a:r>
            <a:endParaRPr/>
          </a:p>
          <a:p>
            <a:pPr indent="0" lvl="0" marL="0" rtl="0" algn="l">
              <a:lnSpc>
                <a:spcPct val="117999"/>
              </a:lnSpc>
              <a:spcBef>
                <a:spcPts val="0"/>
              </a:spcBef>
              <a:spcAft>
                <a:spcPts val="0"/>
              </a:spcAft>
              <a:buSzPts val="1400"/>
              <a:buNone/>
            </a:pPr>
            <a:r>
              <a:rPr lang="zh-CN"/>
              <a:t>衡量指标</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d97c5c9d5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d97c5c9d5_0_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zh-CN"/>
              <a:t>首先介绍这几种存储模型的作用，使用场景，不同点</a:t>
            </a:r>
            <a:endParaRPr/>
          </a:p>
          <a:p>
            <a:pPr indent="-317500" lvl="0" marL="457200" rtl="0" algn="l">
              <a:spcBef>
                <a:spcPts val="0"/>
              </a:spcBef>
              <a:spcAft>
                <a:spcPts val="0"/>
              </a:spcAft>
              <a:buSzPts val="1400"/>
              <a:buAutoNum type="arabicPeriod"/>
            </a:pPr>
            <a:r>
              <a:rPr lang="zh-CN"/>
              <a:t>重点介绍简历存储的场景</a:t>
            </a:r>
            <a:endParaRPr/>
          </a:p>
          <a:p>
            <a:pPr indent="-317500" lvl="0" marL="457200" rtl="0" algn="l">
              <a:spcBef>
                <a:spcPts val="0"/>
              </a:spcBef>
              <a:spcAft>
                <a:spcPts val="0"/>
              </a:spcAft>
              <a:buSzPts val="1400"/>
              <a:buAutoNum type="arabicPeriod"/>
            </a:pPr>
            <a:r>
              <a:rPr lang="zh-CN"/>
              <a:t>关系型模型和关系模型的对比</a:t>
            </a:r>
            <a:endParaRPr/>
          </a:p>
          <a:p>
            <a:pPr indent="-317500" lvl="0" marL="457200" rtl="0" algn="l">
              <a:spcBef>
                <a:spcPts val="0"/>
              </a:spcBef>
              <a:spcAft>
                <a:spcPts val="0"/>
              </a:spcAft>
              <a:buSzPts val="1400"/>
              <a:buAutoNum type="arabicPeriod"/>
            </a:pPr>
            <a:r>
              <a:rPr lang="zh-CN"/>
              <a:t>关系型和文档的融合</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9f21f7e37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9f21f7e37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zh-CN"/>
              <a:t>图模型，比较特殊，比较适合一些特殊场景</a:t>
            </a:r>
            <a:endParaRPr/>
          </a:p>
          <a:p>
            <a:pPr indent="-317500" lvl="0" marL="457200" rtl="0" algn="l">
              <a:spcBef>
                <a:spcPts val="0"/>
              </a:spcBef>
              <a:spcAft>
                <a:spcPts val="0"/>
              </a:spcAft>
              <a:buSzPts val="1400"/>
              <a:buAutoNum type="arabicPeriod"/>
            </a:pPr>
            <a:r>
              <a:rPr lang="zh-CN"/>
              <a:t>列存储，加强模式加强因子存储</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40a5f4218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40a5f4218_0_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zh-CN"/>
              <a:t>重点介绍LSM追加写、读寻址的过程</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a736d85ff4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a736d85ff4_0_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457200" rtl="0" algn="l">
              <a:lnSpc>
                <a:spcPct val="115000"/>
              </a:lnSpc>
              <a:spcBef>
                <a:spcPts val="1500"/>
              </a:spcBef>
              <a:spcAft>
                <a:spcPts val="0"/>
              </a:spcAft>
              <a:buNone/>
            </a:pPr>
            <a:r>
              <a:rPr lang="zh-CN" sz="2000">
                <a:solidFill>
                  <a:srgbClr val="374151"/>
                </a:solidFill>
                <a:latin typeface="Arial"/>
                <a:ea typeface="Arial"/>
                <a:cs typeface="Arial"/>
                <a:sym typeface="Arial"/>
              </a:rPr>
              <a:t>事务：ACID强调在并发环境下，多个操作要么成功，要么失败的，极致强调是强一致性。可以牺牲P和A</a:t>
            </a:r>
            <a:endParaRPr sz="2000">
              <a:solidFill>
                <a:srgbClr val="374151"/>
              </a:solidFill>
              <a:latin typeface="Arial"/>
              <a:ea typeface="Arial"/>
              <a:cs typeface="Arial"/>
              <a:sym typeface="Arial"/>
            </a:endParaRPr>
          </a:p>
          <a:p>
            <a:pPr indent="0" lvl="0" marL="457200" rtl="0" algn="l">
              <a:lnSpc>
                <a:spcPct val="115000"/>
              </a:lnSpc>
              <a:spcBef>
                <a:spcPts val="1500"/>
              </a:spcBef>
              <a:spcAft>
                <a:spcPts val="0"/>
              </a:spcAft>
              <a:buNone/>
            </a:pPr>
            <a:r>
              <a:rPr lang="zh-CN" sz="2000">
                <a:solidFill>
                  <a:srgbClr val="374151"/>
                </a:solidFill>
                <a:latin typeface="Arial"/>
                <a:ea typeface="Arial"/>
                <a:cs typeface="Arial"/>
                <a:sym typeface="Arial"/>
              </a:rPr>
              <a:t>CAP理论：强调CAP说明三者不可兼得</a:t>
            </a:r>
            <a:endParaRPr sz="2000">
              <a:solidFill>
                <a:srgbClr val="374151"/>
              </a:solidFill>
              <a:latin typeface="Arial"/>
              <a:ea typeface="Arial"/>
              <a:cs typeface="Arial"/>
              <a:sym typeface="Arial"/>
            </a:endParaRPr>
          </a:p>
          <a:p>
            <a:pPr indent="0" lvl="0" marL="457200" rtl="0" algn="l">
              <a:lnSpc>
                <a:spcPct val="115000"/>
              </a:lnSpc>
              <a:spcBef>
                <a:spcPts val="1500"/>
              </a:spcBef>
              <a:spcAft>
                <a:spcPts val="0"/>
              </a:spcAft>
              <a:buNone/>
            </a:pPr>
            <a:r>
              <a:rPr lang="zh-CN" sz="2000">
                <a:solidFill>
                  <a:srgbClr val="374151"/>
                </a:solidFill>
                <a:latin typeface="Arial"/>
                <a:ea typeface="Arial"/>
                <a:cs typeface="Arial"/>
                <a:sym typeface="Arial"/>
              </a:rPr>
              <a:t>BASE理论：中庸的做法，</a:t>
            </a:r>
            <a:r>
              <a:rPr lang="zh-CN" sz="2000">
                <a:solidFill>
                  <a:srgbClr val="252933"/>
                </a:solidFill>
                <a:highlight>
                  <a:srgbClr val="FFFFFF"/>
                </a:highlight>
                <a:latin typeface="Arial"/>
                <a:ea typeface="Arial"/>
                <a:cs typeface="Arial"/>
                <a:sym typeface="Arial"/>
              </a:rPr>
              <a:t>什么是软状态呢？相对于原子性而言，要求多个节点的数据副本都是一致的，这是一种“硬状态”。</a:t>
            </a:r>
            <a:endParaRPr sz="2000">
              <a:solidFill>
                <a:srgbClr val="252933"/>
              </a:solidFill>
              <a:highlight>
                <a:srgbClr val="FFFFFF"/>
              </a:highlight>
              <a:latin typeface="Arial"/>
              <a:ea typeface="Arial"/>
              <a:cs typeface="Arial"/>
              <a:sym typeface="Arial"/>
            </a:endParaRPr>
          </a:p>
          <a:p>
            <a:pPr indent="0" lvl="0" marL="0" rtl="0" algn="l">
              <a:lnSpc>
                <a:spcPct val="115000"/>
              </a:lnSpc>
              <a:spcBef>
                <a:spcPts val="1700"/>
              </a:spcBef>
              <a:spcAft>
                <a:spcPts val="0"/>
              </a:spcAft>
              <a:buNone/>
            </a:pPr>
            <a:r>
              <a:rPr lang="zh-CN" sz="2000">
                <a:solidFill>
                  <a:srgbClr val="252933"/>
                </a:solidFill>
                <a:highlight>
                  <a:srgbClr val="FFFFFF"/>
                </a:highlight>
                <a:latin typeface="Arial"/>
                <a:ea typeface="Arial"/>
                <a:cs typeface="Arial"/>
                <a:sym typeface="Arial"/>
              </a:rPr>
              <a:t>软状态指的是：允许系统中的数据存在中间状态，并认为该状态不影响系统的整体可用性，即允许系统在多个不同节点的数据副本存在数据延时。</a:t>
            </a:r>
            <a:endParaRPr sz="2000">
              <a:solidFill>
                <a:srgbClr val="252933"/>
              </a:solidFill>
              <a:highlight>
                <a:srgbClr val="FFFFFF"/>
              </a:highlight>
              <a:latin typeface="Arial"/>
              <a:ea typeface="Arial"/>
              <a:cs typeface="Arial"/>
              <a:sym typeface="Arial"/>
            </a:endParaRPr>
          </a:p>
          <a:p>
            <a:pPr indent="0" lvl="0" marL="0" rtl="0" algn="l">
              <a:lnSpc>
                <a:spcPct val="100000"/>
              </a:lnSpc>
              <a:spcBef>
                <a:spcPts val="1700"/>
              </a:spcBef>
              <a:spcAft>
                <a:spcPts val="0"/>
              </a:spcAft>
              <a:buNone/>
            </a:pPr>
            <a:r>
              <a:rPr lang="zh-CN" sz="2000">
                <a:solidFill>
                  <a:srgbClr val="EE4D2D"/>
                </a:solidFill>
                <a:latin typeface="Open Sans"/>
                <a:ea typeface="Open Sans"/>
                <a:cs typeface="Open Sans"/>
                <a:sym typeface="Open Sans"/>
              </a:rPr>
              <a:t>BASE理论：牺牲强一致性，追求最终一致性</a:t>
            </a:r>
            <a:endParaRPr sz="2000">
              <a:solidFill>
                <a:srgbClr val="EE4D2D"/>
              </a:solidFill>
              <a:latin typeface="Open Sans"/>
              <a:ea typeface="Open Sans"/>
              <a:cs typeface="Open Sans"/>
              <a:sym typeface="Open Sans"/>
            </a:endParaRPr>
          </a:p>
          <a:p>
            <a:pPr indent="0" lvl="0" marL="0" rtl="0" algn="l">
              <a:lnSpc>
                <a:spcPct val="100000"/>
              </a:lnSpc>
              <a:spcBef>
                <a:spcPts val="0"/>
              </a:spcBef>
              <a:spcAft>
                <a:spcPts val="0"/>
              </a:spcAft>
              <a:buNone/>
            </a:pPr>
            <a:r>
              <a:rPr lang="zh-CN" sz="2000">
                <a:solidFill>
                  <a:srgbClr val="EE4D2D"/>
                </a:solidFill>
                <a:latin typeface="Open Sans"/>
                <a:ea typeface="Open Sans"/>
                <a:cs typeface="Open Sans"/>
                <a:sym typeface="Open Sans"/>
              </a:rPr>
              <a:t>基本可用：</a:t>
            </a:r>
            <a:endParaRPr sz="2000">
              <a:solidFill>
                <a:srgbClr val="EE4D2D"/>
              </a:solidFill>
              <a:latin typeface="Open Sans"/>
              <a:ea typeface="Open Sans"/>
              <a:cs typeface="Open Sans"/>
              <a:sym typeface="Open Sans"/>
            </a:endParaRPr>
          </a:p>
          <a:p>
            <a:pPr indent="0" lvl="0" marL="0" rtl="0" algn="l">
              <a:lnSpc>
                <a:spcPct val="100000"/>
              </a:lnSpc>
              <a:spcBef>
                <a:spcPts val="0"/>
              </a:spcBef>
              <a:spcAft>
                <a:spcPts val="0"/>
              </a:spcAft>
              <a:buNone/>
            </a:pPr>
            <a:r>
              <a:rPr lang="zh-CN" sz="2000">
                <a:solidFill>
                  <a:srgbClr val="EE4D2D"/>
                </a:solidFill>
                <a:latin typeface="Open Sans"/>
                <a:ea typeface="Open Sans"/>
                <a:cs typeface="Open Sans"/>
                <a:sym typeface="Open Sans"/>
              </a:rPr>
              <a:t>软状态：系统中的数据存在中间状态，不用影响系统的整体可用性。运训系统数据同步有延时</a:t>
            </a:r>
            <a:endParaRPr sz="2000">
              <a:solidFill>
                <a:srgbClr val="EE4D2D"/>
              </a:solidFill>
              <a:latin typeface="Open Sans"/>
              <a:ea typeface="Open Sans"/>
              <a:cs typeface="Open Sans"/>
              <a:sym typeface="Open Sans"/>
            </a:endParaRPr>
          </a:p>
          <a:p>
            <a:pPr indent="0" lvl="0" marL="0" rtl="0" algn="l">
              <a:lnSpc>
                <a:spcPct val="100000"/>
              </a:lnSpc>
              <a:spcBef>
                <a:spcPts val="0"/>
              </a:spcBef>
              <a:spcAft>
                <a:spcPts val="0"/>
              </a:spcAft>
              <a:buNone/>
            </a:pPr>
            <a:r>
              <a:rPr lang="zh-CN" sz="2000">
                <a:solidFill>
                  <a:srgbClr val="EE4D2D"/>
                </a:solidFill>
                <a:latin typeface="Open Sans"/>
                <a:ea typeface="Open Sans"/>
                <a:cs typeface="Open Sans"/>
                <a:sym typeface="Open Sans"/>
              </a:rPr>
              <a:t>最终一致性：故障恢复后所有的副本数据能实现最终的一致性</a:t>
            </a:r>
            <a:endParaRPr sz="2000">
              <a:solidFill>
                <a:srgbClr val="252933"/>
              </a:solidFill>
              <a:highlight>
                <a:srgbClr val="FFFFFF"/>
              </a:highlight>
              <a:latin typeface="Arial"/>
              <a:ea typeface="Arial"/>
              <a:cs typeface="Arial"/>
              <a:sym typeface="Arial"/>
            </a:endParaRPr>
          </a:p>
          <a:p>
            <a:pPr indent="-228600" lvl="0" marL="457200" rtl="0" algn="l">
              <a:lnSpc>
                <a:spcPct val="115000"/>
              </a:lnSpc>
              <a:spcBef>
                <a:spcPts val="1500"/>
              </a:spcBef>
              <a:spcAft>
                <a:spcPts val="0"/>
              </a:spcAft>
              <a:buClr>
                <a:srgbClr val="374151"/>
              </a:buClr>
              <a:buSzPts val="2000"/>
              <a:buNone/>
            </a:pPr>
            <a:r>
              <a:rPr lang="zh-CN" sz="2000">
                <a:solidFill>
                  <a:srgbClr val="374151"/>
                </a:solidFill>
                <a:latin typeface="Arial"/>
                <a:ea typeface="Arial"/>
                <a:cs typeface="Arial"/>
                <a:sym typeface="Arial"/>
              </a:rPr>
              <a:t>强一致性（Strong Consistency）： 在强一致性模型中，系统保证任何时刻所有节点对于共享数据都能够看到相同的值。这通常涉及到在写操作完成之前，所有节点必须达成一致的约定。强一致性往往需要付出更大的代价，因为在保证一致性的同时，可能需要牺牲系统的可用性或分区容错性。</a:t>
            </a:r>
            <a:endParaRPr sz="2000">
              <a:solidFill>
                <a:srgbClr val="374151"/>
              </a:solidFill>
              <a:latin typeface="Arial"/>
              <a:ea typeface="Arial"/>
              <a:cs typeface="Arial"/>
              <a:sym typeface="Arial"/>
            </a:endParaRPr>
          </a:p>
          <a:p>
            <a:pPr indent="0" lvl="0" marL="0" rtl="0" algn="l">
              <a:lnSpc>
                <a:spcPct val="115000"/>
              </a:lnSpc>
              <a:spcBef>
                <a:spcPts val="1500"/>
              </a:spcBef>
              <a:spcAft>
                <a:spcPts val="0"/>
              </a:spcAft>
              <a:buClr>
                <a:schemeClr val="dk1"/>
              </a:buClr>
              <a:buSzPts val="1100"/>
              <a:buFont typeface="Arial"/>
              <a:buNone/>
            </a:pPr>
            <a:r>
              <a:rPr lang="zh-CN" sz="2000">
                <a:solidFill>
                  <a:srgbClr val="374151"/>
                </a:solidFill>
                <a:latin typeface="Arial"/>
                <a:ea typeface="Arial"/>
                <a:cs typeface="Arial"/>
                <a:sym typeface="Arial"/>
              </a:rPr>
              <a:t>	线性一致性模型：它要求系统中的每个操作都具有全局的实时顺序，而这个顺序必须符合操作在实际时间上的发生顺序</a:t>
            </a:r>
            <a:endParaRPr sz="2000">
              <a:solidFill>
                <a:srgbClr val="374151"/>
              </a:solidFill>
              <a:latin typeface="Arial"/>
              <a:ea typeface="Arial"/>
              <a:cs typeface="Arial"/>
              <a:sym typeface="Arial"/>
            </a:endParaRPr>
          </a:p>
          <a:p>
            <a:pPr indent="0" lvl="0" marL="0" rtl="0" algn="l">
              <a:lnSpc>
                <a:spcPct val="115000"/>
              </a:lnSpc>
              <a:spcBef>
                <a:spcPts val="1500"/>
              </a:spcBef>
              <a:spcAft>
                <a:spcPts val="0"/>
              </a:spcAft>
              <a:buClr>
                <a:schemeClr val="dk1"/>
              </a:buClr>
              <a:buSzPts val="1100"/>
              <a:buFont typeface="Arial"/>
              <a:buNone/>
            </a:pPr>
            <a:r>
              <a:rPr lang="zh-CN" sz="2000">
                <a:solidFill>
                  <a:srgbClr val="374151"/>
                </a:solidFill>
                <a:latin typeface="Arial"/>
                <a:ea typeface="Arial"/>
                <a:cs typeface="Arial"/>
                <a:sym typeface="Arial"/>
              </a:rPr>
              <a:t>	顺序一致性模型：它要求系统中的每个节点必须按照某个全局的实时顺序执行所有操作，而这个顺序必须满足每个节点上操作的发生顺序</a:t>
            </a:r>
            <a:endParaRPr sz="2000">
              <a:solidFill>
                <a:srgbClr val="374151"/>
              </a:solidFill>
              <a:latin typeface="Arial"/>
              <a:ea typeface="Arial"/>
              <a:cs typeface="Arial"/>
              <a:sym typeface="Arial"/>
            </a:endParaRPr>
          </a:p>
          <a:p>
            <a:pPr indent="-228600" lvl="0" marL="457200" rtl="0" algn="l">
              <a:lnSpc>
                <a:spcPct val="115000"/>
              </a:lnSpc>
              <a:spcBef>
                <a:spcPts val="1500"/>
              </a:spcBef>
              <a:spcAft>
                <a:spcPts val="0"/>
              </a:spcAft>
              <a:buClr>
                <a:srgbClr val="374151"/>
              </a:buClr>
              <a:buSzPts val="2000"/>
              <a:buNone/>
            </a:pPr>
            <a:r>
              <a:rPr lang="zh-CN" sz="2000">
                <a:solidFill>
                  <a:srgbClr val="374151"/>
                </a:solidFill>
                <a:latin typeface="Arial"/>
                <a:ea typeface="Arial"/>
                <a:cs typeface="Arial"/>
                <a:sym typeface="Arial"/>
              </a:rPr>
              <a:t>弱一一致性模型：</a:t>
            </a:r>
            <a:endParaRPr sz="20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2000"/>
              <a:buNone/>
            </a:pPr>
            <a:r>
              <a:rPr lang="zh-CN" sz="2000">
                <a:solidFill>
                  <a:srgbClr val="374151"/>
                </a:solidFill>
                <a:latin typeface="Arial"/>
                <a:ea typeface="Arial"/>
                <a:cs typeface="Arial"/>
                <a:sym typeface="Arial"/>
              </a:rPr>
              <a:t>因果一致性（Causal Consistency）： 因果一致性是介于强一致性和最终一致性之间的一种模型。它允许在没有因果关系的操作之间存在并行执行，但会对有因果关系的操作进行协调以保证一致性。</a:t>
            </a:r>
            <a:endParaRPr sz="20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2000"/>
              <a:buNone/>
            </a:pPr>
            <a:r>
              <a:rPr lang="zh-CN" sz="2000">
                <a:solidFill>
                  <a:srgbClr val="374151"/>
                </a:solidFill>
                <a:latin typeface="Arial"/>
                <a:ea typeface="Arial"/>
                <a:cs typeface="Arial"/>
                <a:sym typeface="Arial"/>
              </a:rPr>
              <a:t>最终一致性（Eventual Consistency）： 最终一致性是一种弱一致性模型，系统保证在一定时间内，所有节点最终都会达到一致的状态。在最终一致性模型中，系统允许短暂的不一致状态，但最终会通过一定的协调机制保证数据的一致性。这种模型通常更注重系统的可用性和分区容错性。</a:t>
            </a:r>
            <a:endParaRPr sz="20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2000"/>
              <a:buNone/>
            </a:pPr>
            <a:r>
              <a:rPr lang="zh-CN" sz="2000">
                <a:solidFill>
                  <a:srgbClr val="374151"/>
                </a:solidFill>
                <a:latin typeface="Arial"/>
                <a:ea typeface="Arial"/>
                <a:cs typeface="Arial"/>
                <a:sym typeface="Arial"/>
              </a:rPr>
              <a:t>会话一致性（Session Consistency）： 会话一致性是一种基于用户会话的一致性模型。在同一个用户会话中，系统保证操作的一致性，但不同会话之间的一致性可能不被保证</a:t>
            </a:r>
            <a:endParaRPr sz="2000">
              <a:solidFill>
                <a:srgbClr val="374151"/>
              </a:solidFill>
              <a:latin typeface="Arial"/>
              <a:ea typeface="Arial"/>
              <a:cs typeface="Arial"/>
              <a:sym typeface="Arial"/>
            </a:endParaRPr>
          </a:p>
          <a:p>
            <a:pPr indent="0" lvl="0" marL="0" rtl="0" algn="l">
              <a:spcBef>
                <a:spcPts val="1500"/>
              </a:spcBef>
              <a:spcAft>
                <a:spcPts val="0"/>
              </a:spcAft>
              <a:buNone/>
            </a:pPr>
            <a:r>
              <a:t/>
            </a:r>
            <a:endParaRPr sz="20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a6a472839e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a6a472839e_0_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zh-CN"/>
              <a:t>每次开启一个事务时，需要考虑当前的事务隔离级别、当前读</a:t>
            </a:r>
            <a:r>
              <a:rPr lang="zh-CN"/>
              <a:t>可见性和写丢失问题</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a736d85ff4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a736d85ff4_0_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a7e586d03b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a7e586d03b_0_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1f3becd40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1f3becd40_0_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457200" rtl="0" algn="l">
              <a:lnSpc>
                <a:spcPct val="100000"/>
              </a:lnSpc>
              <a:spcBef>
                <a:spcPts val="0"/>
              </a:spcBef>
              <a:spcAft>
                <a:spcPts val="0"/>
              </a:spcAft>
              <a:buNone/>
            </a:pPr>
            <a:r>
              <a:t/>
            </a:r>
            <a:endParaRPr sz="1000">
              <a:solidFill>
                <a:srgbClr val="333333"/>
              </a:solidFill>
              <a:highlight>
                <a:schemeClr val="lt1"/>
              </a:highlight>
            </a:endParaRPr>
          </a:p>
          <a:p>
            <a:pPr indent="-292100" lvl="0" marL="457200" rtl="0" algn="l">
              <a:lnSpc>
                <a:spcPct val="100000"/>
              </a:lnSpc>
              <a:spcBef>
                <a:spcPts val="0"/>
              </a:spcBef>
              <a:spcAft>
                <a:spcPts val="0"/>
              </a:spcAft>
              <a:buSzPts val="1000"/>
              <a:buAutoNum type="arabicPeriod"/>
            </a:pPr>
            <a:r>
              <a:rPr lang="zh-CN" sz="1000">
                <a:solidFill>
                  <a:srgbClr val="1F2328"/>
                </a:solidFill>
                <a:highlight>
                  <a:srgbClr val="FFFFFF"/>
                </a:highlight>
                <a:latin typeface="Arial"/>
                <a:ea typeface="Arial"/>
                <a:cs typeface="Arial"/>
                <a:sym typeface="Arial"/>
              </a:rPr>
              <a:t>主节点的个数</a:t>
            </a:r>
            <a:endParaRPr sz="1000">
              <a:solidFill>
                <a:srgbClr val="1F2328"/>
              </a:solidFill>
              <a:highlight>
                <a:srgbClr val="FFFFFF"/>
              </a:highlight>
              <a:latin typeface="Arial"/>
              <a:ea typeface="Arial"/>
              <a:cs typeface="Arial"/>
              <a:sym typeface="Arial"/>
            </a:endParaRPr>
          </a:p>
          <a:p>
            <a:pPr indent="-292100" lvl="0" marL="457200" rtl="0" algn="l">
              <a:lnSpc>
                <a:spcPct val="100000"/>
              </a:lnSpc>
              <a:spcBef>
                <a:spcPts val="0"/>
              </a:spcBef>
              <a:spcAft>
                <a:spcPts val="0"/>
              </a:spcAft>
              <a:buClr>
                <a:srgbClr val="1F2328"/>
              </a:buClr>
              <a:buSzPts val="1000"/>
              <a:buFont typeface="Arial"/>
              <a:buAutoNum type="arabicPeriod"/>
            </a:pPr>
            <a:r>
              <a:rPr lang="zh-CN" sz="1000">
                <a:solidFill>
                  <a:srgbClr val="1F2328"/>
                </a:solidFill>
                <a:highlight>
                  <a:srgbClr val="FFFFFF"/>
                </a:highlight>
                <a:latin typeface="Arial"/>
                <a:ea typeface="Arial"/>
                <a:cs typeface="Arial"/>
                <a:sym typeface="Arial"/>
              </a:rPr>
              <a:t>副本同步是同步还是异步</a:t>
            </a:r>
            <a:endParaRPr sz="1000">
              <a:solidFill>
                <a:srgbClr val="1F2328"/>
              </a:solidFill>
              <a:highlight>
                <a:srgbClr val="FFFFFF"/>
              </a:highlight>
              <a:latin typeface="Arial"/>
              <a:ea typeface="Arial"/>
              <a:cs typeface="Arial"/>
              <a:sym typeface="Arial"/>
            </a:endParaRPr>
          </a:p>
          <a:p>
            <a:pPr indent="-292100" lvl="0" marL="457200" rtl="0" algn="l">
              <a:lnSpc>
                <a:spcPct val="100000"/>
              </a:lnSpc>
              <a:spcBef>
                <a:spcPts val="0"/>
              </a:spcBef>
              <a:spcAft>
                <a:spcPts val="0"/>
              </a:spcAft>
              <a:buClr>
                <a:srgbClr val="1F2328"/>
              </a:buClr>
              <a:buSzPts val="1000"/>
              <a:buFont typeface="Arial"/>
              <a:buAutoNum type="arabicPeriod"/>
            </a:pPr>
            <a:r>
              <a:rPr lang="zh-CN" sz="1000">
                <a:solidFill>
                  <a:srgbClr val="1F2328"/>
                </a:solidFill>
                <a:highlight>
                  <a:srgbClr val="FFFFFF"/>
                </a:highlight>
                <a:latin typeface="Arial"/>
                <a:ea typeface="Arial"/>
                <a:cs typeface="Arial"/>
                <a:sym typeface="Arial"/>
              </a:rPr>
              <a:t>读写请求路由到maser节点还是slave节点</a:t>
            </a:r>
            <a:endParaRPr sz="1000">
              <a:solidFill>
                <a:srgbClr val="1F2328"/>
              </a:solidFill>
              <a:highlight>
                <a:srgbClr val="FFFFFF"/>
              </a:highlight>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a736d85ff4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a736d85ff4_0_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a736d85ff4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a736d85ff4_0_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28600" lvl="0" marL="457200" rtl="0" algn="l">
              <a:lnSpc>
                <a:spcPct val="115000"/>
              </a:lnSpc>
              <a:spcBef>
                <a:spcPts val="1500"/>
              </a:spcBef>
              <a:spcAft>
                <a:spcPts val="0"/>
              </a:spcAft>
              <a:buClr>
                <a:srgbClr val="374151"/>
              </a:buClr>
              <a:buSzPts val="1600"/>
              <a:buNone/>
            </a:pPr>
            <a:r>
              <a:rPr lang="zh-CN" sz="1600">
                <a:solidFill>
                  <a:srgbClr val="374151"/>
                </a:solidFill>
                <a:latin typeface="Arial"/>
                <a:ea typeface="Arial"/>
                <a:cs typeface="Arial"/>
                <a:sym typeface="Arial"/>
              </a:rPr>
              <a:t>虚拟槽分片： Codis 将 Redis 的数据划分为一系列虚拟槽（slot），每个槽都包含了一定范围的数据。通常，Codis 将 1024 个虚拟槽均匀分配给一组 Redis 实例（节点）。</a:t>
            </a:r>
            <a:endParaRPr sz="16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1600"/>
              <a:buNone/>
            </a:pPr>
            <a:r>
              <a:rPr lang="zh-CN" sz="1600">
                <a:solidFill>
                  <a:srgbClr val="374151"/>
                </a:solidFill>
                <a:latin typeface="Arial"/>
                <a:ea typeface="Arial"/>
                <a:cs typeface="Arial"/>
                <a:sym typeface="Arial"/>
              </a:rPr>
              <a:t>Slot-Mapping： Codis 通过一个 Slot-Mapping 映射表来记录每个虚拟槽对应的 Redis 节点。这个映射表是在 Codis Proxy 层维护的，它存储了每个槽对应的 Redis 节点信息。</a:t>
            </a:r>
            <a:endParaRPr sz="16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1600"/>
              <a:buNone/>
            </a:pPr>
            <a:r>
              <a:rPr lang="zh-CN" sz="1600">
                <a:solidFill>
                  <a:srgbClr val="374151"/>
                </a:solidFill>
                <a:latin typeface="Arial"/>
                <a:ea typeface="Arial"/>
                <a:cs typeface="Arial"/>
                <a:sym typeface="Arial"/>
              </a:rPr>
              <a:t>Proxy 层： Codis 引入了代理层（Proxy），Proxy 负责接收客户端的请求，根据请求的 key 计算槽号，并将请求路由到相应的 Redis 节点。Proxy 还负责处理节点的动态扩容和缩容。</a:t>
            </a:r>
            <a:endParaRPr sz="16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1600"/>
              <a:buNone/>
            </a:pPr>
            <a:r>
              <a:rPr lang="zh-CN" sz="1600">
                <a:solidFill>
                  <a:srgbClr val="374151"/>
                </a:solidFill>
                <a:latin typeface="Arial"/>
                <a:ea typeface="Arial"/>
                <a:cs typeface="Arial"/>
                <a:sym typeface="Arial"/>
              </a:rPr>
              <a:t>动态扩缩容： 当需要扩容或缩容时，Codis Proxy 可以动态调整 Slot-Mapping 映射表，将槽重新分配给新的或减少的 Redis 节点。这使得系统在运行时能够灵活地调整数据分布。</a:t>
            </a:r>
            <a:endParaRPr sz="1600">
              <a:solidFill>
                <a:srgbClr val="374151"/>
              </a:solidFill>
              <a:latin typeface="Arial"/>
              <a:ea typeface="Arial"/>
              <a:cs typeface="Arial"/>
              <a:sym typeface="Arial"/>
            </a:endParaRPr>
          </a:p>
          <a:p>
            <a:pPr indent="-228600" lvl="0" marL="457200" rtl="0" algn="l">
              <a:lnSpc>
                <a:spcPct val="115000"/>
              </a:lnSpc>
              <a:spcBef>
                <a:spcPts val="0"/>
              </a:spcBef>
              <a:spcAft>
                <a:spcPts val="0"/>
              </a:spcAft>
              <a:buClr>
                <a:srgbClr val="374151"/>
              </a:buClr>
              <a:buSzPts val="1600"/>
              <a:buNone/>
            </a:pPr>
            <a:r>
              <a:rPr lang="zh-CN" sz="1600">
                <a:solidFill>
                  <a:srgbClr val="374151"/>
                </a:solidFill>
                <a:latin typeface="Arial"/>
                <a:ea typeface="Arial"/>
                <a:cs typeface="Arial"/>
                <a:sym typeface="Arial"/>
              </a:rPr>
              <a:t>故障转移： 如果某个 Redis 节点发生故障，Codis Proxy 可以通过 Slot-Mapping 映射表将故障节点的槽重新分配给其他正常节点，实现故障转移。</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5ef1e3186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5ef1e3186_0_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Clr>
                <a:srgbClr val="EE4D2D"/>
              </a:buClr>
              <a:buSzPts val="1800"/>
              <a:buFont typeface="Open Sans"/>
              <a:buAutoNum type="arabicPeriod"/>
            </a:pPr>
            <a:r>
              <a:rPr lang="zh-CN" sz="1800">
                <a:solidFill>
                  <a:srgbClr val="EE4D2D"/>
                </a:solidFill>
                <a:latin typeface="Open Sans"/>
                <a:ea typeface="Open Sans"/>
                <a:cs typeface="Open Sans"/>
                <a:sym typeface="Open Sans"/>
              </a:rPr>
              <a:t>分片</a:t>
            </a:r>
            <a:endParaRPr sz="18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Kafka 中的分片机制是通过分区（Partition）来实现的。每个主题（Topic）可以被分为多个分区，每个分区是数据的一个有序队列</a:t>
            </a:r>
            <a:endParaRPr sz="2000">
              <a:solidFill>
                <a:srgbClr val="374151"/>
              </a:solidFill>
              <a:latin typeface="Arial"/>
              <a:ea typeface="Arial"/>
              <a:cs typeface="Arial"/>
              <a:sym typeface="Arial"/>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这个分区策略使用消息的键（key）来决定将消息发送到哪个分区。如果消息没有键，它会使用轮询（round-robin）的方式将消息均匀地分配到不同的分区。</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一主多从</a:t>
            </a:r>
            <a:endParaRPr sz="2000">
              <a:solidFill>
                <a:srgbClr val="EE4D2D"/>
              </a:solidFill>
              <a:latin typeface="Open Sans"/>
              <a:ea typeface="Open Sans"/>
              <a:cs typeface="Open Sans"/>
              <a:sym typeface="Open Sans"/>
            </a:endParaRPr>
          </a:p>
          <a:p>
            <a:pPr indent="-355600" lvl="0" marL="457200" rtl="0" algn="l">
              <a:lnSpc>
                <a:spcPct val="115000"/>
              </a:lnSpc>
              <a:spcBef>
                <a:spcPts val="0"/>
              </a:spcBef>
              <a:spcAft>
                <a:spcPts val="0"/>
              </a:spcAft>
              <a:buClr>
                <a:srgbClr val="374151"/>
              </a:buClr>
              <a:buSzPts val="2000"/>
              <a:buAutoNum type="arabicPeriod"/>
            </a:pPr>
            <a:r>
              <a:rPr lang="zh-CN" sz="2000">
                <a:solidFill>
                  <a:srgbClr val="374151"/>
                </a:solidFill>
                <a:latin typeface="Arial"/>
                <a:ea typeface="Arial"/>
                <a:cs typeface="Arial"/>
                <a:sym typeface="Arial"/>
              </a:rPr>
              <a:t>Kafka 允许配置副本的同步方式。可以设置副本的同步方式为同步（In-Sync Replica，ISR）或异步（Out-of-Sync Replica，OSR）。</a:t>
            </a:r>
            <a:endParaRPr sz="2000">
              <a:solidFill>
                <a:srgbClr val="374151"/>
              </a:solidFill>
              <a:latin typeface="Arial"/>
              <a:ea typeface="Arial"/>
              <a:cs typeface="Arial"/>
              <a:sym typeface="Arial"/>
            </a:endParaRPr>
          </a:p>
          <a:p>
            <a:pPr indent="-355600" lvl="0" marL="457200" rtl="0" algn="l">
              <a:lnSpc>
                <a:spcPct val="115000"/>
              </a:lnSpc>
              <a:spcBef>
                <a:spcPts val="0"/>
              </a:spcBef>
              <a:spcAft>
                <a:spcPts val="0"/>
              </a:spcAft>
              <a:buClr>
                <a:srgbClr val="374151"/>
              </a:buClr>
              <a:buSzPts val="2000"/>
              <a:buAutoNum type="arabicPeriod"/>
            </a:pPr>
            <a:r>
              <a:rPr lang="zh-CN" sz="2000">
                <a:solidFill>
                  <a:srgbClr val="374151"/>
                </a:solidFill>
                <a:latin typeface="Arial"/>
                <a:ea typeface="Arial"/>
                <a:cs typeface="Arial"/>
                <a:sym typeface="Arial"/>
              </a:rPr>
              <a:t>ISR 中的副本会尽量保持与主副本的同步，而 OSR 中的副本则可能存在一定程度的滞后。这样的设置允许在某些情况下牺牲一致性以提高性能</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kafka 主副本选举机制</a:t>
            </a:r>
            <a:endParaRPr sz="2000">
              <a:solidFill>
                <a:srgbClr val="EE4D2D"/>
              </a:solidFill>
              <a:latin typeface="Open Sans"/>
              <a:ea typeface="Open Sans"/>
              <a:cs typeface="Open Sans"/>
              <a:sym typeface="Open Sans"/>
            </a:endParaRPr>
          </a:p>
          <a:p>
            <a:pPr indent="-355600" lvl="0" marL="457200" rtl="0" algn="l">
              <a:lnSpc>
                <a:spcPct val="100000"/>
              </a:lnSpc>
              <a:spcBef>
                <a:spcPts val="0"/>
              </a:spcBef>
              <a:spcAft>
                <a:spcPts val="0"/>
              </a:spcAft>
              <a:buClr>
                <a:srgbClr val="EE4D2D"/>
              </a:buClr>
              <a:buSzPts val="2000"/>
              <a:buFont typeface="Open Sans"/>
              <a:buAutoNum type="arabicPeriod"/>
            </a:pPr>
            <a:r>
              <a:t/>
            </a:r>
            <a:endParaRPr sz="2000">
              <a:solidFill>
                <a:srgbClr val="EE4D2D"/>
              </a:solidFill>
              <a:latin typeface="Open Sans"/>
              <a:ea typeface="Open Sans"/>
              <a:cs typeface="Open Sans"/>
              <a:sym typeface="Open Sans"/>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CAP理论：</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374151"/>
              </a:buClr>
              <a:buSzPts val="2000"/>
              <a:buAutoNum type="alphaLcPeriod"/>
            </a:pPr>
            <a:r>
              <a:rPr lang="zh-CN" sz="2000">
                <a:solidFill>
                  <a:srgbClr val="374151"/>
                </a:solidFill>
                <a:latin typeface="Arial"/>
                <a:ea typeface="Arial"/>
                <a:cs typeface="Arial"/>
                <a:sym typeface="Arial"/>
              </a:rPr>
              <a:t>综合来看，Kafka 的设计选择了在 CAP 理论中强调的分区容忍性和可用性，而在一致性上进行了一定的权衡。这种权衡在分布式系统中是常见的，因为在网络分区或节点故障的情况下，保持系统的可用性和容忍性更为重要。Kafka 适用于需要高吞吐量、可靠性和水平扩展性的分布式消息系统场景。</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BASE理论</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374151"/>
              </a:buClr>
              <a:buSzPts val="2000"/>
              <a:buAutoNum type="alphaLcPeriod"/>
            </a:pPr>
            <a:r>
              <a:rPr lang="zh-CN" sz="2000">
                <a:solidFill>
                  <a:srgbClr val="374151"/>
                </a:solidFill>
                <a:latin typeface="Arial"/>
                <a:ea typeface="Arial"/>
                <a:cs typeface="Arial"/>
                <a:sym typeface="Arial"/>
              </a:rPr>
              <a:t>总体而言，Kafka 的分布式架构在 BASE 理论下实现了基本可用性、软状态和最终一致性。这种设计适合大规模、高吞吐量、分布式的消息系统需求。尽管在某些时刻可能存在数据的滞后，但通过副本同步机制和 ISR 的概念，Kafka 能够在保持可用性的同时最终达到一致的状态。。</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故障处理方案</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Kafka 在故障应对能力和扩容方案上具有较好的设计。通过主从复制、副本同步、ISR 概念等机制，Kafka 确保了数据的可用性和一致性。而通过水平扩展、动态配置更新等特性，Kafka 能够在需要时灵活地扩展系统的规模和容量</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5ef1e3186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a5ef1e3186_0_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Clr>
                <a:srgbClr val="EE4D2D"/>
              </a:buClr>
              <a:buSzPts val="1800"/>
              <a:buFont typeface="Open Sans"/>
              <a:buAutoNum type="arabicPeriod"/>
            </a:pPr>
            <a:r>
              <a:rPr lang="zh-CN" sz="1800">
                <a:solidFill>
                  <a:srgbClr val="EE4D2D"/>
                </a:solidFill>
                <a:latin typeface="Open Sans"/>
                <a:ea typeface="Open Sans"/>
                <a:cs typeface="Open Sans"/>
                <a:sym typeface="Open Sans"/>
              </a:rPr>
              <a:t>分片机制</a:t>
            </a:r>
            <a:endParaRPr sz="18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Elasticsearch 中的索引被划分为多个分片，每个分片是一个独立的、完整的索引。分片是 Elasticsearch 实现分布式存储和查询的基本单元</a:t>
            </a:r>
            <a:endParaRPr sz="2000">
              <a:solidFill>
                <a:srgbClr val="374151"/>
              </a:solidFill>
              <a:latin typeface="Arial"/>
              <a:ea typeface="Arial"/>
              <a:cs typeface="Arial"/>
              <a:sym typeface="Arial"/>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在创建索引时，可以指定索引的分片数量。分片数决定了索引的数据如何在集群中分布。分片数的设置在索引创建后是无法更改的。</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副本机制</a:t>
            </a:r>
            <a:endParaRPr sz="2000">
              <a:solidFill>
                <a:srgbClr val="EE4D2D"/>
              </a:solidFill>
              <a:latin typeface="Open Sans"/>
              <a:ea typeface="Open Sans"/>
              <a:cs typeface="Open Sans"/>
              <a:sym typeface="Open Sans"/>
            </a:endParaRPr>
          </a:p>
          <a:p>
            <a:pPr indent="457200" lvl="0" marL="0" rtl="0" algn="l">
              <a:lnSpc>
                <a:spcPct val="115000"/>
              </a:lnSpc>
              <a:spcBef>
                <a:spcPts val="0"/>
              </a:spcBef>
              <a:spcAft>
                <a:spcPts val="0"/>
              </a:spcAft>
              <a:buClr>
                <a:schemeClr val="dk1"/>
              </a:buClr>
              <a:buSzPts val="1100"/>
              <a:buFont typeface="Arial"/>
              <a:buNone/>
            </a:pPr>
            <a:r>
              <a:rPr lang="zh-CN" sz="2000">
                <a:solidFill>
                  <a:srgbClr val="374151"/>
                </a:solidFill>
                <a:latin typeface="Arial"/>
                <a:ea typeface="Arial"/>
                <a:cs typeface="Arial"/>
                <a:sym typeface="Arial"/>
              </a:rPr>
              <a:t>主分片（Primary Shard）和副本分片（Replica Shard）。</a:t>
            </a:r>
            <a:endParaRPr sz="2000">
              <a:solidFill>
                <a:srgbClr val="374151"/>
              </a:solidFill>
              <a:latin typeface="Arial"/>
              <a:ea typeface="Arial"/>
              <a:cs typeface="Arial"/>
              <a:sym typeface="Arial"/>
            </a:endParaRPr>
          </a:p>
          <a:p>
            <a:pPr indent="-355600" lvl="0" marL="457200" rtl="0" algn="l">
              <a:lnSpc>
                <a:spcPct val="115000"/>
              </a:lnSpc>
              <a:spcBef>
                <a:spcPts val="0"/>
              </a:spcBef>
              <a:spcAft>
                <a:spcPts val="0"/>
              </a:spcAft>
              <a:buClr>
                <a:srgbClr val="374151"/>
              </a:buClr>
              <a:buSzPts val="2000"/>
              <a:buChar char="●"/>
            </a:pPr>
            <a:r>
              <a:rPr lang="zh-CN" sz="2000">
                <a:solidFill>
                  <a:srgbClr val="374151"/>
                </a:solidFill>
                <a:latin typeface="Arial"/>
                <a:ea typeface="Arial"/>
                <a:cs typeface="Arial"/>
                <a:sym typeface="Arial"/>
              </a:rPr>
              <a:t>主分片负责处理索引的所有写入和一个部分的搜索请求。</a:t>
            </a:r>
            <a:endParaRPr sz="2000">
              <a:solidFill>
                <a:srgbClr val="374151"/>
              </a:solidFill>
              <a:latin typeface="Arial"/>
              <a:ea typeface="Arial"/>
              <a:cs typeface="Arial"/>
              <a:sym typeface="Arial"/>
            </a:endParaRPr>
          </a:p>
          <a:p>
            <a:pPr indent="-355600" lvl="0" marL="457200" rtl="0" algn="l">
              <a:lnSpc>
                <a:spcPct val="115000"/>
              </a:lnSpc>
              <a:spcBef>
                <a:spcPts val="0"/>
              </a:spcBef>
              <a:spcAft>
                <a:spcPts val="0"/>
              </a:spcAft>
              <a:buClr>
                <a:srgbClr val="374151"/>
              </a:buClr>
              <a:buSzPts val="2000"/>
              <a:buChar char="●"/>
            </a:pPr>
            <a:r>
              <a:rPr lang="zh-CN" sz="2000">
                <a:solidFill>
                  <a:srgbClr val="374151"/>
                </a:solidFill>
                <a:latin typeface="Arial"/>
                <a:ea typeface="Arial"/>
                <a:cs typeface="Arial"/>
                <a:sym typeface="Arial"/>
              </a:rPr>
              <a:t>副本分片是主分片的复制，用于提高搜索请求的并发性和系统的可用性</a:t>
            </a:r>
            <a:endParaRPr sz="2000">
              <a:solidFill>
                <a:srgbClr val="374151"/>
              </a:solidFill>
              <a:latin typeface="Arial"/>
              <a:ea typeface="Arial"/>
              <a:cs typeface="Arial"/>
              <a:sym typeface="Arial"/>
            </a:endParaRPr>
          </a:p>
          <a:p>
            <a:pPr indent="-304800" lvl="0" marL="457200" rtl="0" algn="l">
              <a:lnSpc>
                <a:spcPct val="115000"/>
              </a:lnSpc>
              <a:spcBef>
                <a:spcPts val="0"/>
              </a:spcBef>
              <a:spcAft>
                <a:spcPts val="0"/>
              </a:spcAft>
              <a:buClr>
                <a:srgbClr val="374151"/>
              </a:buClr>
              <a:buSzPts val="1200"/>
              <a:buChar char="●"/>
            </a:pPr>
            <a:r>
              <a:rPr lang="zh-CN" sz="1200">
                <a:solidFill>
                  <a:srgbClr val="374151"/>
                </a:solidFill>
                <a:latin typeface="Arial"/>
                <a:ea typeface="Arial"/>
                <a:cs typeface="Arial"/>
                <a:sym typeface="Arial"/>
              </a:rPr>
              <a:t>如果主分片不可用，系统会从该分片的副本集合中选择一个健康的副本分片升级为新的主分片。</a:t>
            </a:r>
            <a:endParaRPr sz="1200">
              <a:solidFill>
                <a:srgbClr val="374151"/>
              </a:solidFill>
              <a:latin typeface="Arial"/>
              <a:ea typeface="Arial"/>
              <a:cs typeface="Arial"/>
              <a:sym typeface="Arial"/>
            </a:endParaRPr>
          </a:p>
          <a:p>
            <a:pPr indent="-304800" lvl="0" marL="457200" rtl="0" algn="l">
              <a:lnSpc>
                <a:spcPct val="115000"/>
              </a:lnSpc>
              <a:spcBef>
                <a:spcPts val="0"/>
              </a:spcBef>
              <a:spcAft>
                <a:spcPts val="0"/>
              </a:spcAft>
              <a:buClr>
                <a:srgbClr val="374151"/>
              </a:buClr>
              <a:buSzPts val="1200"/>
              <a:buChar char="●"/>
            </a:pPr>
            <a:r>
              <a:rPr lang="zh-CN" sz="1200">
                <a:solidFill>
                  <a:srgbClr val="374151"/>
                </a:solidFill>
                <a:latin typeface="Arial"/>
                <a:ea typeface="Arial"/>
                <a:cs typeface="Arial"/>
                <a:sym typeface="Arial"/>
              </a:rPr>
              <a:t>选择的副本分片通常是处于 ISR（In-Sync Replica）集合中的副本，因为这些副本是与主分片保持同步的</a:t>
            </a:r>
            <a:endParaRPr sz="1200">
              <a:solidFill>
                <a:srgbClr val="374151"/>
              </a:solidFill>
              <a:latin typeface="Arial"/>
              <a:ea typeface="Arial"/>
              <a:cs typeface="Arial"/>
              <a:sym typeface="Arial"/>
            </a:endParaRPr>
          </a:p>
          <a:p>
            <a:pPr indent="-355600" lvl="0" marL="457200" rtl="0" algn="l">
              <a:lnSpc>
                <a:spcPct val="115000"/>
              </a:lnSpc>
              <a:spcBef>
                <a:spcPts val="0"/>
              </a:spcBef>
              <a:spcAft>
                <a:spcPts val="0"/>
              </a:spcAft>
              <a:buClr>
                <a:srgbClr val="374151"/>
              </a:buClr>
              <a:buSzPts val="2000"/>
              <a:buChar char="●"/>
            </a:pPr>
            <a:r>
              <a:rPr lang="zh-CN" sz="1200">
                <a:solidFill>
                  <a:srgbClr val="374151"/>
                </a:solidFill>
                <a:latin typeface="Arial"/>
                <a:ea typeface="Arial"/>
                <a:cs typeface="Arial"/>
                <a:sym typeface="Arial"/>
              </a:rPr>
              <a:t>在 Elasticsearch 中，主分片的选举机制是通过 Zen Discovery 插件来实现的。Zen Discovery 是 Elasticsearch 的节点发现和集群管理插件，它负责节点的发现、故障检测和主分片选举。以下是 Elasticsearch 主分片选举的基本过程</a:t>
            </a:r>
            <a:endParaRPr sz="2000">
              <a:solidFill>
                <a:srgbClr val="37415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2000">
              <a:solidFill>
                <a:srgbClr val="EE4D2D"/>
              </a:solidFill>
              <a:latin typeface="Open Sans"/>
              <a:ea typeface="Open Sans"/>
              <a:cs typeface="Open Sans"/>
              <a:sym typeface="Open Sans"/>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CAP理论：</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374151"/>
              </a:buClr>
              <a:buSzPts val="2000"/>
              <a:buAutoNum type="alphaLcPeriod"/>
            </a:pPr>
            <a:r>
              <a:rPr lang="zh-CN" sz="2000">
                <a:solidFill>
                  <a:srgbClr val="374151"/>
                </a:solidFill>
                <a:latin typeface="Arial"/>
                <a:ea typeface="Arial"/>
                <a:cs typeface="Arial"/>
                <a:sym typeface="Arial"/>
              </a:rPr>
              <a:t>综合来看，Kafka 的设计选择了在 CAP 理论中强调的分区容忍性和可用性，而在一致性上进行了一定的权衡。这种权衡在分布式系统中是常见的，因为在网络分区或节点故障的情况下，保持系统的可用性和容忍性更为重要。Kafka 适用于需要高吞吐量、可靠性和水平扩展性的分布式消息系统场景。</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BASE理论</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374151"/>
              </a:buClr>
              <a:buSzPts val="2000"/>
              <a:buAutoNum type="alphaLcPeriod"/>
            </a:pPr>
            <a:r>
              <a:rPr lang="zh-CN" sz="2000">
                <a:solidFill>
                  <a:srgbClr val="374151"/>
                </a:solidFill>
                <a:latin typeface="Arial"/>
                <a:ea typeface="Arial"/>
                <a:cs typeface="Arial"/>
                <a:sym typeface="Arial"/>
              </a:rPr>
              <a:t>总体而言，Kafka 的分布式架构在 BASE 理论下实现了基本可用性、软状态和最终一致性。这种设计适合大规模、高吞吐量、分布式的消息系统需求。尽管在某些时刻可能存在数据的滞后，但通过副本同步机制和 ISR 的概念，Kafka 能够在保持可用性的同时最终达到一致的状态。。</a:t>
            </a:r>
            <a:endParaRPr sz="2000">
              <a:solidFill>
                <a:srgbClr val="374151"/>
              </a:solidFill>
              <a:latin typeface="Arial"/>
              <a:ea typeface="Arial"/>
              <a:cs typeface="Arial"/>
              <a:sym typeface="Arial"/>
            </a:endParaRPr>
          </a:p>
          <a:p>
            <a:pPr indent="0" lvl="0" marL="914400" rtl="0" algn="l">
              <a:lnSpc>
                <a:spcPct val="100000"/>
              </a:lnSpc>
              <a:spcBef>
                <a:spcPts val="0"/>
              </a:spcBef>
              <a:spcAft>
                <a:spcPts val="0"/>
              </a:spcAft>
              <a:buClr>
                <a:schemeClr val="dk1"/>
              </a:buClr>
              <a:buSzPts val="1100"/>
              <a:buFont typeface="Arial"/>
              <a:buNone/>
            </a:pPr>
            <a:r>
              <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EE4D2D"/>
              </a:buClr>
              <a:buSzPts val="2000"/>
              <a:buFont typeface="Open Sans"/>
              <a:buAutoNum type="arabicPeriod"/>
            </a:pPr>
            <a:r>
              <a:rPr lang="zh-CN" sz="2000">
                <a:solidFill>
                  <a:srgbClr val="EE4D2D"/>
                </a:solidFill>
                <a:latin typeface="Open Sans"/>
                <a:ea typeface="Open Sans"/>
                <a:cs typeface="Open Sans"/>
                <a:sym typeface="Open Sans"/>
              </a:rPr>
              <a:t>故障处理方案</a:t>
            </a:r>
            <a:endParaRPr sz="2000">
              <a:solidFill>
                <a:srgbClr val="EE4D2D"/>
              </a:solidFill>
              <a:latin typeface="Open Sans"/>
              <a:ea typeface="Open Sans"/>
              <a:cs typeface="Open Sans"/>
              <a:sym typeface="Open Sans"/>
            </a:endParaRPr>
          </a:p>
          <a:p>
            <a:pPr indent="-355600" lvl="1" marL="914400" rtl="0" algn="l">
              <a:lnSpc>
                <a:spcPct val="100000"/>
              </a:lnSpc>
              <a:spcBef>
                <a:spcPts val="0"/>
              </a:spcBef>
              <a:spcAft>
                <a:spcPts val="0"/>
              </a:spcAft>
              <a:buClr>
                <a:srgbClr val="EE4D2D"/>
              </a:buClr>
              <a:buSzPts val="2000"/>
              <a:buFont typeface="Open Sans"/>
              <a:buAutoNum type="alphaLcPeriod"/>
            </a:pPr>
            <a:r>
              <a:rPr lang="zh-CN" sz="2000">
                <a:solidFill>
                  <a:srgbClr val="374151"/>
                </a:solidFill>
                <a:latin typeface="Arial"/>
                <a:ea typeface="Arial"/>
                <a:cs typeface="Arial"/>
                <a:sym typeface="Arial"/>
              </a:rPr>
              <a:t>Kafka 在故障应对能力和扩容方案上具有较好的设计。通过主从复制、副本同步、ISR 概念等机制，Kafka 确保了数据的可用性和一致性。而通过水平扩展、动态配置更新等特性，Kafka 能够在需要时灵活地扩展系统的规模和容量</a:t>
            </a:r>
            <a:endParaRPr sz="2000">
              <a:solidFill>
                <a:srgbClr val="374151"/>
              </a:solidFill>
              <a:latin typeface="Arial"/>
              <a:ea typeface="Arial"/>
              <a:cs typeface="Arial"/>
              <a:sym typeface="Arial"/>
            </a:endParaRPr>
          </a:p>
          <a:p>
            <a:pPr indent="-355600" lvl="0" marL="457200" rtl="0" algn="l">
              <a:lnSpc>
                <a:spcPct val="100000"/>
              </a:lnSpc>
              <a:spcBef>
                <a:spcPts val="0"/>
              </a:spcBef>
              <a:spcAft>
                <a:spcPts val="0"/>
              </a:spcAft>
              <a:buClr>
                <a:srgbClr val="374151"/>
              </a:buClr>
              <a:buSzPts val="2000"/>
              <a:buFont typeface="Arial"/>
              <a:buAutoNum type="arabicPeriod"/>
            </a:pPr>
            <a:r>
              <a:rPr lang="zh-CN" sz="2000">
                <a:solidFill>
                  <a:srgbClr val="374151"/>
                </a:solidFill>
                <a:latin typeface="Arial"/>
                <a:ea typeface="Arial"/>
                <a:cs typeface="Arial"/>
                <a:sym typeface="Arial"/>
              </a:rPr>
              <a:t>lsm  tree</a:t>
            </a:r>
            <a:endParaRPr sz="2000">
              <a:solidFill>
                <a:srgbClr val="374151"/>
              </a:solidFill>
              <a:latin typeface="Arial"/>
              <a:ea typeface="Arial"/>
              <a:cs typeface="Arial"/>
              <a:sym typeface="Arial"/>
            </a:endParaRPr>
          </a:p>
          <a:p>
            <a:pPr indent="0" lvl="0" marL="0" rtl="0" algn="l">
              <a:lnSpc>
                <a:spcPct val="115000"/>
              </a:lnSpc>
              <a:spcBef>
                <a:spcPts val="1700"/>
              </a:spcBef>
              <a:spcAft>
                <a:spcPts val="0"/>
              </a:spcAft>
              <a:buNone/>
            </a:pPr>
            <a:r>
              <a:rPr lang="zh-CN" sz="1100">
                <a:solidFill>
                  <a:srgbClr val="191B1F"/>
                </a:solidFill>
                <a:highlight>
                  <a:srgbClr val="FFFFFF"/>
                </a:highlight>
              </a:rPr>
              <a:t>LSM类似但又有些不同，继承了LSM（Log Structured Merge Trees）中数据写入的优点，但是在查询上只能提供近实时而非实时查询。Lucene中的数据写入会先写内存的一个Buffer（类似LSM的MemTable，但是不可读），当Buffer内数据到一定量后会被flush成一个Segment，每个Segment有自己独立的索引，可独立被查询，但数据永远不能被更改。</a:t>
            </a:r>
            <a:endParaRPr sz="1100">
              <a:solidFill>
                <a:srgbClr val="191B1F"/>
              </a:solidFill>
              <a:highlight>
                <a:srgbClr val="FFFFFF"/>
              </a:highlight>
            </a:endParaRPr>
          </a:p>
          <a:p>
            <a:pPr indent="0" lvl="0" marL="0" rtl="0" algn="l">
              <a:lnSpc>
                <a:spcPct val="115000"/>
              </a:lnSpc>
              <a:spcBef>
                <a:spcPts val="1700"/>
              </a:spcBef>
              <a:spcAft>
                <a:spcPts val="0"/>
              </a:spcAft>
              <a:buNone/>
            </a:pPr>
            <a:r>
              <a:rPr lang="zh-CN" sz="1100">
                <a:solidFill>
                  <a:srgbClr val="191B1F"/>
                </a:solidFill>
                <a:highlight>
                  <a:srgbClr val="FFFFFF"/>
                </a:highlight>
              </a:rPr>
              <a:t>Index的查询需要对多个Segment进行查询并对结果进行合并，还需要处理被删除的文档，为了对查询进行优化，Lucene会有策略对多个Segment进行合并，这点与LSM对SSTable的Merge类似。</a:t>
            </a:r>
            <a:endParaRPr sz="1100">
              <a:solidFill>
                <a:srgbClr val="191B1F"/>
              </a:solidFill>
              <a:highlight>
                <a:srgbClr val="FFFFFF"/>
              </a:highlight>
            </a:endParaRPr>
          </a:p>
          <a:p>
            <a:pPr indent="0" lvl="0" marL="0" rtl="0" algn="l">
              <a:lnSpc>
                <a:spcPct val="115000"/>
              </a:lnSpc>
              <a:spcBef>
                <a:spcPts val="1700"/>
              </a:spcBef>
              <a:spcAft>
                <a:spcPts val="0"/>
              </a:spcAft>
              <a:buNone/>
            </a:pPr>
            <a:r>
              <a:rPr lang="zh-CN" sz="1100">
                <a:solidFill>
                  <a:srgbClr val="191B1F"/>
                </a:solidFill>
                <a:highlight>
                  <a:srgbClr val="FFFFFF"/>
                </a:highlight>
              </a:rPr>
              <a:t>Segment在被flush或commit之前，数据保存在内存中，是不可被搜索的，这也就是为什么Lucene被称为提供近实时而非实时查询的原因。</a:t>
            </a:r>
            <a:endParaRPr sz="1100">
              <a:solidFill>
                <a:srgbClr val="191B1F"/>
              </a:solidFill>
              <a:highlight>
                <a:srgbClr val="FFFFFF"/>
              </a:highlight>
            </a:endParaRPr>
          </a:p>
          <a:p>
            <a:pPr indent="0" lvl="0" marL="0" rtl="0" algn="l">
              <a:lnSpc>
                <a:spcPct val="115000"/>
              </a:lnSpc>
              <a:spcBef>
                <a:spcPts val="1700"/>
              </a:spcBef>
              <a:spcAft>
                <a:spcPts val="0"/>
              </a:spcAft>
              <a:buNone/>
            </a:pPr>
            <a:r>
              <a:t/>
            </a:r>
            <a:endParaRPr sz="1100">
              <a:solidFill>
                <a:schemeClr val="dk1"/>
              </a:solidFill>
              <a:latin typeface="Arial"/>
              <a:ea typeface="Arial"/>
              <a:cs typeface="Arial"/>
              <a:sym typeface="Arial"/>
            </a:endParaRPr>
          </a:p>
          <a:p>
            <a:pPr indent="0" lvl="0" marL="457200" rtl="0" algn="l">
              <a:lnSpc>
                <a:spcPct val="100000"/>
              </a:lnSpc>
              <a:spcBef>
                <a:spcPts val="0"/>
              </a:spcBef>
              <a:spcAft>
                <a:spcPts val="0"/>
              </a:spcAft>
              <a:buNone/>
            </a:pPr>
            <a:r>
              <a:t/>
            </a:r>
            <a:endParaRPr sz="2000">
              <a:solidFill>
                <a:srgbClr val="37415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736d85ff4_0_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736d85ff4_0_1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zh-CN" sz="1050">
                <a:solidFill>
                  <a:schemeClr val="dk1"/>
                </a:solidFill>
                <a:highlight>
                  <a:srgbClr val="FFFFFF"/>
                </a:highlight>
                <a:latin typeface="Microsoft Yahei"/>
                <a:ea typeface="Microsoft Yahei"/>
                <a:cs typeface="Microsoft Yahei"/>
                <a:sym typeface="Microsoft Yahei"/>
              </a:rPr>
              <a:t>所有客户端的请求都是写入到 Leader 进程中的，然后，由 Leader 同步到其他节点，称为 Follower</a:t>
            </a:r>
            <a:endParaRPr sz="1050">
              <a:solidFill>
                <a:schemeClr val="dk1"/>
              </a:solidFill>
              <a:highlight>
                <a:srgbClr val="FFFFFF"/>
              </a:highlight>
              <a:latin typeface="Microsoft Yahei"/>
              <a:ea typeface="Microsoft Yahei"/>
              <a:cs typeface="Microsoft Yahei"/>
              <a:sym typeface="Microsoft Yahei"/>
            </a:endParaRPr>
          </a:p>
          <a:p>
            <a:pPr indent="-295275" lvl="0" marL="457200" rtl="0" algn="l">
              <a:spcBef>
                <a:spcPts val="0"/>
              </a:spcBef>
              <a:spcAft>
                <a:spcPts val="0"/>
              </a:spcAft>
              <a:buClr>
                <a:schemeClr val="dk1"/>
              </a:buClr>
              <a:buSzPts val="1050"/>
              <a:buFont typeface="Microsoft Yahei"/>
              <a:buAutoNum type="arabicPeriod"/>
            </a:pPr>
            <a:r>
              <a:t/>
            </a:r>
            <a:endParaRPr sz="1050">
              <a:solidFill>
                <a:schemeClr val="dk1"/>
              </a:solidFill>
              <a:highlight>
                <a:srgbClr val="FFFFFF"/>
              </a:highlight>
              <a:latin typeface="Microsoft Yahei"/>
              <a:ea typeface="Microsoft Yahei"/>
              <a:cs typeface="Microsoft Yahei"/>
              <a:sym typeface="Microsoft Yahe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9f21f7e370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9f21f7e370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2" name="Google Shape;20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4" name="Shape 14"/>
        <p:cNvGrpSpPr/>
        <p:nvPr/>
      </p:nvGrpSpPr>
      <p:grpSpPr>
        <a:xfrm>
          <a:off x="0" y="0"/>
          <a:ext cx="0" cy="0"/>
          <a:chOff x="0" y="0"/>
          <a:chExt cx="0" cy="0"/>
        </a:xfrm>
      </p:grpSpPr>
      <p:sp>
        <p:nvSpPr>
          <p:cNvPr id="15" name="Google Shape;15;p8"/>
          <p:cNvSpPr txBox="1"/>
          <p:nvPr>
            <p:ph type="title"/>
          </p:nvPr>
        </p:nvSpPr>
        <p:spPr>
          <a:xfrm>
            <a:off x="1778000" y="6009594"/>
            <a:ext cx="20828002" cy="226831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EE4D2D"/>
              </a:buClr>
              <a:buSzPts val="1800"/>
              <a:buNone/>
              <a:defRPr/>
            </a:lvl1pPr>
            <a:lvl2pPr lvl="1" algn="ctr">
              <a:lnSpc>
                <a:spcPct val="100000"/>
              </a:lnSpc>
              <a:spcBef>
                <a:spcPts val="0"/>
              </a:spcBef>
              <a:spcAft>
                <a:spcPts val="0"/>
              </a:spcAft>
              <a:buClr>
                <a:srgbClr val="EE4D2D"/>
              </a:buClr>
              <a:buSzPts val="1800"/>
              <a:buNone/>
              <a:defRPr/>
            </a:lvl2pPr>
            <a:lvl3pPr lvl="2" algn="ctr">
              <a:lnSpc>
                <a:spcPct val="100000"/>
              </a:lnSpc>
              <a:spcBef>
                <a:spcPts val="0"/>
              </a:spcBef>
              <a:spcAft>
                <a:spcPts val="0"/>
              </a:spcAft>
              <a:buClr>
                <a:srgbClr val="EE4D2D"/>
              </a:buClr>
              <a:buSzPts val="1800"/>
              <a:buNone/>
              <a:defRPr/>
            </a:lvl3pPr>
            <a:lvl4pPr lvl="3" algn="ctr">
              <a:lnSpc>
                <a:spcPct val="100000"/>
              </a:lnSpc>
              <a:spcBef>
                <a:spcPts val="0"/>
              </a:spcBef>
              <a:spcAft>
                <a:spcPts val="0"/>
              </a:spcAft>
              <a:buClr>
                <a:srgbClr val="EE4D2D"/>
              </a:buClr>
              <a:buSzPts val="1800"/>
              <a:buNone/>
              <a:defRPr/>
            </a:lvl4pPr>
            <a:lvl5pPr lvl="4" algn="ctr">
              <a:lnSpc>
                <a:spcPct val="100000"/>
              </a:lnSpc>
              <a:spcBef>
                <a:spcPts val="0"/>
              </a:spcBef>
              <a:spcAft>
                <a:spcPts val="0"/>
              </a:spcAft>
              <a:buClr>
                <a:srgbClr val="EE4D2D"/>
              </a:buClr>
              <a:buSzPts val="1800"/>
              <a:buNone/>
              <a:defRPr/>
            </a:lvl5pPr>
            <a:lvl6pPr lvl="5" algn="ctr">
              <a:lnSpc>
                <a:spcPct val="100000"/>
              </a:lnSpc>
              <a:spcBef>
                <a:spcPts val="0"/>
              </a:spcBef>
              <a:spcAft>
                <a:spcPts val="0"/>
              </a:spcAft>
              <a:buClr>
                <a:srgbClr val="EE4D2D"/>
              </a:buClr>
              <a:buSzPts val="1800"/>
              <a:buNone/>
              <a:defRPr/>
            </a:lvl6pPr>
            <a:lvl7pPr lvl="6" algn="ctr">
              <a:lnSpc>
                <a:spcPct val="100000"/>
              </a:lnSpc>
              <a:spcBef>
                <a:spcPts val="0"/>
              </a:spcBef>
              <a:spcAft>
                <a:spcPts val="0"/>
              </a:spcAft>
              <a:buClr>
                <a:srgbClr val="EE4D2D"/>
              </a:buClr>
              <a:buSzPts val="1800"/>
              <a:buNone/>
              <a:defRPr/>
            </a:lvl7pPr>
            <a:lvl8pPr lvl="7" algn="ctr">
              <a:lnSpc>
                <a:spcPct val="100000"/>
              </a:lnSpc>
              <a:spcBef>
                <a:spcPts val="0"/>
              </a:spcBef>
              <a:spcAft>
                <a:spcPts val="0"/>
              </a:spcAft>
              <a:buClr>
                <a:srgbClr val="EE4D2D"/>
              </a:buClr>
              <a:buSzPts val="1800"/>
              <a:buNone/>
              <a:defRPr/>
            </a:lvl8pPr>
            <a:lvl9pPr lvl="8" algn="ctr">
              <a:lnSpc>
                <a:spcPct val="100000"/>
              </a:lnSpc>
              <a:spcBef>
                <a:spcPts val="0"/>
              </a:spcBef>
              <a:spcAft>
                <a:spcPts val="0"/>
              </a:spcAft>
              <a:buClr>
                <a:srgbClr val="EE4D2D"/>
              </a:buClr>
              <a:buSzPts val="1800"/>
              <a:buNone/>
              <a:defRPr/>
            </a:lvl9pPr>
          </a:lstStyle>
          <a:p/>
        </p:txBody>
      </p:sp>
      <p:sp>
        <p:nvSpPr>
          <p:cNvPr id="16" name="Google Shape;16;p8"/>
          <p:cNvSpPr txBox="1"/>
          <p:nvPr>
            <p:ph idx="1" type="body"/>
          </p:nvPr>
        </p:nvSpPr>
        <p:spPr>
          <a:xfrm>
            <a:off x="1778000" y="8931064"/>
            <a:ext cx="20828000" cy="1587502"/>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EE4D2D"/>
              </a:buClr>
              <a:buSzPts val="1800"/>
              <a:buNone/>
              <a:defRPr/>
            </a:lvl1pPr>
            <a:lvl2pPr indent="-228600" lvl="1" marL="914400" algn="ctr">
              <a:lnSpc>
                <a:spcPct val="100000"/>
              </a:lnSpc>
              <a:spcBef>
                <a:spcPts val="0"/>
              </a:spcBef>
              <a:spcAft>
                <a:spcPts val="0"/>
              </a:spcAft>
              <a:buClr>
                <a:srgbClr val="EE4D2D"/>
              </a:buClr>
              <a:buSzPts val="1800"/>
              <a:buNone/>
              <a:defRPr/>
            </a:lvl2pPr>
            <a:lvl3pPr indent="-228600" lvl="2" marL="1371600" algn="ctr">
              <a:lnSpc>
                <a:spcPct val="100000"/>
              </a:lnSpc>
              <a:spcBef>
                <a:spcPts val="0"/>
              </a:spcBef>
              <a:spcAft>
                <a:spcPts val="0"/>
              </a:spcAft>
              <a:buClr>
                <a:srgbClr val="EE4D2D"/>
              </a:buClr>
              <a:buSzPts val="1800"/>
              <a:buNone/>
              <a:defRPr/>
            </a:lvl3pPr>
            <a:lvl4pPr indent="-228600" lvl="3" marL="1828800" algn="ctr">
              <a:lnSpc>
                <a:spcPct val="100000"/>
              </a:lnSpc>
              <a:spcBef>
                <a:spcPts val="0"/>
              </a:spcBef>
              <a:spcAft>
                <a:spcPts val="0"/>
              </a:spcAft>
              <a:buClr>
                <a:srgbClr val="EE4D2D"/>
              </a:buClr>
              <a:buSzPts val="1800"/>
              <a:buNone/>
              <a:defRPr/>
            </a:lvl4pPr>
            <a:lvl5pPr indent="-228600" lvl="4" marL="2286000" algn="ctr">
              <a:lnSpc>
                <a:spcPct val="100000"/>
              </a:lnSpc>
              <a:spcBef>
                <a:spcPts val="0"/>
              </a:spcBef>
              <a:spcAft>
                <a:spcPts val="0"/>
              </a:spcAft>
              <a:buClr>
                <a:srgbClr val="EE4D2D"/>
              </a:buClr>
              <a:buSzPts val="1800"/>
              <a:buNone/>
              <a:defRPr/>
            </a:lvl5pPr>
            <a:lvl6pPr indent="-371475" lvl="5" marL="2743200" algn="ctr">
              <a:lnSpc>
                <a:spcPct val="100000"/>
              </a:lnSpc>
              <a:spcBef>
                <a:spcPts val="0"/>
              </a:spcBef>
              <a:spcAft>
                <a:spcPts val="0"/>
              </a:spcAft>
              <a:buClr>
                <a:srgbClr val="EE4D2D"/>
              </a:buClr>
              <a:buSzPts val="2250"/>
              <a:buChar char="•"/>
              <a:defRPr/>
            </a:lvl6pPr>
            <a:lvl7pPr indent="-371475" lvl="6" marL="3200400" algn="ctr">
              <a:lnSpc>
                <a:spcPct val="100000"/>
              </a:lnSpc>
              <a:spcBef>
                <a:spcPts val="0"/>
              </a:spcBef>
              <a:spcAft>
                <a:spcPts val="0"/>
              </a:spcAft>
              <a:buClr>
                <a:srgbClr val="EE4D2D"/>
              </a:buClr>
              <a:buSzPts val="2250"/>
              <a:buChar char="•"/>
              <a:defRPr/>
            </a:lvl7pPr>
            <a:lvl8pPr indent="-371475" lvl="7" marL="3657600" algn="ctr">
              <a:lnSpc>
                <a:spcPct val="100000"/>
              </a:lnSpc>
              <a:spcBef>
                <a:spcPts val="0"/>
              </a:spcBef>
              <a:spcAft>
                <a:spcPts val="0"/>
              </a:spcAft>
              <a:buClr>
                <a:srgbClr val="EE4D2D"/>
              </a:buClr>
              <a:buSzPts val="2250"/>
              <a:buChar char="•"/>
              <a:defRPr/>
            </a:lvl8pPr>
            <a:lvl9pPr indent="-371475" lvl="8" marL="4114800" algn="ctr">
              <a:lnSpc>
                <a:spcPct val="100000"/>
              </a:lnSpc>
              <a:spcBef>
                <a:spcPts val="0"/>
              </a:spcBef>
              <a:spcAft>
                <a:spcPts val="0"/>
              </a:spcAft>
              <a:buClr>
                <a:srgbClr val="EE4D2D"/>
              </a:buClr>
              <a:buSzPts val="2250"/>
              <a:buChar char="•"/>
              <a:defRPr/>
            </a:lvl9pPr>
          </a:lstStyle>
          <a:p/>
        </p:txBody>
      </p:sp>
      <p:sp>
        <p:nvSpPr>
          <p:cNvPr id="17" name="Google Shape;17;p8"/>
          <p:cNvSpPr txBox="1"/>
          <p:nvPr>
            <p:ph idx="12" type="sldNum"/>
          </p:nvPr>
        </p:nvSpPr>
        <p:spPr>
          <a:xfrm>
            <a:off x="23384009" y="12808395"/>
            <a:ext cx="433811" cy="4826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1pPr>
            <a:lvl2pPr indent="0" lvl="1"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2pPr>
            <a:lvl3pPr indent="0" lvl="2"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3pPr>
            <a:lvl4pPr indent="0" lvl="3"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4pPr>
            <a:lvl5pPr indent="0" lvl="4"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5pPr>
            <a:lvl6pPr indent="0" lvl="5"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6pPr>
            <a:lvl7pPr indent="0" lvl="6"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7pPr>
            <a:lvl8pPr indent="0" lvl="7"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8pPr>
            <a:lvl9pPr indent="0" lvl="8"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howMasterSp="0" type="tx">
  <p:cSld name="TITLE_AND_BODY">
    <p:spTree>
      <p:nvGrpSpPr>
        <p:cNvPr id="18" name="Shape 18"/>
        <p:cNvGrpSpPr/>
        <p:nvPr/>
      </p:nvGrpSpPr>
      <p:grpSpPr>
        <a:xfrm>
          <a:off x="0" y="0"/>
          <a:ext cx="0" cy="0"/>
          <a:chOff x="0" y="0"/>
          <a:chExt cx="0" cy="0"/>
        </a:xfrm>
      </p:grpSpPr>
      <p:sp>
        <p:nvSpPr>
          <p:cNvPr id="19" name="Google Shape;19;p9"/>
          <p:cNvSpPr txBox="1"/>
          <p:nvPr/>
        </p:nvSpPr>
        <p:spPr>
          <a:xfrm>
            <a:off x="10180318" y="12802557"/>
            <a:ext cx="4023362" cy="434339"/>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888888"/>
              </a:buClr>
              <a:buSzPts val="2000"/>
              <a:buFont typeface="Open Sans"/>
              <a:buNone/>
            </a:pPr>
            <a:r>
              <a:rPr b="0" i="0" lang="zh-CN" sz="2000" u="none" cap="none" strike="noStrike">
                <a:solidFill>
                  <a:srgbClr val="888888"/>
                </a:solidFill>
                <a:latin typeface="Open Sans"/>
                <a:ea typeface="Open Sans"/>
                <a:cs typeface="Open Sans"/>
                <a:sym typeface="Open Sans"/>
              </a:rPr>
              <a:t>Private &amp; Confidential</a:t>
            </a:r>
            <a:endParaRPr b="0" i="0" sz="1400" u="none" cap="none" strike="noStrike">
              <a:solidFill>
                <a:srgbClr val="000000"/>
              </a:solidFill>
              <a:latin typeface="Arial"/>
              <a:ea typeface="Arial"/>
              <a:cs typeface="Arial"/>
              <a:sym typeface="Arial"/>
            </a:endParaRPr>
          </a:p>
        </p:txBody>
      </p:sp>
      <p:grpSp>
        <p:nvGrpSpPr>
          <p:cNvPr id="20" name="Google Shape;20;p9"/>
          <p:cNvGrpSpPr/>
          <p:nvPr/>
        </p:nvGrpSpPr>
        <p:grpSpPr>
          <a:xfrm>
            <a:off x="454781" y="493349"/>
            <a:ext cx="2201540" cy="1026515"/>
            <a:chOff x="0" y="0"/>
            <a:chExt cx="2201539" cy="1026513"/>
          </a:xfrm>
        </p:grpSpPr>
        <p:pic>
          <p:nvPicPr>
            <p:cNvPr descr="Shopee_logo_en-02.png" id="21" name="Google Shape;21;p9"/>
            <p:cNvPicPr preferRelativeResize="0"/>
            <p:nvPr/>
          </p:nvPicPr>
          <p:blipFill rotWithShape="1">
            <a:blip r:embed="rId2">
              <a:alphaModFix/>
            </a:blip>
            <a:srcRect b="24308" l="2858" r="66963" t="10174"/>
            <a:stretch/>
          </p:blipFill>
          <p:spPr>
            <a:xfrm>
              <a:off x="0" y="0"/>
              <a:ext cx="1024509" cy="1026513"/>
            </a:xfrm>
            <a:prstGeom prst="rect">
              <a:avLst/>
            </a:prstGeom>
            <a:noFill/>
            <a:ln>
              <a:noFill/>
            </a:ln>
          </p:spPr>
        </p:pic>
        <p:pic>
          <p:nvPicPr>
            <p:cNvPr descr="Shopee_logo_en-02.png" id="22" name="Google Shape;22;p9"/>
            <p:cNvPicPr preferRelativeResize="0"/>
            <p:nvPr/>
          </p:nvPicPr>
          <p:blipFill rotWithShape="1">
            <a:blip r:embed="rId2">
              <a:alphaModFix/>
            </a:blip>
            <a:srcRect b="24308" l="62438" r="1516" t="10174"/>
            <a:stretch/>
          </p:blipFill>
          <p:spPr>
            <a:xfrm>
              <a:off x="977822" y="0"/>
              <a:ext cx="1223717" cy="1026513"/>
            </a:xfrm>
            <a:prstGeom prst="rect">
              <a:avLst/>
            </a:prstGeom>
            <a:noFill/>
            <a:ln>
              <a:noFill/>
            </a:ln>
          </p:spPr>
        </p:pic>
      </p:grpSp>
      <p:cxnSp>
        <p:nvCxnSpPr>
          <p:cNvPr id="23" name="Google Shape;23;p9"/>
          <p:cNvCxnSpPr/>
          <p:nvPr/>
        </p:nvCxnSpPr>
        <p:spPr>
          <a:xfrm>
            <a:off x="2887264" y="1451377"/>
            <a:ext cx="20354934" cy="1"/>
          </a:xfrm>
          <a:prstGeom prst="straightConnector1">
            <a:avLst/>
          </a:prstGeom>
          <a:noFill/>
          <a:ln cap="flat" cmpd="sng" w="50800">
            <a:solidFill>
              <a:srgbClr val="EE4D2D"/>
            </a:solidFill>
            <a:prstDash val="solid"/>
            <a:miter lim="400000"/>
            <a:headEnd len="sm" w="sm" type="none"/>
            <a:tailEnd len="sm" w="sm" type="none"/>
          </a:ln>
        </p:spPr>
      </p:cxnSp>
      <p:sp>
        <p:nvSpPr>
          <p:cNvPr id="24" name="Google Shape;24;p9"/>
          <p:cNvSpPr txBox="1"/>
          <p:nvPr>
            <p:ph type="title"/>
          </p:nvPr>
        </p:nvSpPr>
        <p:spPr>
          <a:xfrm>
            <a:off x="2794930" y="164802"/>
            <a:ext cx="18086111" cy="1462945"/>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EE4D2D"/>
              </a:buClr>
              <a:buSzPts val="6000"/>
              <a:buFont typeface="Open Sans"/>
              <a:buNone/>
              <a:defRPr sz="6000"/>
            </a:lvl1pPr>
            <a:lvl2pPr lvl="1" algn="ctr">
              <a:lnSpc>
                <a:spcPct val="100000"/>
              </a:lnSpc>
              <a:spcBef>
                <a:spcPts val="0"/>
              </a:spcBef>
              <a:spcAft>
                <a:spcPts val="0"/>
              </a:spcAft>
              <a:buClr>
                <a:srgbClr val="EE4D2D"/>
              </a:buClr>
              <a:buSzPts val="1800"/>
              <a:buNone/>
              <a:defRPr/>
            </a:lvl2pPr>
            <a:lvl3pPr lvl="2" algn="ctr">
              <a:lnSpc>
                <a:spcPct val="100000"/>
              </a:lnSpc>
              <a:spcBef>
                <a:spcPts val="0"/>
              </a:spcBef>
              <a:spcAft>
                <a:spcPts val="0"/>
              </a:spcAft>
              <a:buClr>
                <a:srgbClr val="EE4D2D"/>
              </a:buClr>
              <a:buSzPts val="1800"/>
              <a:buNone/>
              <a:defRPr/>
            </a:lvl3pPr>
            <a:lvl4pPr lvl="3" algn="ctr">
              <a:lnSpc>
                <a:spcPct val="100000"/>
              </a:lnSpc>
              <a:spcBef>
                <a:spcPts val="0"/>
              </a:spcBef>
              <a:spcAft>
                <a:spcPts val="0"/>
              </a:spcAft>
              <a:buClr>
                <a:srgbClr val="EE4D2D"/>
              </a:buClr>
              <a:buSzPts val="1800"/>
              <a:buNone/>
              <a:defRPr/>
            </a:lvl4pPr>
            <a:lvl5pPr lvl="4" algn="ctr">
              <a:lnSpc>
                <a:spcPct val="100000"/>
              </a:lnSpc>
              <a:spcBef>
                <a:spcPts val="0"/>
              </a:spcBef>
              <a:spcAft>
                <a:spcPts val="0"/>
              </a:spcAft>
              <a:buClr>
                <a:srgbClr val="EE4D2D"/>
              </a:buClr>
              <a:buSzPts val="1800"/>
              <a:buNone/>
              <a:defRPr/>
            </a:lvl5pPr>
            <a:lvl6pPr lvl="5" algn="ctr">
              <a:lnSpc>
                <a:spcPct val="100000"/>
              </a:lnSpc>
              <a:spcBef>
                <a:spcPts val="0"/>
              </a:spcBef>
              <a:spcAft>
                <a:spcPts val="0"/>
              </a:spcAft>
              <a:buClr>
                <a:srgbClr val="EE4D2D"/>
              </a:buClr>
              <a:buSzPts val="1800"/>
              <a:buNone/>
              <a:defRPr/>
            </a:lvl6pPr>
            <a:lvl7pPr lvl="6" algn="ctr">
              <a:lnSpc>
                <a:spcPct val="100000"/>
              </a:lnSpc>
              <a:spcBef>
                <a:spcPts val="0"/>
              </a:spcBef>
              <a:spcAft>
                <a:spcPts val="0"/>
              </a:spcAft>
              <a:buClr>
                <a:srgbClr val="EE4D2D"/>
              </a:buClr>
              <a:buSzPts val="1800"/>
              <a:buNone/>
              <a:defRPr/>
            </a:lvl7pPr>
            <a:lvl8pPr lvl="7" algn="ctr">
              <a:lnSpc>
                <a:spcPct val="100000"/>
              </a:lnSpc>
              <a:spcBef>
                <a:spcPts val="0"/>
              </a:spcBef>
              <a:spcAft>
                <a:spcPts val="0"/>
              </a:spcAft>
              <a:buClr>
                <a:srgbClr val="EE4D2D"/>
              </a:buClr>
              <a:buSzPts val="1800"/>
              <a:buNone/>
              <a:defRPr/>
            </a:lvl8pPr>
            <a:lvl9pPr lvl="8" algn="ctr">
              <a:lnSpc>
                <a:spcPct val="100000"/>
              </a:lnSpc>
              <a:spcBef>
                <a:spcPts val="0"/>
              </a:spcBef>
              <a:spcAft>
                <a:spcPts val="0"/>
              </a:spcAft>
              <a:buClr>
                <a:srgbClr val="EE4D2D"/>
              </a:buClr>
              <a:buSzPts val="1800"/>
              <a:buNone/>
              <a:defRPr/>
            </a:lvl9pPr>
          </a:lstStyle>
          <a:p/>
        </p:txBody>
      </p:sp>
      <p:sp>
        <p:nvSpPr>
          <p:cNvPr id="25" name="Google Shape;25;p9"/>
          <p:cNvSpPr txBox="1"/>
          <p:nvPr>
            <p:ph idx="12" type="sldNum"/>
          </p:nvPr>
        </p:nvSpPr>
        <p:spPr>
          <a:xfrm>
            <a:off x="23380409" y="12759376"/>
            <a:ext cx="462856" cy="5207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1pPr>
            <a:lvl2pPr indent="0" lvl="1"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2pPr>
            <a:lvl3pPr indent="0" lvl="2"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3pPr>
            <a:lvl4pPr indent="0" lvl="3"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4pPr>
            <a:lvl5pPr indent="0" lvl="4"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5pPr>
            <a:lvl6pPr indent="0" lvl="5"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6pPr>
            <a:lvl7pPr indent="0" lvl="6"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7pPr>
            <a:lvl8pPr indent="0" lvl="7"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8pPr>
            <a:lvl9pPr indent="0" lvl="8" marL="0" marR="0" algn="ctr">
              <a:lnSpc>
                <a:spcPct val="100000"/>
              </a:lnSpc>
              <a:spcBef>
                <a:spcPts val="0"/>
              </a:spcBef>
              <a:spcAft>
                <a:spcPts val="0"/>
              </a:spcAft>
              <a:buClr>
                <a:srgbClr val="000000"/>
              </a:buClr>
              <a:buSzPts val="2400"/>
              <a:buFont typeface="Open Sans"/>
              <a:buNone/>
              <a:defRPr b="0" i="0" sz="2400" u="none" cap="none" strike="noStrike">
                <a:solidFill>
                  <a:srgbClr val="000000"/>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py" showMasterSp="0">
  <p:cSld name="Title copy">
    <p:spTree>
      <p:nvGrpSpPr>
        <p:cNvPr id="26" name="Shape 26"/>
        <p:cNvGrpSpPr/>
        <p:nvPr/>
      </p:nvGrpSpPr>
      <p:grpSpPr>
        <a:xfrm>
          <a:off x="0" y="0"/>
          <a:ext cx="0" cy="0"/>
          <a:chOff x="0" y="0"/>
          <a:chExt cx="0" cy="0"/>
        </a:xfrm>
      </p:grpSpPr>
      <p:sp>
        <p:nvSpPr>
          <p:cNvPr id="27" name="Google Shape;27;p10"/>
          <p:cNvSpPr txBox="1"/>
          <p:nvPr>
            <p:ph type="title"/>
          </p:nvPr>
        </p:nvSpPr>
        <p:spPr>
          <a:xfrm>
            <a:off x="1778000" y="5723844"/>
            <a:ext cx="20828002" cy="226831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EE4D2D"/>
              </a:buClr>
              <a:buSzPts val="1800"/>
              <a:buNone/>
              <a:defRPr/>
            </a:lvl1pPr>
            <a:lvl2pPr lvl="1" algn="ctr">
              <a:lnSpc>
                <a:spcPct val="100000"/>
              </a:lnSpc>
              <a:spcBef>
                <a:spcPts val="0"/>
              </a:spcBef>
              <a:spcAft>
                <a:spcPts val="0"/>
              </a:spcAft>
              <a:buClr>
                <a:srgbClr val="EE4D2D"/>
              </a:buClr>
              <a:buSzPts val="1800"/>
              <a:buNone/>
              <a:defRPr/>
            </a:lvl2pPr>
            <a:lvl3pPr lvl="2" algn="ctr">
              <a:lnSpc>
                <a:spcPct val="100000"/>
              </a:lnSpc>
              <a:spcBef>
                <a:spcPts val="0"/>
              </a:spcBef>
              <a:spcAft>
                <a:spcPts val="0"/>
              </a:spcAft>
              <a:buClr>
                <a:srgbClr val="EE4D2D"/>
              </a:buClr>
              <a:buSzPts val="1800"/>
              <a:buNone/>
              <a:defRPr/>
            </a:lvl3pPr>
            <a:lvl4pPr lvl="3" algn="ctr">
              <a:lnSpc>
                <a:spcPct val="100000"/>
              </a:lnSpc>
              <a:spcBef>
                <a:spcPts val="0"/>
              </a:spcBef>
              <a:spcAft>
                <a:spcPts val="0"/>
              </a:spcAft>
              <a:buClr>
                <a:srgbClr val="EE4D2D"/>
              </a:buClr>
              <a:buSzPts val="1800"/>
              <a:buNone/>
              <a:defRPr/>
            </a:lvl4pPr>
            <a:lvl5pPr lvl="4" algn="ctr">
              <a:lnSpc>
                <a:spcPct val="100000"/>
              </a:lnSpc>
              <a:spcBef>
                <a:spcPts val="0"/>
              </a:spcBef>
              <a:spcAft>
                <a:spcPts val="0"/>
              </a:spcAft>
              <a:buClr>
                <a:srgbClr val="EE4D2D"/>
              </a:buClr>
              <a:buSzPts val="1800"/>
              <a:buNone/>
              <a:defRPr/>
            </a:lvl5pPr>
            <a:lvl6pPr lvl="5" algn="ctr">
              <a:lnSpc>
                <a:spcPct val="100000"/>
              </a:lnSpc>
              <a:spcBef>
                <a:spcPts val="0"/>
              </a:spcBef>
              <a:spcAft>
                <a:spcPts val="0"/>
              </a:spcAft>
              <a:buClr>
                <a:srgbClr val="EE4D2D"/>
              </a:buClr>
              <a:buSzPts val="1800"/>
              <a:buNone/>
              <a:defRPr/>
            </a:lvl6pPr>
            <a:lvl7pPr lvl="6" algn="ctr">
              <a:lnSpc>
                <a:spcPct val="100000"/>
              </a:lnSpc>
              <a:spcBef>
                <a:spcPts val="0"/>
              </a:spcBef>
              <a:spcAft>
                <a:spcPts val="0"/>
              </a:spcAft>
              <a:buClr>
                <a:srgbClr val="EE4D2D"/>
              </a:buClr>
              <a:buSzPts val="1800"/>
              <a:buNone/>
              <a:defRPr/>
            </a:lvl7pPr>
            <a:lvl8pPr lvl="7" algn="ctr">
              <a:lnSpc>
                <a:spcPct val="100000"/>
              </a:lnSpc>
              <a:spcBef>
                <a:spcPts val="0"/>
              </a:spcBef>
              <a:spcAft>
                <a:spcPts val="0"/>
              </a:spcAft>
              <a:buClr>
                <a:srgbClr val="EE4D2D"/>
              </a:buClr>
              <a:buSzPts val="1800"/>
              <a:buNone/>
              <a:defRPr/>
            </a:lvl8pPr>
            <a:lvl9pPr lvl="8" algn="ctr">
              <a:lnSpc>
                <a:spcPct val="100000"/>
              </a:lnSpc>
              <a:spcBef>
                <a:spcPts val="0"/>
              </a:spcBef>
              <a:spcAft>
                <a:spcPts val="0"/>
              </a:spcAft>
              <a:buClr>
                <a:srgbClr val="EE4D2D"/>
              </a:buClr>
              <a:buSzPts val="1800"/>
              <a:buNone/>
              <a:defRPr/>
            </a:lvl9pPr>
          </a:lstStyle>
          <a:p/>
        </p:txBody>
      </p:sp>
      <p:sp>
        <p:nvSpPr>
          <p:cNvPr id="28" name="Google Shape;28;p10"/>
          <p:cNvSpPr txBox="1"/>
          <p:nvPr>
            <p:ph idx="1" type="body"/>
          </p:nvPr>
        </p:nvSpPr>
        <p:spPr>
          <a:xfrm>
            <a:off x="1778000" y="8931064"/>
            <a:ext cx="20828000" cy="1587502"/>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EE4D2D"/>
              </a:buClr>
              <a:buSzPts val="1800"/>
              <a:buNone/>
              <a:defRPr/>
            </a:lvl1pPr>
            <a:lvl2pPr indent="-228600" lvl="1" marL="914400" algn="ctr">
              <a:lnSpc>
                <a:spcPct val="100000"/>
              </a:lnSpc>
              <a:spcBef>
                <a:spcPts val="0"/>
              </a:spcBef>
              <a:spcAft>
                <a:spcPts val="0"/>
              </a:spcAft>
              <a:buClr>
                <a:srgbClr val="EE4D2D"/>
              </a:buClr>
              <a:buSzPts val="1800"/>
              <a:buNone/>
              <a:defRPr/>
            </a:lvl2pPr>
            <a:lvl3pPr indent="-228600" lvl="2" marL="1371600" algn="ctr">
              <a:lnSpc>
                <a:spcPct val="100000"/>
              </a:lnSpc>
              <a:spcBef>
                <a:spcPts val="0"/>
              </a:spcBef>
              <a:spcAft>
                <a:spcPts val="0"/>
              </a:spcAft>
              <a:buClr>
                <a:srgbClr val="EE4D2D"/>
              </a:buClr>
              <a:buSzPts val="1800"/>
              <a:buNone/>
              <a:defRPr/>
            </a:lvl3pPr>
            <a:lvl4pPr indent="-228600" lvl="3" marL="1828800" algn="ctr">
              <a:lnSpc>
                <a:spcPct val="100000"/>
              </a:lnSpc>
              <a:spcBef>
                <a:spcPts val="0"/>
              </a:spcBef>
              <a:spcAft>
                <a:spcPts val="0"/>
              </a:spcAft>
              <a:buClr>
                <a:srgbClr val="EE4D2D"/>
              </a:buClr>
              <a:buSzPts val="1800"/>
              <a:buNone/>
              <a:defRPr/>
            </a:lvl4pPr>
            <a:lvl5pPr indent="-228600" lvl="4" marL="2286000" algn="ctr">
              <a:lnSpc>
                <a:spcPct val="100000"/>
              </a:lnSpc>
              <a:spcBef>
                <a:spcPts val="0"/>
              </a:spcBef>
              <a:spcAft>
                <a:spcPts val="0"/>
              </a:spcAft>
              <a:buClr>
                <a:srgbClr val="EE4D2D"/>
              </a:buClr>
              <a:buSzPts val="1800"/>
              <a:buNone/>
              <a:defRPr/>
            </a:lvl5pPr>
            <a:lvl6pPr indent="-371475" lvl="5" marL="2743200" algn="ctr">
              <a:lnSpc>
                <a:spcPct val="100000"/>
              </a:lnSpc>
              <a:spcBef>
                <a:spcPts val="0"/>
              </a:spcBef>
              <a:spcAft>
                <a:spcPts val="0"/>
              </a:spcAft>
              <a:buClr>
                <a:srgbClr val="EE4D2D"/>
              </a:buClr>
              <a:buSzPts val="2250"/>
              <a:buChar char="•"/>
              <a:defRPr/>
            </a:lvl6pPr>
            <a:lvl7pPr indent="-371475" lvl="6" marL="3200400" algn="ctr">
              <a:lnSpc>
                <a:spcPct val="100000"/>
              </a:lnSpc>
              <a:spcBef>
                <a:spcPts val="0"/>
              </a:spcBef>
              <a:spcAft>
                <a:spcPts val="0"/>
              </a:spcAft>
              <a:buClr>
                <a:srgbClr val="EE4D2D"/>
              </a:buClr>
              <a:buSzPts val="2250"/>
              <a:buChar char="•"/>
              <a:defRPr/>
            </a:lvl7pPr>
            <a:lvl8pPr indent="-371475" lvl="7" marL="3657600" algn="ctr">
              <a:lnSpc>
                <a:spcPct val="100000"/>
              </a:lnSpc>
              <a:spcBef>
                <a:spcPts val="0"/>
              </a:spcBef>
              <a:spcAft>
                <a:spcPts val="0"/>
              </a:spcAft>
              <a:buClr>
                <a:srgbClr val="EE4D2D"/>
              </a:buClr>
              <a:buSzPts val="2250"/>
              <a:buChar char="•"/>
              <a:defRPr/>
            </a:lvl8pPr>
            <a:lvl9pPr indent="-371475" lvl="8" marL="4114800" algn="ctr">
              <a:lnSpc>
                <a:spcPct val="100000"/>
              </a:lnSpc>
              <a:spcBef>
                <a:spcPts val="0"/>
              </a:spcBef>
              <a:spcAft>
                <a:spcPts val="0"/>
              </a:spcAft>
              <a:buClr>
                <a:srgbClr val="EE4D2D"/>
              </a:buClr>
              <a:buSzPts val="2250"/>
              <a:buChar char="•"/>
              <a:defRPr/>
            </a:lvl9pPr>
          </a:lstStyle>
          <a:p/>
        </p:txBody>
      </p:sp>
      <p:sp>
        <p:nvSpPr>
          <p:cNvPr id="29" name="Google Shape;29;p10"/>
          <p:cNvSpPr/>
          <p:nvPr/>
        </p:nvSpPr>
        <p:spPr>
          <a:xfrm>
            <a:off x="15052" y="12422441"/>
            <a:ext cx="24399962" cy="2268310"/>
          </a:xfrm>
          <a:prstGeom prst="rect">
            <a:avLst/>
          </a:prstGeom>
          <a:solidFill>
            <a:srgbClr val="06008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sp>
        <p:nvSpPr>
          <p:cNvPr id="30" name="Google Shape;30;p10"/>
          <p:cNvSpPr/>
          <p:nvPr/>
        </p:nvSpPr>
        <p:spPr>
          <a:xfrm>
            <a:off x="-31014" y="12422441"/>
            <a:ext cx="12204700" cy="2268310"/>
          </a:xfrm>
          <a:prstGeom prst="rect">
            <a:avLst/>
          </a:prstGeom>
          <a:solidFill>
            <a:srgbClr val="EE4D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pic>
        <p:nvPicPr>
          <p:cNvPr descr="Shopee_logo_en-03.png" id="31" name="Google Shape;31;p10"/>
          <p:cNvPicPr preferRelativeResize="0"/>
          <p:nvPr/>
        </p:nvPicPr>
        <p:blipFill rotWithShape="1">
          <a:blip r:embed="rId2">
            <a:alphaModFix/>
          </a:blip>
          <a:srcRect b="0" l="0" r="0" t="0"/>
          <a:stretch/>
        </p:blipFill>
        <p:spPr>
          <a:xfrm>
            <a:off x="7841199" y="2091993"/>
            <a:ext cx="8701602" cy="1499907"/>
          </a:xfrm>
          <a:prstGeom prst="rect">
            <a:avLst/>
          </a:prstGeom>
          <a:noFill/>
          <a:ln>
            <a:noFill/>
          </a:ln>
        </p:spPr>
      </p:pic>
      <p:sp>
        <p:nvSpPr>
          <p:cNvPr id="32" name="Google Shape;32;p10"/>
          <p:cNvSpPr txBox="1"/>
          <p:nvPr>
            <p:ph idx="12" type="sldNum"/>
          </p:nvPr>
        </p:nvSpPr>
        <p:spPr>
          <a:xfrm>
            <a:off x="23384009" y="12808395"/>
            <a:ext cx="433811" cy="4826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1pPr>
            <a:lvl2pPr indent="0" lvl="1"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2pPr>
            <a:lvl3pPr indent="0" lvl="2"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3pPr>
            <a:lvl4pPr indent="0" lvl="3"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4pPr>
            <a:lvl5pPr indent="0" lvl="4"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5pPr>
            <a:lvl6pPr indent="0" lvl="5"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6pPr>
            <a:lvl7pPr indent="0" lvl="6"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7pPr>
            <a:lvl8pPr indent="0" lvl="7"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8pPr>
            <a:lvl9pPr indent="0" lvl="8"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spTree>
      <p:nvGrpSpPr>
        <p:cNvPr id="33" name="Shape 33"/>
        <p:cNvGrpSpPr/>
        <p:nvPr/>
      </p:nvGrpSpPr>
      <p:grpSpPr>
        <a:xfrm>
          <a:off x="0" y="0"/>
          <a:ext cx="0" cy="0"/>
          <a:chOff x="0" y="0"/>
          <a:chExt cx="0" cy="0"/>
        </a:xfrm>
      </p:grpSpPr>
      <p:sp>
        <p:nvSpPr>
          <p:cNvPr id="34" name="Google Shape;34;p11"/>
          <p:cNvSpPr txBox="1"/>
          <p:nvPr>
            <p:ph type="title"/>
          </p:nvPr>
        </p:nvSpPr>
        <p:spPr>
          <a:xfrm>
            <a:off x="1778000" y="5723844"/>
            <a:ext cx="20828002" cy="226831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EE4D2D"/>
              </a:buClr>
              <a:buSzPts val="1800"/>
              <a:buNone/>
              <a:defRPr/>
            </a:lvl1pPr>
            <a:lvl2pPr lvl="1" algn="ctr">
              <a:lnSpc>
                <a:spcPct val="100000"/>
              </a:lnSpc>
              <a:spcBef>
                <a:spcPts val="0"/>
              </a:spcBef>
              <a:spcAft>
                <a:spcPts val="0"/>
              </a:spcAft>
              <a:buClr>
                <a:srgbClr val="EE4D2D"/>
              </a:buClr>
              <a:buSzPts val="1800"/>
              <a:buNone/>
              <a:defRPr/>
            </a:lvl2pPr>
            <a:lvl3pPr lvl="2" algn="ctr">
              <a:lnSpc>
                <a:spcPct val="100000"/>
              </a:lnSpc>
              <a:spcBef>
                <a:spcPts val="0"/>
              </a:spcBef>
              <a:spcAft>
                <a:spcPts val="0"/>
              </a:spcAft>
              <a:buClr>
                <a:srgbClr val="EE4D2D"/>
              </a:buClr>
              <a:buSzPts val="1800"/>
              <a:buNone/>
              <a:defRPr/>
            </a:lvl3pPr>
            <a:lvl4pPr lvl="3" algn="ctr">
              <a:lnSpc>
                <a:spcPct val="100000"/>
              </a:lnSpc>
              <a:spcBef>
                <a:spcPts val="0"/>
              </a:spcBef>
              <a:spcAft>
                <a:spcPts val="0"/>
              </a:spcAft>
              <a:buClr>
                <a:srgbClr val="EE4D2D"/>
              </a:buClr>
              <a:buSzPts val="1800"/>
              <a:buNone/>
              <a:defRPr/>
            </a:lvl4pPr>
            <a:lvl5pPr lvl="4" algn="ctr">
              <a:lnSpc>
                <a:spcPct val="100000"/>
              </a:lnSpc>
              <a:spcBef>
                <a:spcPts val="0"/>
              </a:spcBef>
              <a:spcAft>
                <a:spcPts val="0"/>
              </a:spcAft>
              <a:buClr>
                <a:srgbClr val="EE4D2D"/>
              </a:buClr>
              <a:buSzPts val="1800"/>
              <a:buNone/>
              <a:defRPr/>
            </a:lvl5pPr>
            <a:lvl6pPr lvl="5" algn="ctr">
              <a:lnSpc>
                <a:spcPct val="100000"/>
              </a:lnSpc>
              <a:spcBef>
                <a:spcPts val="0"/>
              </a:spcBef>
              <a:spcAft>
                <a:spcPts val="0"/>
              </a:spcAft>
              <a:buClr>
                <a:srgbClr val="EE4D2D"/>
              </a:buClr>
              <a:buSzPts val="1800"/>
              <a:buNone/>
              <a:defRPr/>
            </a:lvl6pPr>
            <a:lvl7pPr lvl="6" algn="ctr">
              <a:lnSpc>
                <a:spcPct val="100000"/>
              </a:lnSpc>
              <a:spcBef>
                <a:spcPts val="0"/>
              </a:spcBef>
              <a:spcAft>
                <a:spcPts val="0"/>
              </a:spcAft>
              <a:buClr>
                <a:srgbClr val="EE4D2D"/>
              </a:buClr>
              <a:buSzPts val="1800"/>
              <a:buNone/>
              <a:defRPr/>
            </a:lvl7pPr>
            <a:lvl8pPr lvl="7" algn="ctr">
              <a:lnSpc>
                <a:spcPct val="100000"/>
              </a:lnSpc>
              <a:spcBef>
                <a:spcPts val="0"/>
              </a:spcBef>
              <a:spcAft>
                <a:spcPts val="0"/>
              </a:spcAft>
              <a:buClr>
                <a:srgbClr val="EE4D2D"/>
              </a:buClr>
              <a:buSzPts val="1800"/>
              <a:buNone/>
              <a:defRPr/>
            </a:lvl8pPr>
            <a:lvl9pPr lvl="8" algn="ctr">
              <a:lnSpc>
                <a:spcPct val="100000"/>
              </a:lnSpc>
              <a:spcBef>
                <a:spcPts val="0"/>
              </a:spcBef>
              <a:spcAft>
                <a:spcPts val="0"/>
              </a:spcAft>
              <a:buClr>
                <a:srgbClr val="EE4D2D"/>
              </a:buClr>
              <a:buSzPts val="1800"/>
              <a:buNone/>
              <a:defRPr/>
            </a:lvl9pPr>
          </a:lstStyle>
          <a:p/>
        </p:txBody>
      </p:sp>
      <p:sp>
        <p:nvSpPr>
          <p:cNvPr id="35" name="Google Shape;35;p11"/>
          <p:cNvSpPr/>
          <p:nvPr/>
        </p:nvSpPr>
        <p:spPr>
          <a:xfrm>
            <a:off x="15052" y="12422441"/>
            <a:ext cx="24399962" cy="2268310"/>
          </a:xfrm>
          <a:prstGeom prst="rect">
            <a:avLst/>
          </a:prstGeom>
          <a:solidFill>
            <a:srgbClr val="06008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sp>
        <p:nvSpPr>
          <p:cNvPr id="36" name="Google Shape;36;p11"/>
          <p:cNvSpPr/>
          <p:nvPr/>
        </p:nvSpPr>
        <p:spPr>
          <a:xfrm>
            <a:off x="-31014" y="12422441"/>
            <a:ext cx="12204700" cy="2268310"/>
          </a:xfrm>
          <a:prstGeom prst="rect">
            <a:avLst/>
          </a:prstGeom>
          <a:solidFill>
            <a:srgbClr val="EE4D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pic>
        <p:nvPicPr>
          <p:cNvPr descr="Shopee_logo_en-03.png" id="37" name="Google Shape;37;p11"/>
          <p:cNvPicPr preferRelativeResize="0"/>
          <p:nvPr/>
        </p:nvPicPr>
        <p:blipFill rotWithShape="1">
          <a:blip r:embed="rId2">
            <a:alphaModFix/>
          </a:blip>
          <a:srcRect b="0" l="0" r="0" t="0"/>
          <a:stretch/>
        </p:blipFill>
        <p:spPr>
          <a:xfrm>
            <a:off x="694442" y="509415"/>
            <a:ext cx="8701602" cy="1499907"/>
          </a:xfrm>
          <a:prstGeom prst="rect">
            <a:avLst/>
          </a:prstGeom>
          <a:noFill/>
          <a:ln>
            <a:noFill/>
          </a:ln>
        </p:spPr>
      </p:pic>
      <p:sp>
        <p:nvSpPr>
          <p:cNvPr id="38" name="Google Shape;38;p11"/>
          <p:cNvSpPr txBox="1"/>
          <p:nvPr>
            <p:ph idx="12" type="sldNum"/>
          </p:nvPr>
        </p:nvSpPr>
        <p:spPr>
          <a:xfrm>
            <a:off x="23384009" y="12808395"/>
            <a:ext cx="433811" cy="4826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1pPr>
            <a:lvl2pPr indent="0" lvl="1"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2pPr>
            <a:lvl3pPr indent="0" lvl="2"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3pPr>
            <a:lvl4pPr indent="0" lvl="3"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4pPr>
            <a:lvl5pPr indent="0" lvl="4"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5pPr>
            <a:lvl6pPr indent="0" lvl="5"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6pPr>
            <a:lvl7pPr indent="0" lvl="6"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7pPr>
            <a:lvl8pPr indent="0" lvl="7"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8pPr>
            <a:lvl9pPr indent="0" lvl="8" marL="0" marR="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1778000" y="6009594"/>
            <a:ext cx="20828002" cy="2268311"/>
          </a:xfrm>
          <a:prstGeom prst="rect">
            <a:avLst/>
          </a:prstGeom>
          <a:noFill/>
          <a:ln>
            <a:noFill/>
          </a:ln>
        </p:spPr>
        <p:txBody>
          <a:bodyPr anchorCtr="0" anchor="b" bIns="50800" lIns="50800" spcFirstLastPara="1" rIns="50800" wrap="square" tIns="50800">
            <a:normAutofit/>
          </a:bodyPr>
          <a:lstStyle>
            <a:lvl1pPr lvl="0"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1pPr>
            <a:lvl2pPr lvl="1"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2pPr>
            <a:lvl3pPr lvl="2"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3pPr>
            <a:lvl4pPr lvl="3"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4pPr>
            <a:lvl5pPr lvl="4"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5pPr>
            <a:lvl6pPr lvl="5"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6pPr>
            <a:lvl7pPr lvl="6"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7pPr>
            <a:lvl8pPr lvl="7"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8pPr>
            <a:lvl9pPr lvl="8" marR="0" rtl="0" algn="ctr">
              <a:lnSpc>
                <a:spcPct val="100000"/>
              </a:lnSpc>
              <a:spcBef>
                <a:spcPts val="0"/>
              </a:spcBef>
              <a:spcAft>
                <a:spcPts val="0"/>
              </a:spcAft>
              <a:buClr>
                <a:srgbClr val="EE4D2D"/>
              </a:buClr>
              <a:buSzPts val="11200"/>
              <a:buFont typeface="Open Sans"/>
              <a:buNone/>
              <a:defRPr b="1" i="0" sz="11200" u="none" cap="none" strike="noStrike">
                <a:solidFill>
                  <a:srgbClr val="EE4D2D"/>
                </a:solidFill>
                <a:latin typeface="Open Sans"/>
                <a:ea typeface="Open Sans"/>
                <a:cs typeface="Open Sans"/>
                <a:sym typeface="Open Sans"/>
              </a:defRPr>
            </a:lvl9pPr>
          </a:lstStyle>
          <a:p/>
        </p:txBody>
      </p:sp>
      <p:sp>
        <p:nvSpPr>
          <p:cNvPr id="7" name="Google Shape;7;p7"/>
          <p:cNvSpPr txBox="1"/>
          <p:nvPr>
            <p:ph idx="1" type="body"/>
          </p:nvPr>
        </p:nvSpPr>
        <p:spPr>
          <a:xfrm>
            <a:off x="1778000" y="8931064"/>
            <a:ext cx="20828000" cy="1587502"/>
          </a:xfrm>
          <a:prstGeom prst="rect">
            <a:avLst/>
          </a:prstGeom>
          <a:noFill/>
          <a:ln>
            <a:noFill/>
          </a:ln>
        </p:spPr>
        <p:txBody>
          <a:bodyPr anchorCtr="0" anchor="t" bIns="50800" lIns="50800" spcFirstLastPara="1" rIns="50800" wrap="square" tIns="50800">
            <a:normAutofit/>
          </a:bodyPr>
          <a:lstStyle>
            <a:lvl1pPr indent="-228600" lvl="0" marL="457200" marR="0" rtl="0" algn="ctr">
              <a:lnSpc>
                <a:spcPct val="100000"/>
              </a:lnSpc>
              <a:spcBef>
                <a:spcPts val="0"/>
              </a:spcBef>
              <a:spcAft>
                <a:spcPts val="0"/>
              </a:spcAft>
              <a:buClr>
                <a:srgbClr val="EE4D2D"/>
              </a:buClr>
              <a:buSzPts val="3600"/>
              <a:buFont typeface="Open Sans"/>
              <a:buNone/>
              <a:defRPr b="0" i="0" sz="3600" u="none" cap="none" strike="noStrike">
                <a:solidFill>
                  <a:srgbClr val="EE4D2D"/>
                </a:solidFill>
                <a:latin typeface="Open Sans"/>
                <a:ea typeface="Open Sans"/>
                <a:cs typeface="Open Sans"/>
                <a:sym typeface="Open Sans"/>
              </a:defRPr>
            </a:lvl1pPr>
            <a:lvl2pPr indent="-228600" lvl="1" marL="914400" marR="0" rtl="0" algn="ctr">
              <a:lnSpc>
                <a:spcPct val="100000"/>
              </a:lnSpc>
              <a:spcBef>
                <a:spcPts val="0"/>
              </a:spcBef>
              <a:spcAft>
                <a:spcPts val="0"/>
              </a:spcAft>
              <a:buClr>
                <a:srgbClr val="EE4D2D"/>
              </a:buClr>
              <a:buSzPts val="3600"/>
              <a:buFont typeface="Open Sans"/>
              <a:buNone/>
              <a:defRPr b="0" i="0" sz="3600" u="none" cap="none" strike="noStrike">
                <a:solidFill>
                  <a:srgbClr val="EE4D2D"/>
                </a:solidFill>
                <a:latin typeface="Open Sans"/>
                <a:ea typeface="Open Sans"/>
                <a:cs typeface="Open Sans"/>
                <a:sym typeface="Open Sans"/>
              </a:defRPr>
            </a:lvl2pPr>
            <a:lvl3pPr indent="-228600" lvl="2" marL="1371600" marR="0" rtl="0" algn="ctr">
              <a:lnSpc>
                <a:spcPct val="100000"/>
              </a:lnSpc>
              <a:spcBef>
                <a:spcPts val="0"/>
              </a:spcBef>
              <a:spcAft>
                <a:spcPts val="0"/>
              </a:spcAft>
              <a:buClr>
                <a:srgbClr val="EE4D2D"/>
              </a:buClr>
              <a:buSzPts val="3600"/>
              <a:buFont typeface="Open Sans"/>
              <a:buNone/>
              <a:defRPr b="0" i="0" sz="3600" u="none" cap="none" strike="noStrike">
                <a:solidFill>
                  <a:srgbClr val="EE4D2D"/>
                </a:solidFill>
                <a:latin typeface="Open Sans"/>
                <a:ea typeface="Open Sans"/>
                <a:cs typeface="Open Sans"/>
                <a:sym typeface="Open Sans"/>
              </a:defRPr>
            </a:lvl3pPr>
            <a:lvl4pPr indent="-228600" lvl="3" marL="1828800" marR="0" rtl="0" algn="ctr">
              <a:lnSpc>
                <a:spcPct val="100000"/>
              </a:lnSpc>
              <a:spcBef>
                <a:spcPts val="0"/>
              </a:spcBef>
              <a:spcAft>
                <a:spcPts val="0"/>
              </a:spcAft>
              <a:buClr>
                <a:srgbClr val="EE4D2D"/>
              </a:buClr>
              <a:buSzPts val="3600"/>
              <a:buFont typeface="Open Sans"/>
              <a:buNone/>
              <a:defRPr b="0" i="0" sz="3600" u="none" cap="none" strike="noStrike">
                <a:solidFill>
                  <a:srgbClr val="EE4D2D"/>
                </a:solidFill>
                <a:latin typeface="Open Sans"/>
                <a:ea typeface="Open Sans"/>
                <a:cs typeface="Open Sans"/>
                <a:sym typeface="Open Sans"/>
              </a:defRPr>
            </a:lvl4pPr>
            <a:lvl5pPr indent="-228600" lvl="4" marL="2286000" marR="0" rtl="0" algn="ctr">
              <a:lnSpc>
                <a:spcPct val="100000"/>
              </a:lnSpc>
              <a:spcBef>
                <a:spcPts val="0"/>
              </a:spcBef>
              <a:spcAft>
                <a:spcPts val="0"/>
              </a:spcAft>
              <a:buClr>
                <a:srgbClr val="EE4D2D"/>
              </a:buClr>
              <a:buSzPts val="3600"/>
              <a:buFont typeface="Open Sans"/>
              <a:buNone/>
              <a:defRPr b="0" i="0" sz="3600" u="none" cap="none" strike="noStrike">
                <a:solidFill>
                  <a:srgbClr val="EE4D2D"/>
                </a:solidFill>
                <a:latin typeface="Open Sans"/>
                <a:ea typeface="Open Sans"/>
                <a:cs typeface="Open Sans"/>
                <a:sym typeface="Open Sans"/>
              </a:defRPr>
            </a:lvl5pPr>
            <a:lvl6pPr indent="-514350" lvl="5" marL="2743200" marR="0" rtl="0" algn="ctr">
              <a:lnSpc>
                <a:spcPct val="100000"/>
              </a:lnSpc>
              <a:spcBef>
                <a:spcPts val="0"/>
              </a:spcBef>
              <a:spcAft>
                <a:spcPts val="0"/>
              </a:spcAft>
              <a:buClr>
                <a:srgbClr val="EE4D2D"/>
              </a:buClr>
              <a:buSzPts val="4500"/>
              <a:buFont typeface="Open Sans"/>
              <a:buChar char="•"/>
              <a:defRPr b="0" i="0" sz="3600" u="none" cap="none" strike="noStrike">
                <a:solidFill>
                  <a:srgbClr val="EE4D2D"/>
                </a:solidFill>
                <a:latin typeface="Open Sans"/>
                <a:ea typeface="Open Sans"/>
                <a:cs typeface="Open Sans"/>
                <a:sym typeface="Open Sans"/>
              </a:defRPr>
            </a:lvl6pPr>
            <a:lvl7pPr indent="-514350" lvl="6" marL="3200400" marR="0" rtl="0" algn="ctr">
              <a:lnSpc>
                <a:spcPct val="100000"/>
              </a:lnSpc>
              <a:spcBef>
                <a:spcPts val="0"/>
              </a:spcBef>
              <a:spcAft>
                <a:spcPts val="0"/>
              </a:spcAft>
              <a:buClr>
                <a:srgbClr val="EE4D2D"/>
              </a:buClr>
              <a:buSzPts val="4500"/>
              <a:buFont typeface="Open Sans"/>
              <a:buChar char="•"/>
              <a:defRPr b="0" i="0" sz="3600" u="none" cap="none" strike="noStrike">
                <a:solidFill>
                  <a:srgbClr val="EE4D2D"/>
                </a:solidFill>
                <a:latin typeface="Open Sans"/>
                <a:ea typeface="Open Sans"/>
                <a:cs typeface="Open Sans"/>
                <a:sym typeface="Open Sans"/>
              </a:defRPr>
            </a:lvl7pPr>
            <a:lvl8pPr indent="-514350" lvl="7" marL="3657600" marR="0" rtl="0" algn="ctr">
              <a:lnSpc>
                <a:spcPct val="100000"/>
              </a:lnSpc>
              <a:spcBef>
                <a:spcPts val="0"/>
              </a:spcBef>
              <a:spcAft>
                <a:spcPts val="0"/>
              </a:spcAft>
              <a:buClr>
                <a:srgbClr val="EE4D2D"/>
              </a:buClr>
              <a:buSzPts val="4500"/>
              <a:buFont typeface="Open Sans"/>
              <a:buChar char="•"/>
              <a:defRPr b="0" i="0" sz="3600" u="none" cap="none" strike="noStrike">
                <a:solidFill>
                  <a:srgbClr val="EE4D2D"/>
                </a:solidFill>
                <a:latin typeface="Open Sans"/>
                <a:ea typeface="Open Sans"/>
                <a:cs typeface="Open Sans"/>
                <a:sym typeface="Open Sans"/>
              </a:defRPr>
            </a:lvl8pPr>
            <a:lvl9pPr indent="-514350" lvl="8" marL="4114800" marR="0" rtl="0" algn="ctr">
              <a:lnSpc>
                <a:spcPct val="100000"/>
              </a:lnSpc>
              <a:spcBef>
                <a:spcPts val="0"/>
              </a:spcBef>
              <a:spcAft>
                <a:spcPts val="0"/>
              </a:spcAft>
              <a:buClr>
                <a:srgbClr val="EE4D2D"/>
              </a:buClr>
              <a:buSzPts val="4500"/>
              <a:buFont typeface="Open Sans"/>
              <a:buChar char="•"/>
              <a:defRPr b="0" i="0" sz="3600" u="none" cap="none" strike="noStrike">
                <a:solidFill>
                  <a:srgbClr val="EE4D2D"/>
                </a:solidFill>
                <a:latin typeface="Open Sans"/>
                <a:ea typeface="Open Sans"/>
                <a:cs typeface="Open Sans"/>
                <a:sym typeface="Open Sans"/>
              </a:defRPr>
            </a:lvl9pPr>
          </a:lstStyle>
          <a:p/>
        </p:txBody>
      </p:sp>
      <p:sp>
        <p:nvSpPr>
          <p:cNvPr id="8" name="Google Shape;8;p7"/>
          <p:cNvSpPr/>
          <p:nvPr/>
        </p:nvSpPr>
        <p:spPr>
          <a:xfrm>
            <a:off x="15052" y="12422441"/>
            <a:ext cx="24399962" cy="2268310"/>
          </a:xfrm>
          <a:prstGeom prst="rect">
            <a:avLst/>
          </a:prstGeom>
          <a:solidFill>
            <a:srgbClr val="06008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sp>
        <p:nvSpPr>
          <p:cNvPr id="9" name="Google Shape;9;p7"/>
          <p:cNvSpPr/>
          <p:nvPr/>
        </p:nvSpPr>
        <p:spPr>
          <a:xfrm>
            <a:off x="-31014" y="12422441"/>
            <a:ext cx="12204700" cy="2268310"/>
          </a:xfrm>
          <a:prstGeom prst="rect">
            <a:avLst/>
          </a:prstGeom>
          <a:solidFill>
            <a:srgbClr val="EE4D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Helvetica Neue"/>
              <a:buNone/>
            </a:pPr>
            <a:r>
              <a:t/>
            </a:r>
            <a:endParaRPr b="0" i="0" sz="3000" u="none" cap="none" strike="noStrike">
              <a:solidFill>
                <a:srgbClr val="000000"/>
              </a:solidFill>
              <a:latin typeface="Helvetica Neue"/>
              <a:ea typeface="Helvetica Neue"/>
              <a:cs typeface="Helvetica Neue"/>
              <a:sym typeface="Helvetica Neue"/>
            </a:endParaRPr>
          </a:p>
        </p:txBody>
      </p:sp>
      <p:grpSp>
        <p:nvGrpSpPr>
          <p:cNvPr id="10" name="Google Shape;10;p7"/>
          <p:cNvGrpSpPr/>
          <p:nvPr/>
        </p:nvGrpSpPr>
        <p:grpSpPr>
          <a:xfrm>
            <a:off x="9372073" y="2726737"/>
            <a:ext cx="5639854" cy="2629700"/>
            <a:chOff x="0" y="0"/>
            <a:chExt cx="5639853" cy="2629699"/>
          </a:xfrm>
        </p:grpSpPr>
        <p:pic>
          <p:nvPicPr>
            <p:cNvPr descr="Shopee_logo_en-02.png" id="11" name="Google Shape;11;p7"/>
            <p:cNvPicPr preferRelativeResize="0"/>
            <p:nvPr/>
          </p:nvPicPr>
          <p:blipFill rotWithShape="1">
            <a:blip r:embed="rId1">
              <a:alphaModFix/>
            </a:blip>
            <a:srcRect b="24308" l="2858" r="66963" t="10174"/>
            <a:stretch/>
          </p:blipFill>
          <p:spPr>
            <a:xfrm>
              <a:off x="0" y="0"/>
              <a:ext cx="2624564" cy="2629699"/>
            </a:xfrm>
            <a:prstGeom prst="rect">
              <a:avLst/>
            </a:prstGeom>
            <a:noFill/>
            <a:ln>
              <a:noFill/>
            </a:ln>
          </p:spPr>
        </p:pic>
        <p:pic>
          <p:nvPicPr>
            <p:cNvPr descr="Shopee_logo_en-02.png" id="12" name="Google Shape;12;p7"/>
            <p:cNvPicPr preferRelativeResize="0"/>
            <p:nvPr/>
          </p:nvPicPr>
          <p:blipFill rotWithShape="1">
            <a:blip r:embed="rId1">
              <a:alphaModFix/>
            </a:blip>
            <a:srcRect b="24308" l="62438" r="1516" t="10174"/>
            <a:stretch/>
          </p:blipFill>
          <p:spPr>
            <a:xfrm>
              <a:off x="2504963" y="0"/>
              <a:ext cx="3134890" cy="2629699"/>
            </a:xfrm>
            <a:prstGeom prst="rect">
              <a:avLst/>
            </a:prstGeom>
            <a:noFill/>
            <a:ln>
              <a:noFill/>
            </a:ln>
          </p:spPr>
        </p:pic>
      </p:grpSp>
      <p:sp>
        <p:nvSpPr>
          <p:cNvPr id="13" name="Google Shape;13;p7"/>
          <p:cNvSpPr txBox="1"/>
          <p:nvPr>
            <p:ph idx="12" type="sldNum"/>
          </p:nvPr>
        </p:nvSpPr>
        <p:spPr>
          <a:xfrm>
            <a:off x="23384009" y="12808395"/>
            <a:ext cx="433811" cy="482601"/>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1pPr>
            <a:lvl2pPr indent="0" lvl="1"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2pPr>
            <a:lvl3pPr indent="0" lvl="2"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3pPr>
            <a:lvl4pPr indent="0" lvl="3"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4pPr>
            <a:lvl5pPr indent="0" lvl="4"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5pPr>
            <a:lvl6pPr indent="0" lvl="5"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6pPr>
            <a:lvl7pPr indent="0" lvl="6"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7pPr>
            <a:lvl8pPr indent="0" lvl="7"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8pPr>
            <a:lvl9pPr indent="0" lvl="8" marL="0" marR="0" rtl="0" algn="ctr">
              <a:lnSpc>
                <a:spcPct val="100000"/>
              </a:lnSpc>
              <a:spcBef>
                <a:spcPts val="0"/>
              </a:spcBef>
              <a:spcAft>
                <a:spcPts val="0"/>
              </a:spcAft>
              <a:buClr>
                <a:srgbClr val="929292"/>
              </a:buClr>
              <a:buSzPts val="2200"/>
              <a:buFont typeface="Open Sans"/>
              <a:buNone/>
              <a:defRPr b="0" i="0" sz="2200" u="none" cap="none" strike="noStrike">
                <a:solidFill>
                  <a:srgbClr val="92929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hyperlink" Target="https://github.com/Vonng/ddia" TargetMode="External"/><Relationship Id="rId5" Type="http://schemas.openxmlformats.org/officeDocument/2006/relationships/hyperlink" Target="https://vonng.gitbooks.io/ddia-cn/content/" TargetMode="External"/><Relationship Id="rId6" Type="http://schemas.openxmlformats.org/officeDocument/2006/relationships/hyperlink" Target="https://github.com/ept/ddia-references" TargetMode="External"/><Relationship Id="rId7" Type="http://schemas.openxmlformats.org/officeDocument/2006/relationships/hyperlink" Target="https://ddia.qtmuniao.com/#/" TargetMode="External"/><Relationship Id="rId8"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4.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0.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hyperlink" Target="https://tanxinyu.work/consistency-and-consensu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nvSpPr>
        <p:spPr>
          <a:xfrm>
            <a:off x="3814350" y="6212500"/>
            <a:ext cx="18404700" cy="31812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EE4D2D"/>
              </a:buClr>
              <a:buSzPts val="10000"/>
              <a:buFont typeface="Open Sans"/>
              <a:buNone/>
            </a:pPr>
            <a:r>
              <a:rPr b="1" lang="zh-CN" sz="10000">
                <a:solidFill>
                  <a:srgbClr val="EE4D2D"/>
                </a:solidFill>
                <a:latin typeface="Open Sans"/>
                <a:ea typeface="Open Sans"/>
                <a:cs typeface="Open Sans"/>
                <a:sym typeface="Open Sans"/>
              </a:rPr>
              <a:t>《数据密集型应用设计》</a:t>
            </a:r>
            <a:endParaRPr b="1" sz="10000">
              <a:solidFill>
                <a:srgbClr val="EE4D2D"/>
              </a:solidFill>
              <a:latin typeface="Open Sans"/>
              <a:ea typeface="Open Sans"/>
              <a:cs typeface="Open Sans"/>
              <a:sym typeface="Open Sans"/>
            </a:endParaRPr>
          </a:p>
          <a:p>
            <a:pPr indent="0" lvl="0" marL="0" marR="0" rtl="0" algn="ctr">
              <a:lnSpc>
                <a:spcPct val="100000"/>
              </a:lnSpc>
              <a:spcBef>
                <a:spcPts val="0"/>
              </a:spcBef>
              <a:spcAft>
                <a:spcPts val="0"/>
              </a:spcAft>
              <a:buClr>
                <a:srgbClr val="EE4D2D"/>
              </a:buClr>
              <a:buSzPts val="10000"/>
              <a:buFont typeface="Open Sans"/>
              <a:buNone/>
            </a:pPr>
            <a:r>
              <a:rPr b="1" lang="zh-CN" sz="10000">
                <a:solidFill>
                  <a:srgbClr val="EE4D2D"/>
                </a:solidFill>
                <a:latin typeface="Open Sans"/>
                <a:ea typeface="Open Sans"/>
                <a:cs typeface="Open Sans"/>
                <a:sym typeface="Open Sans"/>
              </a:rPr>
              <a:t>读书分享</a:t>
            </a:r>
            <a:endParaRPr b="0" i="0" sz="3000" u="none" cap="none" strike="noStrike">
              <a:solidFill>
                <a:srgbClr val="000000"/>
              </a:solidFill>
              <a:latin typeface="Helvetica Neue"/>
              <a:ea typeface="Helvetica Neue"/>
              <a:cs typeface="Helvetica Neue"/>
              <a:sym typeface="Helvetica Neue"/>
            </a:endParaRPr>
          </a:p>
        </p:txBody>
      </p:sp>
      <p:sp>
        <p:nvSpPr>
          <p:cNvPr id="44" name="Google Shape;44;p1"/>
          <p:cNvSpPr txBox="1"/>
          <p:nvPr/>
        </p:nvSpPr>
        <p:spPr>
          <a:xfrm>
            <a:off x="9026097" y="9506023"/>
            <a:ext cx="6009900" cy="9339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929292"/>
              </a:buClr>
              <a:buSzPts val="5400"/>
              <a:buFont typeface="Open Sans"/>
              <a:buNone/>
            </a:pPr>
            <a:r>
              <a:rPr b="0" i="0" lang="zh-CN" sz="5400" u="none" cap="none" strike="noStrike">
                <a:solidFill>
                  <a:srgbClr val="929292"/>
                </a:solidFill>
                <a:latin typeface="Open Sans"/>
                <a:ea typeface="Open Sans"/>
                <a:cs typeface="Open Sans"/>
                <a:sym typeface="Open Sans"/>
              </a:rPr>
              <a:t>王贤桂2022/12/</a:t>
            </a:r>
            <a:r>
              <a:rPr lang="zh-CN" sz="5400">
                <a:solidFill>
                  <a:srgbClr val="929292"/>
                </a:solidFill>
                <a:latin typeface="Open Sans"/>
                <a:ea typeface="Open Sans"/>
                <a:cs typeface="Open Sans"/>
                <a:sym typeface="Open Sans"/>
              </a:rPr>
              <a:t>20</a:t>
            </a:r>
            <a:endParaRPr b="0" i="0" sz="5400" u="none" cap="none" strike="noStrike">
              <a:solidFill>
                <a:srgbClr val="929292"/>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g29d97c5c9d5_0_0"/>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什么是《数据密集型应用系统设计》</a:t>
            </a:r>
            <a:endParaRPr/>
          </a:p>
        </p:txBody>
      </p:sp>
      <p:sp>
        <p:nvSpPr>
          <p:cNvPr id="50" name="Google Shape;50;g29d97c5c9d5_0_0"/>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0F0F0F"/>
              </a:solidFill>
            </a:endParaRPr>
          </a:p>
        </p:txBody>
      </p:sp>
      <p:pic>
        <p:nvPicPr>
          <p:cNvPr id="51" name="Google Shape;51;g29d97c5c9d5_0_0"/>
          <p:cNvPicPr preferRelativeResize="0"/>
          <p:nvPr/>
        </p:nvPicPr>
        <p:blipFill>
          <a:blip r:embed="rId3">
            <a:alphaModFix/>
          </a:blip>
          <a:stretch>
            <a:fillRect/>
          </a:stretch>
        </p:blipFill>
        <p:spPr>
          <a:xfrm>
            <a:off x="1657925" y="1931300"/>
            <a:ext cx="13575250" cy="5914531"/>
          </a:xfrm>
          <a:prstGeom prst="rect">
            <a:avLst/>
          </a:prstGeom>
          <a:noFill/>
          <a:ln>
            <a:noFill/>
          </a:ln>
        </p:spPr>
      </p:pic>
      <p:sp>
        <p:nvSpPr>
          <p:cNvPr id="52" name="Google Shape;52;g29d97c5c9d5_0_0"/>
          <p:cNvSpPr txBox="1"/>
          <p:nvPr/>
        </p:nvSpPr>
        <p:spPr>
          <a:xfrm>
            <a:off x="2490600" y="7771875"/>
            <a:ext cx="13377000" cy="46716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t/>
            </a:r>
            <a:endParaRPr sz="1500">
              <a:solidFill>
                <a:schemeClr val="dk1"/>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zh-CN" sz="2400">
                <a:solidFill>
                  <a:schemeClr val="dk1"/>
                </a:solidFill>
                <a:latin typeface="Courier New"/>
                <a:ea typeface="Courier New"/>
                <a:cs typeface="Courier New"/>
                <a:sym typeface="Courier New"/>
              </a:rPr>
              <a:t>阅读资源：</a:t>
            </a:r>
            <a:endParaRPr sz="2400">
              <a:solidFill>
                <a:schemeClr val="dk1"/>
              </a:solidFill>
              <a:latin typeface="Courier New"/>
              <a:ea typeface="Courier New"/>
              <a:cs typeface="Courier New"/>
              <a:sym typeface="Courier New"/>
            </a:endParaRPr>
          </a:p>
          <a:p>
            <a:pPr indent="-374650" lvl="0" marL="457200" rtl="0" algn="l">
              <a:lnSpc>
                <a:spcPct val="150000"/>
              </a:lnSpc>
              <a:spcBef>
                <a:spcPts val="0"/>
              </a:spcBef>
              <a:spcAft>
                <a:spcPts val="0"/>
              </a:spcAft>
              <a:buClr>
                <a:schemeClr val="dk1"/>
              </a:buClr>
              <a:buSzPts val="2300"/>
              <a:buFont typeface="Courier New"/>
              <a:buChar char="●"/>
            </a:pPr>
            <a:r>
              <a:rPr lang="zh-CN" sz="2300" u="sng">
                <a:solidFill>
                  <a:schemeClr val="hlink"/>
                </a:solidFill>
                <a:latin typeface="Courier New"/>
                <a:ea typeface="Courier New"/>
                <a:cs typeface="Courier New"/>
                <a:sym typeface="Courier New"/>
                <a:hlinkClick r:id="rId4"/>
              </a:rPr>
              <a:t>https://github.com/Vonng/ddia</a:t>
            </a:r>
            <a:endParaRPr sz="2300">
              <a:solidFill>
                <a:schemeClr val="dk1"/>
              </a:solidFill>
              <a:latin typeface="Courier New"/>
              <a:ea typeface="Courier New"/>
              <a:cs typeface="Courier New"/>
              <a:sym typeface="Courier New"/>
            </a:endParaRPr>
          </a:p>
          <a:p>
            <a:pPr indent="-374650" lvl="0" marL="457200" rtl="0" algn="l">
              <a:lnSpc>
                <a:spcPct val="150000"/>
              </a:lnSpc>
              <a:spcBef>
                <a:spcPts val="0"/>
              </a:spcBef>
              <a:spcAft>
                <a:spcPts val="0"/>
              </a:spcAft>
              <a:buClr>
                <a:schemeClr val="dk1"/>
              </a:buClr>
              <a:buSzPts val="2300"/>
              <a:buFont typeface="Courier New"/>
              <a:buChar char="●"/>
            </a:pPr>
            <a:r>
              <a:rPr lang="zh-CN" sz="2300" u="sng">
                <a:solidFill>
                  <a:schemeClr val="hlink"/>
                </a:solidFill>
                <a:latin typeface="Courier New"/>
                <a:ea typeface="Courier New"/>
                <a:cs typeface="Courier New"/>
                <a:sym typeface="Courier New"/>
                <a:hlinkClick r:id="rId5"/>
              </a:rPr>
              <a:t>https://vonng.gitbooks.io/ddia-cn/content/</a:t>
            </a:r>
            <a:endParaRPr sz="2300">
              <a:solidFill>
                <a:schemeClr val="dk1"/>
              </a:solidFill>
              <a:latin typeface="Courier New"/>
              <a:ea typeface="Courier New"/>
              <a:cs typeface="Courier New"/>
              <a:sym typeface="Courier New"/>
            </a:endParaRPr>
          </a:p>
          <a:p>
            <a:pPr indent="-374650" lvl="0" marL="457200" rtl="0" algn="l">
              <a:lnSpc>
                <a:spcPct val="150000"/>
              </a:lnSpc>
              <a:spcBef>
                <a:spcPts val="0"/>
              </a:spcBef>
              <a:spcAft>
                <a:spcPts val="0"/>
              </a:spcAft>
              <a:buClr>
                <a:schemeClr val="dk1"/>
              </a:buClr>
              <a:buSzPts val="2300"/>
              <a:buFont typeface="Courier New"/>
              <a:buChar char="●"/>
            </a:pPr>
            <a:r>
              <a:rPr lang="zh-CN" sz="2300" u="sng">
                <a:solidFill>
                  <a:schemeClr val="dk1"/>
                </a:solidFill>
                <a:latin typeface="Helvetica Neue"/>
                <a:ea typeface="Helvetica Neue"/>
                <a:cs typeface="Helvetica Neue"/>
                <a:sym typeface="Helvetica Neue"/>
                <a:hlinkClick r:id="rId6">
                  <a:extLst>
                    <a:ext uri="{A12FA001-AC4F-418D-AE19-62706E023703}">
                      <ahyp:hlinkClr val="tx"/>
                    </a:ext>
                  </a:extLst>
                </a:hlinkClick>
              </a:rPr>
              <a:t>https://github.com/ept/ddia-references</a:t>
            </a:r>
            <a:endParaRPr sz="2300">
              <a:solidFill>
                <a:schemeClr val="dk1"/>
              </a:solidFill>
              <a:latin typeface="Courier New"/>
              <a:ea typeface="Courier New"/>
              <a:cs typeface="Courier New"/>
              <a:sym typeface="Courier New"/>
            </a:endParaRPr>
          </a:p>
          <a:p>
            <a:pPr indent="-374650" lvl="0" marL="457200" rtl="0" algn="l">
              <a:lnSpc>
                <a:spcPct val="150000"/>
              </a:lnSpc>
              <a:spcBef>
                <a:spcPts val="0"/>
              </a:spcBef>
              <a:spcAft>
                <a:spcPts val="0"/>
              </a:spcAft>
              <a:buSzPts val="2300"/>
              <a:buFont typeface="Courier New"/>
              <a:buChar char="●"/>
            </a:pPr>
            <a:r>
              <a:rPr lang="zh-CN" sz="2300" u="sng">
                <a:solidFill>
                  <a:schemeClr val="hlink"/>
                </a:solidFill>
                <a:latin typeface="Courier New"/>
                <a:ea typeface="Courier New"/>
                <a:cs typeface="Courier New"/>
                <a:sym typeface="Courier New"/>
                <a:hlinkClick r:id="rId7"/>
              </a:rPr>
              <a:t>https://ddia.qtmuniao.com/#/</a:t>
            </a:r>
            <a:endParaRPr sz="2300">
              <a:solidFill>
                <a:schemeClr val="dk1"/>
              </a:solidFill>
              <a:latin typeface="Courier New"/>
              <a:ea typeface="Courier New"/>
              <a:cs typeface="Courier New"/>
              <a:sym typeface="Courier New"/>
            </a:endParaRPr>
          </a:p>
          <a:p>
            <a:pPr indent="-374650" lvl="0" marL="457200" rtl="0" algn="l">
              <a:lnSpc>
                <a:spcPct val="150000"/>
              </a:lnSpc>
              <a:spcBef>
                <a:spcPts val="0"/>
              </a:spcBef>
              <a:spcAft>
                <a:spcPts val="0"/>
              </a:spcAft>
              <a:buClr>
                <a:schemeClr val="dk1"/>
              </a:buClr>
              <a:buSzPts val="2300"/>
              <a:buFont typeface="Courier New"/>
              <a:buChar char="●"/>
            </a:pPr>
            <a:r>
              <a:rPr lang="zh-CN" sz="2300">
                <a:solidFill>
                  <a:schemeClr val="dk1"/>
                </a:solidFill>
                <a:latin typeface="Courier New"/>
                <a:ea typeface="Courier New"/>
                <a:cs typeface="Courier New"/>
                <a:sym typeface="Courier New"/>
              </a:rPr>
              <a:t>youtube、B站 相关视频</a:t>
            </a:r>
            <a:endParaRPr sz="23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2300">
              <a:solidFill>
                <a:schemeClr val="dk1"/>
              </a:solidFill>
              <a:latin typeface="Courier New"/>
              <a:ea typeface="Courier New"/>
              <a:cs typeface="Courier New"/>
              <a:sym typeface="Courier New"/>
            </a:endParaRPr>
          </a:p>
        </p:txBody>
      </p:sp>
      <p:pic>
        <p:nvPicPr>
          <p:cNvPr id="53" name="Google Shape;53;g29d97c5c9d5_0_0"/>
          <p:cNvPicPr preferRelativeResize="0"/>
          <p:nvPr/>
        </p:nvPicPr>
        <p:blipFill>
          <a:blip r:embed="rId8">
            <a:alphaModFix/>
          </a:blip>
          <a:stretch>
            <a:fillRect/>
          </a:stretch>
        </p:blipFill>
        <p:spPr>
          <a:xfrm>
            <a:off x="15374700" y="1522577"/>
            <a:ext cx="8063725" cy="7619268"/>
          </a:xfrm>
          <a:prstGeom prst="rect">
            <a:avLst/>
          </a:prstGeom>
          <a:noFill/>
          <a:ln>
            <a:noFill/>
          </a:ln>
        </p:spPr>
      </p:pic>
      <p:sp>
        <p:nvSpPr>
          <p:cNvPr id="54" name="Google Shape;54;g29d97c5c9d5_0_0"/>
          <p:cNvSpPr txBox="1"/>
          <p:nvPr/>
        </p:nvSpPr>
        <p:spPr>
          <a:xfrm>
            <a:off x="12749150" y="10065350"/>
            <a:ext cx="10482600" cy="14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4300">
                <a:solidFill>
                  <a:srgbClr val="EE4D2D"/>
                </a:solidFill>
              </a:rPr>
              <a:t>The big ideas behind </a:t>
            </a:r>
            <a:r>
              <a:rPr lang="zh-CN" sz="4300">
                <a:solidFill>
                  <a:srgbClr val="EE4D2D"/>
                </a:solidFill>
              </a:rPr>
              <a:t>reliable、scalable&amp; maintainable systems.</a:t>
            </a:r>
            <a:endParaRPr sz="4300">
              <a:solidFill>
                <a:srgbClr val="EE4D2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gf0545097e0_0_32"/>
          <p:cNvSpPr txBox="1"/>
          <p:nvPr/>
        </p:nvSpPr>
        <p:spPr>
          <a:xfrm>
            <a:off x="10180318" y="12802557"/>
            <a:ext cx="4023300" cy="4002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888888"/>
              </a:buClr>
              <a:buSzPts val="2000"/>
              <a:buFont typeface="Open Sans"/>
              <a:buNone/>
            </a:pPr>
            <a:r>
              <a:rPr b="0" i="0" lang="zh-CN" sz="2000" u="none" cap="none" strike="noStrike">
                <a:solidFill>
                  <a:srgbClr val="888888"/>
                </a:solidFill>
                <a:latin typeface="Open Sans"/>
                <a:ea typeface="Open Sans"/>
                <a:cs typeface="Open Sans"/>
                <a:sym typeface="Open Sans"/>
              </a:rPr>
              <a:t>Private &amp; Confidential</a:t>
            </a:r>
            <a:endParaRPr b="0" i="0" sz="1400" u="none" cap="none" strike="noStrike">
              <a:solidFill>
                <a:srgbClr val="000000"/>
              </a:solidFill>
              <a:latin typeface="Arial"/>
              <a:ea typeface="Arial"/>
              <a:cs typeface="Arial"/>
              <a:sym typeface="Arial"/>
            </a:endParaRPr>
          </a:p>
        </p:txBody>
      </p:sp>
      <p:sp>
        <p:nvSpPr>
          <p:cNvPr id="60" name="Google Shape;60;gf0545097e0_0_32"/>
          <p:cNvSpPr txBox="1"/>
          <p:nvPr/>
        </p:nvSpPr>
        <p:spPr>
          <a:xfrm>
            <a:off x="2125124" y="9825350"/>
            <a:ext cx="7246800" cy="23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000">
                <a:solidFill>
                  <a:schemeClr val="dk1"/>
                </a:solidFill>
                <a:latin typeface="Open Sans"/>
                <a:ea typeface="Open Sans"/>
                <a:cs typeface="Open Sans"/>
                <a:sym typeface="Open Sans"/>
              </a:rPr>
              <a:t>可靠性</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硬件异常，断电、磁盘、网络等</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软件异常，业务代码、组件异常等</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人工</a:t>
            </a:r>
            <a:r>
              <a:rPr lang="zh-CN" sz="3000">
                <a:solidFill>
                  <a:schemeClr val="dk1"/>
                </a:solidFill>
                <a:latin typeface="Open Sans"/>
                <a:ea typeface="Open Sans"/>
                <a:cs typeface="Open Sans"/>
                <a:sym typeface="Open Sans"/>
              </a:rPr>
              <a:t>异常，</a:t>
            </a:r>
            <a:r>
              <a:rPr lang="zh-CN" sz="3000">
                <a:solidFill>
                  <a:schemeClr val="dk1"/>
                </a:solidFill>
                <a:latin typeface="Open Sans"/>
                <a:ea typeface="Open Sans"/>
                <a:cs typeface="Open Sans"/>
                <a:sym typeface="Open Sans"/>
              </a:rPr>
              <a:t>dev&amp;SRE&amp;local</a:t>
            </a:r>
            <a:endParaRPr sz="3000">
              <a:solidFill>
                <a:schemeClr val="dk1"/>
              </a:solidFill>
              <a:latin typeface="Open Sans"/>
              <a:ea typeface="Open Sans"/>
              <a:cs typeface="Open Sans"/>
              <a:sym typeface="Open Sans"/>
            </a:endParaRPr>
          </a:p>
        </p:txBody>
      </p:sp>
      <p:sp>
        <p:nvSpPr>
          <p:cNvPr id="61" name="Google Shape;61;gf0545097e0_0_32"/>
          <p:cNvSpPr txBox="1"/>
          <p:nvPr/>
        </p:nvSpPr>
        <p:spPr>
          <a:xfrm>
            <a:off x="10660123" y="9976375"/>
            <a:ext cx="5021100" cy="24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000">
                <a:solidFill>
                  <a:schemeClr val="dk1"/>
                </a:solidFill>
                <a:latin typeface="Open Sans"/>
                <a:ea typeface="Open Sans"/>
                <a:cs typeface="Open Sans"/>
                <a:sym typeface="Open Sans"/>
              </a:rPr>
              <a:t>可扩展性</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用户流量负载</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业务数据负载</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支持业务迭代扩展</a:t>
            </a:r>
            <a:endParaRPr sz="3000">
              <a:solidFill>
                <a:schemeClr val="dk1"/>
              </a:solidFill>
              <a:latin typeface="Open Sans"/>
              <a:ea typeface="Open Sans"/>
              <a:cs typeface="Open Sans"/>
              <a:sym typeface="Open Sans"/>
            </a:endParaRPr>
          </a:p>
        </p:txBody>
      </p:sp>
      <p:sp>
        <p:nvSpPr>
          <p:cNvPr id="62" name="Google Shape;62;gf0545097e0_0_32"/>
          <p:cNvSpPr txBox="1"/>
          <p:nvPr/>
        </p:nvSpPr>
        <p:spPr>
          <a:xfrm>
            <a:off x="16679074" y="9643650"/>
            <a:ext cx="5761800" cy="23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000">
                <a:solidFill>
                  <a:schemeClr val="dk1"/>
                </a:solidFill>
                <a:latin typeface="Open Sans"/>
                <a:ea typeface="Open Sans"/>
                <a:cs typeface="Open Sans"/>
                <a:sym typeface="Open Sans"/>
              </a:rPr>
              <a:t>可维护性</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监控指标是否完善</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系统架构是否支持目前业务</a:t>
            </a:r>
            <a:endParaRPr sz="3000">
              <a:solidFill>
                <a:schemeClr val="dk1"/>
              </a:solidFill>
              <a:latin typeface="Open Sans"/>
              <a:ea typeface="Open Sans"/>
              <a:cs typeface="Open Sans"/>
              <a:sym typeface="Open Sans"/>
            </a:endParaRPr>
          </a:p>
          <a:p>
            <a:pPr indent="-419100" lvl="0" marL="457200" rtl="0" algn="l">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代码可维护性</a:t>
            </a:r>
            <a:endParaRPr sz="3000">
              <a:solidFill>
                <a:schemeClr val="dk1"/>
              </a:solidFill>
              <a:latin typeface="Open Sans"/>
              <a:ea typeface="Open Sans"/>
              <a:cs typeface="Open Sans"/>
              <a:sym typeface="Open Sans"/>
            </a:endParaRPr>
          </a:p>
        </p:txBody>
      </p:sp>
      <p:pic>
        <p:nvPicPr>
          <p:cNvPr id="63" name="Google Shape;63;gf0545097e0_0_32"/>
          <p:cNvPicPr preferRelativeResize="0"/>
          <p:nvPr/>
        </p:nvPicPr>
        <p:blipFill rotWithShape="1">
          <a:blip r:embed="rId3">
            <a:alphaModFix/>
          </a:blip>
          <a:srcRect b="-14955" l="0" r="999" t="0"/>
          <a:stretch/>
        </p:blipFill>
        <p:spPr>
          <a:xfrm>
            <a:off x="1472762" y="1799150"/>
            <a:ext cx="10181974" cy="8456701"/>
          </a:xfrm>
          <a:prstGeom prst="rect">
            <a:avLst/>
          </a:prstGeom>
          <a:noFill/>
          <a:ln>
            <a:noFill/>
          </a:ln>
        </p:spPr>
      </p:pic>
      <p:sp>
        <p:nvSpPr>
          <p:cNvPr id="64" name="Google Shape;64;gf0545097e0_0_32"/>
          <p:cNvSpPr txBox="1"/>
          <p:nvPr>
            <p:ph type="title"/>
          </p:nvPr>
        </p:nvSpPr>
        <p:spPr>
          <a:xfrm>
            <a:off x="2883675" y="0"/>
            <a:ext cx="20574000" cy="14604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数据密集型应用系统架构和关键指标</a:t>
            </a:r>
            <a:endParaRPr/>
          </a:p>
        </p:txBody>
      </p:sp>
      <p:sp>
        <p:nvSpPr>
          <p:cNvPr id="65" name="Google Shape;65;gf0545097e0_0_32"/>
          <p:cNvSpPr txBox="1"/>
          <p:nvPr/>
        </p:nvSpPr>
        <p:spPr>
          <a:xfrm>
            <a:off x="18891850" y="369700"/>
            <a:ext cx="5527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rgbClr val="EE4D2D"/>
              </a:solidFill>
              <a:latin typeface="Open Sans"/>
              <a:ea typeface="Open Sans"/>
              <a:cs typeface="Open Sans"/>
              <a:sym typeface="Open Sans"/>
            </a:endParaRPr>
          </a:p>
        </p:txBody>
      </p:sp>
      <p:sp>
        <p:nvSpPr>
          <p:cNvPr id="66" name="Google Shape;66;gf0545097e0_0_32"/>
          <p:cNvSpPr txBox="1"/>
          <p:nvPr/>
        </p:nvSpPr>
        <p:spPr>
          <a:xfrm>
            <a:off x="12777250" y="2268625"/>
            <a:ext cx="8474700" cy="9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数据密集型、CPU密集型、IO密集型</a:t>
            </a:r>
            <a:endParaRPr sz="3600">
              <a:solidFill>
                <a:srgbClr val="EE4D2D"/>
              </a:solidFill>
              <a:latin typeface="Open Sans"/>
              <a:ea typeface="Open Sans"/>
              <a:cs typeface="Open Sans"/>
              <a:sym typeface="Open Sans"/>
            </a:endParaRPr>
          </a:p>
        </p:txBody>
      </p:sp>
      <p:sp>
        <p:nvSpPr>
          <p:cNvPr id="67" name="Google Shape;67;gf0545097e0_0_32"/>
          <p:cNvSpPr txBox="1"/>
          <p:nvPr/>
        </p:nvSpPr>
        <p:spPr>
          <a:xfrm>
            <a:off x="4242950" y="9197250"/>
            <a:ext cx="5379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700">
                <a:solidFill>
                  <a:srgbClr val="1F2328"/>
                </a:solidFill>
                <a:highlight>
                  <a:srgbClr val="FFFFFF"/>
                </a:highlight>
              </a:rPr>
              <a:t>一个可能的组合使用多个组件的数据系统架构</a:t>
            </a:r>
            <a:endParaRPr b="1" sz="1900"/>
          </a:p>
        </p:txBody>
      </p:sp>
      <p:sp>
        <p:nvSpPr>
          <p:cNvPr id="68" name="Google Shape;68;gf0545097e0_0_32"/>
          <p:cNvSpPr txBox="1"/>
          <p:nvPr/>
        </p:nvSpPr>
        <p:spPr>
          <a:xfrm>
            <a:off x="12412275" y="3663538"/>
            <a:ext cx="11045400" cy="41097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数据库：</a:t>
            </a:r>
            <a:r>
              <a:rPr lang="zh-CN" sz="3000">
                <a:solidFill>
                  <a:srgbClr val="1F2328"/>
                </a:solidFill>
                <a:highlight>
                  <a:srgbClr val="FFFFFF"/>
                </a:highlight>
              </a:rPr>
              <a:t>存储数据，</a:t>
            </a:r>
            <a:r>
              <a:rPr i="1" lang="zh-CN" sz="3000">
                <a:solidFill>
                  <a:srgbClr val="1F2328"/>
                </a:solidFill>
                <a:highlight>
                  <a:srgbClr val="FFFFFF"/>
                </a:highlight>
              </a:rPr>
              <a:t>数据库，即 databases</a:t>
            </a:r>
            <a:endParaRPr sz="3000">
              <a:solidFill>
                <a:srgbClr val="1F2328"/>
              </a:solidFill>
              <a:highlight>
                <a:srgbClr val="FFFFFF"/>
              </a:highlight>
            </a:endParaRPr>
          </a:p>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缓存：</a:t>
            </a:r>
            <a:r>
              <a:rPr lang="zh-CN" sz="3000">
                <a:solidFill>
                  <a:srgbClr val="1F2328"/>
                </a:solidFill>
                <a:highlight>
                  <a:srgbClr val="FFFFFF"/>
                </a:highlight>
              </a:rPr>
              <a:t>记住开销昂贵操作的结果，加快读取速度</a:t>
            </a:r>
            <a:endParaRPr sz="3000">
              <a:solidFill>
                <a:srgbClr val="1F2328"/>
              </a:solidFill>
              <a:highlight>
                <a:srgbClr val="FFFFFF"/>
              </a:highlight>
            </a:endParaRPr>
          </a:p>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搜索引擎：</a:t>
            </a:r>
            <a:r>
              <a:rPr lang="zh-CN" sz="3000">
                <a:solidFill>
                  <a:srgbClr val="1F2328"/>
                </a:solidFill>
                <a:highlight>
                  <a:srgbClr val="FFFFFF"/>
                </a:highlight>
              </a:rPr>
              <a:t>允许用户按关键字搜索数据和过滤</a:t>
            </a:r>
            <a:endParaRPr sz="3000">
              <a:solidFill>
                <a:srgbClr val="1F2328"/>
              </a:solidFill>
              <a:highlight>
                <a:srgbClr val="FFFFFF"/>
              </a:highlight>
            </a:endParaRPr>
          </a:p>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异步操作：消息队列</a:t>
            </a:r>
            <a:endParaRPr sz="3000">
              <a:solidFill>
                <a:srgbClr val="1F2328"/>
              </a:solidFill>
              <a:highlight>
                <a:srgbClr val="FFFFFF"/>
              </a:highlight>
            </a:endParaRPr>
          </a:p>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分布式数据系统：分片、副本、副本一致性、故障处理、扩容</a:t>
            </a:r>
            <a:endParaRPr sz="3000">
              <a:solidFill>
                <a:srgbClr val="1F2328"/>
              </a:solidFill>
              <a:highlight>
                <a:srgbClr val="FFFFFF"/>
              </a:highlight>
            </a:endParaRPr>
          </a:p>
          <a:p>
            <a:pPr indent="-419100" lvl="0" marL="457200" rtl="0" algn="l">
              <a:lnSpc>
                <a:spcPct val="150000"/>
              </a:lnSpc>
              <a:spcBef>
                <a:spcPts val="0"/>
              </a:spcBef>
              <a:spcAft>
                <a:spcPts val="0"/>
              </a:spcAft>
              <a:buClr>
                <a:srgbClr val="1F2328"/>
              </a:buClr>
              <a:buSzPts val="3000"/>
              <a:buChar char="●"/>
            </a:pPr>
            <a:r>
              <a:rPr lang="zh-CN" sz="3000">
                <a:solidFill>
                  <a:srgbClr val="1F2328"/>
                </a:solidFill>
                <a:highlight>
                  <a:srgbClr val="FFFFFF"/>
                </a:highlight>
              </a:rPr>
              <a:t>大数据处理：批处理和流式处理</a:t>
            </a:r>
            <a:endParaRPr sz="3000">
              <a:solidFill>
                <a:srgbClr val="1F2328"/>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29d97c5c9d5_0_13"/>
          <p:cNvSpPr txBox="1"/>
          <p:nvPr>
            <p:ph type="title"/>
          </p:nvPr>
        </p:nvSpPr>
        <p:spPr>
          <a:xfrm>
            <a:off x="2624900" y="90875"/>
            <a:ext cx="21202500" cy="17580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选择合适的数据存储模型</a:t>
            </a:r>
            <a:endParaRPr/>
          </a:p>
        </p:txBody>
      </p:sp>
      <p:pic>
        <p:nvPicPr>
          <p:cNvPr id="74" name="Google Shape;74;g29d97c5c9d5_0_13"/>
          <p:cNvPicPr preferRelativeResize="0"/>
          <p:nvPr/>
        </p:nvPicPr>
        <p:blipFill>
          <a:blip r:embed="rId3">
            <a:alphaModFix/>
          </a:blip>
          <a:stretch>
            <a:fillRect/>
          </a:stretch>
        </p:blipFill>
        <p:spPr>
          <a:xfrm>
            <a:off x="5611425" y="1848875"/>
            <a:ext cx="7374451" cy="5727050"/>
          </a:xfrm>
          <a:prstGeom prst="rect">
            <a:avLst/>
          </a:prstGeom>
          <a:noFill/>
          <a:ln>
            <a:noFill/>
          </a:ln>
        </p:spPr>
      </p:pic>
      <p:sp>
        <p:nvSpPr>
          <p:cNvPr id="75" name="Google Shape;75;g29d97c5c9d5_0_13"/>
          <p:cNvSpPr txBox="1"/>
          <p:nvPr/>
        </p:nvSpPr>
        <p:spPr>
          <a:xfrm>
            <a:off x="20389125" y="10265725"/>
            <a:ext cx="4344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rgbClr val="EE4D2D"/>
              </a:solidFill>
              <a:latin typeface="Open Sans"/>
              <a:ea typeface="Open Sans"/>
              <a:cs typeface="Open Sans"/>
              <a:sym typeface="Open Sans"/>
            </a:endParaRPr>
          </a:p>
        </p:txBody>
      </p:sp>
      <p:sp>
        <p:nvSpPr>
          <p:cNvPr id="76" name="Google Shape;76;g29d97c5c9d5_0_13"/>
          <p:cNvSpPr txBox="1"/>
          <p:nvPr/>
        </p:nvSpPr>
        <p:spPr>
          <a:xfrm>
            <a:off x="1329975" y="2213950"/>
            <a:ext cx="3501900" cy="9943500"/>
          </a:xfrm>
          <a:prstGeom prst="rect">
            <a:avLst/>
          </a:prstGeom>
          <a:noFill/>
          <a:ln>
            <a:noFill/>
          </a:ln>
        </p:spPr>
        <p:txBody>
          <a:bodyPr anchorCtr="0" anchor="t" bIns="91425" lIns="91425" spcFirstLastPara="1" rIns="91425" wrap="square" tIns="91425">
            <a:noAutofit/>
          </a:bodyPr>
          <a:lstStyle/>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latin typeface="Open Sans"/>
                <a:ea typeface="Open Sans"/>
                <a:cs typeface="Open Sans"/>
                <a:sym typeface="Open Sans"/>
              </a:rPr>
              <a:t>关系型存储</a:t>
            </a:r>
            <a:endParaRPr sz="3200">
              <a:solidFill>
                <a:schemeClr val="dk1"/>
              </a:solidFill>
              <a:latin typeface="Open Sans"/>
              <a:ea typeface="Open Sans"/>
              <a:cs typeface="Open Sans"/>
              <a:sym typeface="Open Sans"/>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文档存储模型</a:t>
            </a:r>
            <a:endParaRPr sz="3200">
              <a:solidFill>
                <a:schemeClr val="dk1"/>
              </a:solidFill>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图形存储模</a:t>
            </a:r>
            <a:endParaRPr sz="3200">
              <a:solidFill>
                <a:schemeClr val="dk1"/>
              </a:solidFill>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键值存储模型</a:t>
            </a:r>
            <a:endParaRPr sz="3200">
              <a:solidFill>
                <a:schemeClr val="dk1"/>
              </a:solidFill>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列存储模型</a:t>
            </a:r>
            <a:endParaRPr sz="3200">
              <a:solidFill>
                <a:schemeClr val="dk1"/>
              </a:solidFill>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对象存储模型</a:t>
            </a:r>
            <a:endParaRPr sz="3200">
              <a:solidFill>
                <a:schemeClr val="dk1"/>
              </a:solidFill>
            </a:endParaRPr>
          </a:p>
          <a:p>
            <a:pPr indent="-431800" lvl="0" marL="457200" rtl="0" algn="l">
              <a:lnSpc>
                <a:spcPct val="200000"/>
              </a:lnSpc>
              <a:spcBef>
                <a:spcPts val="0"/>
              </a:spcBef>
              <a:spcAft>
                <a:spcPts val="0"/>
              </a:spcAft>
              <a:buClr>
                <a:schemeClr val="dk1"/>
              </a:buClr>
              <a:buSzPts val="3200"/>
              <a:buFont typeface="Open Sans"/>
              <a:buAutoNum type="arabicPeriod"/>
            </a:pPr>
            <a:r>
              <a:rPr lang="zh-CN" sz="3200">
                <a:solidFill>
                  <a:schemeClr val="dk1"/>
                </a:solidFill>
              </a:rPr>
              <a:t>时间序列模型</a:t>
            </a:r>
            <a:endParaRPr sz="3200">
              <a:solidFill>
                <a:schemeClr val="dk1"/>
              </a:solidFill>
            </a:endParaRPr>
          </a:p>
          <a:p>
            <a:pPr indent="-431800" lvl="0" marL="457200" rtl="0" algn="l">
              <a:lnSpc>
                <a:spcPct val="200000"/>
              </a:lnSpc>
              <a:spcBef>
                <a:spcPts val="0"/>
              </a:spcBef>
              <a:spcAft>
                <a:spcPts val="0"/>
              </a:spcAft>
              <a:buClr>
                <a:schemeClr val="dk1"/>
              </a:buClr>
              <a:buSzPts val="3200"/>
              <a:buAutoNum type="arabicPeriod"/>
            </a:pPr>
            <a:r>
              <a:rPr lang="zh-CN" sz="3200">
                <a:solidFill>
                  <a:schemeClr val="dk1"/>
                </a:solidFill>
              </a:rPr>
              <a:t>关系+文档融合</a:t>
            </a:r>
            <a:endParaRPr sz="3200">
              <a:solidFill>
                <a:schemeClr val="dk1"/>
              </a:solidFill>
            </a:endParaRPr>
          </a:p>
          <a:p>
            <a:pPr indent="-431800" lvl="0" marL="457200" rtl="0" algn="l">
              <a:lnSpc>
                <a:spcPct val="200000"/>
              </a:lnSpc>
              <a:spcBef>
                <a:spcPts val="0"/>
              </a:spcBef>
              <a:spcAft>
                <a:spcPts val="0"/>
              </a:spcAft>
              <a:buClr>
                <a:schemeClr val="dk1"/>
              </a:buClr>
              <a:buSzPts val="3200"/>
              <a:buAutoNum type="arabicPeriod"/>
            </a:pPr>
            <a:r>
              <a:rPr lang="zh-CN" sz="3200">
                <a:solidFill>
                  <a:schemeClr val="dk1"/>
                </a:solidFill>
              </a:rPr>
              <a:t>事务性+分析型</a:t>
            </a:r>
            <a:endParaRPr sz="3200">
              <a:solidFill>
                <a:schemeClr val="dk1"/>
              </a:solidFill>
            </a:endParaRPr>
          </a:p>
          <a:p>
            <a:pPr indent="-431800" lvl="0" marL="457200" rtl="0" algn="l">
              <a:lnSpc>
                <a:spcPct val="200000"/>
              </a:lnSpc>
              <a:spcBef>
                <a:spcPts val="0"/>
              </a:spcBef>
              <a:spcAft>
                <a:spcPts val="0"/>
              </a:spcAft>
              <a:buClr>
                <a:schemeClr val="dk1"/>
              </a:buClr>
              <a:buSzPts val="3200"/>
              <a:buAutoNum type="arabicPeriod"/>
            </a:pPr>
            <a:r>
              <a:rPr lang="zh-CN" sz="3200">
                <a:solidFill>
                  <a:schemeClr val="dk1"/>
                </a:solidFill>
              </a:rPr>
              <a:t>多模态数据库</a:t>
            </a:r>
            <a:endParaRPr sz="3200">
              <a:solidFill>
                <a:schemeClr val="dk1"/>
              </a:solidFill>
            </a:endParaRPr>
          </a:p>
        </p:txBody>
      </p:sp>
      <p:pic>
        <p:nvPicPr>
          <p:cNvPr id="77" name="Google Shape;77;g29d97c5c9d5_0_13"/>
          <p:cNvPicPr preferRelativeResize="0"/>
          <p:nvPr/>
        </p:nvPicPr>
        <p:blipFill>
          <a:blip r:embed="rId4">
            <a:alphaModFix/>
          </a:blip>
          <a:stretch>
            <a:fillRect/>
          </a:stretch>
        </p:blipFill>
        <p:spPr>
          <a:xfrm>
            <a:off x="5611425" y="8180825"/>
            <a:ext cx="7374450" cy="4527492"/>
          </a:xfrm>
          <a:prstGeom prst="rect">
            <a:avLst/>
          </a:prstGeom>
          <a:noFill/>
          <a:ln>
            <a:noFill/>
          </a:ln>
        </p:spPr>
      </p:pic>
      <p:graphicFrame>
        <p:nvGraphicFramePr>
          <p:cNvPr id="78" name="Google Shape;78;g29d97c5c9d5_0_13"/>
          <p:cNvGraphicFramePr/>
          <p:nvPr/>
        </p:nvGraphicFramePr>
        <p:xfrm>
          <a:off x="14196975" y="1893963"/>
          <a:ext cx="3000000" cy="3000000"/>
        </p:xfrm>
        <a:graphic>
          <a:graphicData uri="http://schemas.openxmlformats.org/drawingml/2006/table">
            <a:tbl>
              <a:tblPr>
                <a:solidFill>
                  <a:srgbClr val="FFFFFF"/>
                </a:solidFill>
                <a:tableStyleId>{655C7F70-49E7-4B43-8A84-E369A4147F12}</a:tableStyleId>
              </a:tblPr>
              <a:tblGrid>
                <a:gridCol w="1946700"/>
                <a:gridCol w="3124225"/>
                <a:gridCol w="2864475"/>
              </a:tblGrid>
              <a:tr h="1019475">
                <a:tc>
                  <a:txBody>
                    <a:bodyPr/>
                    <a:lstStyle/>
                    <a:p>
                      <a:pPr indent="0" lvl="0" marL="0" rtl="0" algn="ctr">
                        <a:lnSpc>
                          <a:spcPct val="115000"/>
                        </a:lnSpc>
                        <a:spcBef>
                          <a:spcPts val="0"/>
                        </a:spcBef>
                        <a:spcAft>
                          <a:spcPts val="0"/>
                        </a:spcAft>
                        <a:buNone/>
                      </a:pPr>
                      <a:r>
                        <a:t/>
                      </a:r>
                      <a:endParaRPr sz="26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2600">
                          <a:solidFill>
                            <a:schemeClr val="dk1"/>
                          </a:solidFill>
                          <a:highlight>
                            <a:srgbClr val="FFFFFF"/>
                          </a:highlight>
                          <a:latin typeface="Open Sans"/>
                          <a:ea typeface="Open Sans"/>
                          <a:cs typeface="Open Sans"/>
                          <a:sym typeface="Open Sans"/>
                        </a:rPr>
                        <a:t>文档</a:t>
                      </a:r>
                      <a:r>
                        <a:rPr lang="zh-CN" sz="2600">
                          <a:solidFill>
                            <a:schemeClr val="dk1"/>
                          </a:solidFill>
                          <a:highlight>
                            <a:srgbClr val="FFFFFF"/>
                          </a:highlight>
                          <a:latin typeface="Open Sans"/>
                          <a:ea typeface="Open Sans"/>
                          <a:cs typeface="Open Sans"/>
                          <a:sym typeface="Open Sans"/>
                        </a:rPr>
                        <a:t>模型</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zh-CN" sz="2600">
                          <a:solidFill>
                            <a:schemeClr val="dk1"/>
                          </a:solidFill>
                          <a:latin typeface="Open Sans"/>
                          <a:ea typeface="Open Sans"/>
                          <a:cs typeface="Open Sans"/>
                          <a:sym typeface="Open Sans"/>
                        </a:rPr>
                        <a:t>关系模型</a:t>
                      </a:r>
                      <a:endParaRPr sz="2600">
                        <a:solidFill>
                          <a:schemeClr val="dk1"/>
                        </a:solidFill>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46925">
                <a:tc>
                  <a:txBody>
                    <a:bodyPr/>
                    <a:lstStyle/>
                    <a:p>
                      <a:pPr indent="0" lvl="0" marL="0" rtl="0" algn="l">
                        <a:lnSpc>
                          <a:spcPct val="115000"/>
                        </a:lnSpc>
                        <a:spcBef>
                          <a:spcPts val="0"/>
                        </a:spcBef>
                        <a:spcAft>
                          <a:spcPts val="0"/>
                        </a:spcAft>
                        <a:buNone/>
                      </a:pPr>
                      <a:r>
                        <a:rPr lang="zh-CN" sz="2600">
                          <a:solidFill>
                            <a:schemeClr val="dk1"/>
                          </a:solidFill>
                          <a:latin typeface="Open Sans"/>
                          <a:ea typeface="Open Sans"/>
                          <a:cs typeface="Open Sans"/>
                          <a:sym typeface="Open Sans"/>
                        </a:rPr>
                        <a:t>事务支持</a:t>
                      </a:r>
                      <a:endParaRPr sz="2600">
                        <a:solidFill>
                          <a:schemeClr val="dk1"/>
                        </a:solidFill>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CN" sz="2600">
                          <a:solidFill>
                            <a:schemeClr val="dk1"/>
                          </a:solidFill>
                          <a:highlight>
                            <a:srgbClr val="FFFFFF"/>
                          </a:highlight>
                          <a:latin typeface="Open Sans"/>
                          <a:ea typeface="Open Sans"/>
                          <a:cs typeface="Open Sans"/>
                          <a:sym typeface="Open Sans"/>
                        </a:rPr>
                        <a:t>不支持</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latin typeface="Open Sans"/>
                          <a:ea typeface="Open Sans"/>
                          <a:cs typeface="Open Sans"/>
                          <a:sym typeface="Open Sans"/>
                        </a:rPr>
                        <a:t>强调事务性，支持ACID属性</a:t>
                      </a:r>
                      <a:endParaRPr sz="2600">
                        <a:solidFill>
                          <a:schemeClr val="dk1"/>
                        </a:solidFill>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2900">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数据灵活性</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弱 schema，支持动态增加字段</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强 schema，修改 代价很大</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2900">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对应关系</a:t>
                      </a:r>
                      <a:endParaRPr sz="2600">
                        <a:solidFill>
                          <a:schemeClr val="dk1"/>
                        </a:solidFill>
                        <a:highlight>
                          <a:srgbClr val="FFFFFF"/>
                        </a:highlight>
                        <a:latin typeface="Open Sans"/>
                        <a:ea typeface="Open Sans"/>
                        <a:cs typeface="Open Sans"/>
                        <a:sym typeface="Open Sans"/>
                      </a:endParaRPr>
                    </a:p>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一</a:t>
                      </a:r>
                      <a:r>
                        <a:rPr lang="zh-CN" sz="2600">
                          <a:solidFill>
                            <a:schemeClr val="dk1"/>
                          </a:solidFill>
                          <a:highlight>
                            <a:srgbClr val="FFFFFF"/>
                          </a:highlight>
                          <a:latin typeface="Open Sans"/>
                          <a:ea typeface="Open Sans"/>
                          <a:cs typeface="Open Sans"/>
                          <a:sym typeface="Open Sans"/>
                        </a:rPr>
                        <a:t>对多，</a:t>
                      </a:r>
                      <a:endParaRPr sz="2600">
                        <a:solidFill>
                          <a:schemeClr val="dk1"/>
                        </a:solidFill>
                        <a:highlight>
                          <a:srgbClr val="FFFFFF"/>
                        </a:highlight>
                        <a:latin typeface="Open Sans"/>
                        <a:ea typeface="Open Sans"/>
                        <a:cs typeface="Open Sans"/>
                        <a:sym typeface="Open Sans"/>
                      </a:endParaRPr>
                    </a:p>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多对一</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天然的一对多、树形嵌套关系</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通过外键 + Join </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2900">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代码简化</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数据具有文档结构则文档模型天然合适，</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主键，索引，条件过滤</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74425">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Join 支持</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对 Join 支持的不太好</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支持的还可以</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2900">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访问局部性</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一次性访问整个文档，只访问文档一部分，较差</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chemeClr val="dk1"/>
                          </a:solidFill>
                          <a:highlight>
                            <a:srgbClr val="FFFFFF"/>
                          </a:highlight>
                          <a:latin typeface="Open Sans"/>
                          <a:ea typeface="Open Sans"/>
                          <a:cs typeface="Open Sans"/>
                          <a:sym typeface="Open Sans"/>
                        </a:rPr>
                        <a:t>分散在多个表中</a:t>
                      </a:r>
                      <a:endParaRPr sz="2600">
                        <a:solidFill>
                          <a:schemeClr val="dk1"/>
                        </a:solidFill>
                        <a:highlight>
                          <a:srgbClr val="FFFFFF"/>
                        </a:highlight>
                        <a:latin typeface="Open Sans"/>
                        <a:ea typeface="Open Sans"/>
                        <a:cs typeface="Open Sans"/>
                        <a:sym typeface="Open Sans"/>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29f21f7e370_0_0"/>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特殊的存储场景：</a:t>
            </a:r>
            <a:r>
              <a:rPr lang="zh-CN"/>
              <a:t>图</a:t>
            </a:r>
            <a:r>
              <a:rPr lang="zh-CN"/>
              <a:t>模型、列存储</a:t>
            </a:r>
            <a:endParaRPr/>
          </a:p>
        </p:txBody>
      </p:sp>
      <p:pic>
        <p:nvPicPr>
          <p:cNvPr id="84" name="Google Shape;84;g29f21f7e370_0_0"/>
          <p:cNvPicPr preferRelativeResize="0"/>
          <p:nvPr/>
        </p:nvPicPr>
        <p:blipFill>
          <a:blip r:embed="rId3">
            <a:alphaModFix/>
          </a:blip>
          <a:stretch>
            <a:fillRect/>
          </a:stretch>
        </p:blipFill>
        <p:spPr>
          <a:xfrm>
            <a:off x="14046175" y="2364287"/>
            <a:ext cx="9277749" cy="6448650"/>
          </a:xfrm>
          <a:prstGeom prst="rect">
            <a:avLst/>
          </a:prstGeom>
          <a:noFill/>
          <a:ln>
            <a:noFill/>
          </a:ln>
        </p:spPr>
      </p:pic>
      <p:sp>
        <p:nvSpPr>
          <p:cNvPr id="85" name="Google Shape;85;g29f21f7e370_0_0"/>
          <p:cNvSpPr txBox="1"/>
          <p:nvPr/>
        </p:nvSpPr>
        <p:spPr>
          <a:xfrm>
            <a:off x="14178050" y="8812925"/>
            <a:ext cx="87948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3600">
                <a:solidFill>
                  <a:schemeClr val="dk1"/>
                </a:solidFill>
                <a:latin typeface="Open Sans"/>
                <a:ea typeface="Open Sans"/>
                <a:cs typeface="Open Sans"/>
                <a:sym typeface="Open Sans"/>
              </a:rPr>
              <a:t>什么情况考虑列存储？</a:t>
            </a:r>
            <a:endParaRPr sz="36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3600">
              <a:solidFill>
                <a:schemeClr val="dk1"/>
              </a:solidFill>
              <a:latin typeface="Open Sans"/>
              <a:ea typeface="Open Sans"/>
              <a:cs typeface="Open Sans"/>
              <a:sym typeface="Open Sans"/>
            </a:endParaRPr>
          </a:p>
          <a:p>
            <a:pPr indent="-457200" lvl="0" marL="457200" rtl="0" algn="l">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列是不固定的</a:t>
            </a:r>
            <a:endParaRPr sz="3600">
              <a:solidFill>
                <a:schemeClr val="dk1"/>
              </a:solidFill>
              <a:latin typeface="Open Sans"/>
              <a:ea typeface="Open Sans"/>
              <a:cs typeface="Open Sans"/>
              <a:sym typeface="Open Sans"/>
            </a:endParaRPr>
          </a:p>
          <a:p>
            <a:pPr indent="-457200" lvl="0" marL="457200" rtl="0" algn="l">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列更新</a:t>
            </a:r>
            <a:r>
              <a:rPr lang="zh-CN" sz="3600">
                <a:solidFill>
                  <a:schemeClr val="dk1"/>
                </a:solidFill>
                <a:latin typeface="Open Sans"/>
                <a:ea typeface="Open Sans"/>
                <a:cs typeface="Open Sans"/>
                <a:sym typeface="Open Sans"/>
              </a:rPr>
              <a:t>较多，不是行更新</a:t>
            </a:r>
            <a:endParaRPr sz="3600">
              <a:solidFill>
                <a:schemeClr val="dk1"/>
              </a:solidFill>
              <a:latin typeface="Open Sans"/>
              <a:ea typeface="Open Sans"/>
              <a:cs typeface="Open Sans"/>
              <a:sym typeface="Open Sans"/>
            </a:endParaRPr>
          </a:p>
          <a:p>
            <a:pPr indent="-457200" lvl="0" marL="457200" rtl="0" algn="l">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行很大，预计8亿</a:t>
            </a:r>
            <a:endParaRPr sz="3600">
              <a:solidFill>
                <a:schemeClr val="dk1"/>
              </a:solidFill>
              <a:latin typeface="Open Sans"/>
              <a:ea typeface="Open Sans"/>
              <a:cs typeface="Open Sans"/>
              <a:sym typeface="Open Sans"/>
            </a:endParaRPr>
          </a:p>
          <a:p>
            <a:pPr indent="-457200" lvl="0" marL="457200" rtl="0" algn="l">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列很大的宽表，数据稀疏</a:t>
            </a:r>
            <a:endParaRPr sz="3600">
              <a:solidFill>
                <a:schemeClr val="dk1"/>
              </a:solidFill>
              <a:latin typeface="Open Sans"/>
              <a:ea typeface="Open Sans"/>
              <a:cs typeface="Open Sans"/>
              <a:sym typeface="Open Sans"/>
            </a:endParaRPr>
          </a:p>
          <a:p>
            <a:pPr indent="-457200" lvl="0" marL="457200" rtl="0" algn="l">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数据量很大</a:t>
            </a:r>
            <a:endParaRPr sz="3600">
              <a:solidFill>
                <a:schemeClr val="dk1"/>
              </a:solidFill>
              <a:latin typeface="Open Sans"/>
              <a:ea typeface="Open Sans"/>
              <a:cs typeface="Open Sans"/>
              <a:sym typeface="Open Sans"/>
            </a:endParaRPr>
          </a:p>
          <a:p>
            <a:pPr indent="0" lvl="0" marL="457200" rtl="0" algn="l">
              <a:spcBef>
                <a:spcPts val="0"/>
              </a:spcBef>
              <a:spcAft>
                <a:spcPts val="0"/>
              </a:spcAft>
              <a:buNone/>
            </a:pPr>
            <a:r>
              <a:t/>
            </a:r>
            <a:endParaRPr/>
          </a:p>
        </p:txBody>
      </p:sp>
      <p:pic>
        <p:nvPicPr>
          <p:cNvPr id="86" name="Google Shape;86;g29f21f7e370_0_0"/>
          <p:cNvPicPr preferRelativeResize="0"/>
          <p:nvPr/>
        </p:nvPicPr>
        <p:blipFill>
          <a:blip r:embed="rId4">
            <a:alphaModFix/>
          </a:blip>
          <a:stretch>
            <a:fillRect/>
          </a:stretch>
        </p:blipFill>
        <p:spPr>
          <a:xfrm>
            <a:off x="2316725" y="1845700"/>
            <a:ext cx="10515598" cy="6384062"/>
          </a:xfrm>
          <a:prstGeom prst="rect">
            <a:avLst/>
          </a:prstGeom>
          <a:noFill/>
          <a:ln>
            <a:noFill/>
          </a:ln>
        </p:spPr>
      </p:pic>
      <p:pic>
        <p:nvPicPr>
          <p:cNvPr id="87" name="Google Shape;87;g29f21f7e370_0_0"/>
          <p:cNvPicPr preferRelativeResize="0"/>
          <p:nvPr/>
        </p:nvPicPr>
        <p:blipFill>
          <a:blip r:embed="rId5">
            <a:alphaModFix/>
          </a:blip>
          <a:stretch>
            <a:fillRect/>
          </a:stretch>
        </p:blipFill>
        <p:spPr>
          <a:xfrm>
            <a:off x="2160275" y="8447849"/>
            <a:ext cx="10515600" cy="4457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2640a5f4218_0_52"/>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存储两个流派：LSM-Tree 和 B-Trees </a:t>
            </a:r>
            <a:endParaRPr/>
          </a:p>
        </p:txBody>
      </p:sp>
      <p:pic>
        <p:nvPicPr>
          <p:cNvPr id="93" name="Google Shape;93;g2640a5f4218_0_52"/>
          <p:cNvPicPr preferRelativeResize="0"/>
          <p:nvPr/>
        </p:nvPicPr>
        <p:blipFill>
          <a:blip r:embed="rId3">
            <a:alphaModFix/>
          </a:blip>
          <a:stretch>
            <a:fillRect/>
          </a:stretch>
        </p:blipFill>
        <p:spPr>
          <a:xfrm>
            <a:off x="2007100" y="8323688"/>
            <a:ext cx="7988649" cy="4571650"/>
          </a:xfrm>
          <a:prstGeom prst="rect">
            <a:avLst/>
          </a:prstGeom>
          <a:noFill/>
          <a:ln>
            <a:noFill/>
          </a:ln>
        </p:spPr>
      </p:pic>
      <p:graphicFrame>
        <p:nvGraphicFramePr>
          <p:cNvPr id="94" name="Google Shape;94;g2640a5f4218_0_52"/>
          <p:cNvGraphicFramePr/>
          <p:nvPr/>
        </p:nvGraphicFramePr>
        <p:xfrm>
          <a:off x="12075338" y="8323700"/>
          <a:ext cx="3000000" cy="3000000"/>
        </p:xfrm>
        <a:graphic>
          <a:graphicData uri="http://schemas.openxmlformats.org/drawingml/2006/table">
            <a:tbl>
              <a:tblPr>
                <a:solidFill>
                  <a:srgbClr val="FFFFFF"/>
                </a:solidFill>
                <a:tableStyleId>{655C7F70-49E7-4B43-8A84-E369A4147F12}</a:tableStyleId>
              </a:tblPr>
              <a:tblGrid>
                <a:gridCol w="1857025"/>
                <a:gridCol w="4789500"/>
                <a:gridCol w="3999475"/>
              </a:tblGrid>
              <a:tr h="805375">
                <a:tc>
                  <a:txBody>
                    <a:bodyPr/>
                    <a:lstStyle/>
                    <a:p>
                      <a:pPr indent="0" lvl="0" marL="0" rtl="0" algn="ctr">
                        <a:lnSpc>
                          <a:spcPct val="115000"/>
                        </a:lnSpc>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流派</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LSM trees</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B Tree</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41150">
                <a:tc>
                  <a:txBody>
                    <a:bodyPr/>
                    <a:lstStyle/>
                    <a:p>
                      <a:pPr indent="0" lvl="0" marL="0" rtl="0" algn="l">
                        <a:spcBef>
                          <a:spcPts val="0"/>
                        </a:spcBef>
                        <a:spcAft>
                          <a:spcPts val="0"/>
                        </a:spcAft>
                        <a:buNone/>
                      </a:pPr>
                      <a:r>
                        <a:rPr lang="zh-CN" sz="2600"/>
                        <a:t>特点</a:t>
                      </a:r>
                      <a:endParaRPr sz="2600"/>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所有</a:t>
                      </a:r>
                      <a:r>
                        <a:rPr lang="zh-CN" sz="2600">
                          <a:solidFill>
                            <a:srgbClr val="34495E"/>
                          </a:solidFill>
                          <a:highlight>
                            <a:srgbClr val="FFFFFF"/>
                          </a:highlight>
                          <a:latin typeface="Helvetica Neue"/>
                          <a:ea typeface="Helvetica Neue"/>
                          <a:cs typeface="Helvetica Neue"/>
                          <a:sym typeface="Helvetica Neue"/>
                        </a:rPr>
                        <a:t>修改都表现为</a:t>
                      </a:r>
                      <a:r>
                        <a:rPr lang="zh-CN" sz="2600">
                          <a:solidFill>
                            <a:srgbClr val="34495E"/>
                          </a:solidFill>
                          <a:highlight>
                            <a:srgbClr val="FFFFFF"/>
                          </a:highlight>
                          <a:latin typeface="Helvetica Neue"/>
                          <a:ea typeface="Helvetica Neue"/>
                          <a:cs typeface="Helvetica Neue"/>
                          <a:sym typeface="Helvetica Neue"/>
                        </a:rPr>
                        <a:t>顺序</a:t>
                      </a:r>
                      <a:r>
                        <a:rPr lang="zh-CN" sz="2600">
                          <a:solidFill>
                            <a:srgbClr val="34495E"/>
                          </a:solidFill>
                          <a:highlight>
                            <a:srgbClr val="FFFFFF"/>
                          </a:highlight>
                          <a:latin typeface="Helvetica Neue"/>
                          <a:ea typeface="Helvetica Neue"/>
                          <a:cs typeface="Helvetica Neue"/>
                          <a:sym typeface="Helvetica Neue"/>
                        </a:rPr>
                        <a:t>追加</a:t>
                      </a:r>
                      <a:r>
                        <a:rPr lang="zh-CN" sz="2600">
                          <a:solidFill>
                            <a:srgbClr val="34495E"/>
                          </a:solidFill>
                          <a:highlight>
                            <a:srgbClr val="FFFFFF"/>
                          </a:highlight>
                          <a:latin typeface="Helvetica Neue"/>
                          <a:ea typeface="Helvetica Neue"/>
                          <a:cs typeface="Helvetica Neue"/>
                          <a:sym typeface="Helvetica Neue"/>
                        </a:rPr>
                        <a:t>写</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zh-CN" sz="2600">
                          <a:solidFill>
                            <a:srgbClr val="34495E"/>
                          </a:solidFill>
                          <a:highlight>
                            <a:srgbClr val="FFFFFF"/>
                          </a:highlight>
                          <a:latin typeface="Helvetica Neue"/>
                          <a:ea typeface="Helvetica Neue"/>
                          <a:cs typeface="Helvetica Neue"/>
                          <a:sym typeface="Helvetica Neue"/>
                        </a:rPr>
                        <a:t>以page为粒度对磁盘进行随机写</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87925">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优势</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写入更快、没有碎片、压缩率较高</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读取很快</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00975">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缺点</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读相对慢，后台大量写merge可能影响带宽</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zh-CN" sz="2600">
                          <a:solidFill>
                            <a:srgbClr val="34495E"/>
                          </a:solidFill>
                          <a:highlight>
                            <a:srgbClr val="FFFFFF"/>
                          </a:highlight>
                          <a:latin typeface="Helvetica Neue"/>
                          <a:ea typeface="Helvetica Neue"/>
                          <a:cs typeface="Helvetica Neue"/>
                          <a:sym typeface="Helvetica Neue"/>
                        </a:rPr>
                        <a:t>写吞吐不能太大，碎片问题</a:t>
                      </a:r>
                      <a:endParaRPr sz="2600">
                        <a:solidFill>
                          <a:srgbClr val="34495E"/>
                        </a:solidFill>
                        <a:highlight>
                          <a:srgbClr val="FFFFFF"/>
                        </a:highlight>
                        <a:latin typeface="Helvetica Neue"/>
                        <a:ea typeface="Helvetica Neue"/>
                        <a:cs typeface="Helvetica Neue"/>
                        <a:sym typeface="Helvetica Neue"/>
                      </a:endParaRPr>
                    </a:p>
                  </a:txBody>
                  <a:tcPr marT="57150" marB="57150" marR="123825" marL="1238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95" name="Google Shape;95;g2640a5f4218_0_52"/>
          <p:cNvPicPr preferRelativeResize="0"/>
          <p:nvPr/>
        </p:nvPicPr>
        <p:blipFill>
          <a:blip r:embed="rId4">
            <a:alphaModFix/>
          </a:blip>
          <a:stretch>
            <a:fillRect/>
          </a:stretch>
        </p:blipFill>
        <p:spPr>
          <a:xfrm>
            <a:off x="12075337" y="1456675"/>
            <a:ext cx="8805700" cy="5916874"/>
          </a:xfrm>
          <a:prstGeom prst="rect">
            <a:avLst/>
          </a:prstGeom>
          <a:noFill/>
          <a:ln>
            <a:noFill/>
          </a:ln>
        </p:spPr>
      </p:pic>
      <p:pic>
        <p:nvPicPr>
          <p:cNvPr id="96" name="Google Shape;96;g2640a5f4218_0_52"/>
          <p:cNvPicPr preferRelativeResize="0"/>
          <p:nvPr/>
        </p:nvPicPr>
        <p:blipFill>
          <a:blip r:embed="rId5">
            <a:alphaModFix/>
          </a:blip>
          <a:stretch>
            <a:fillRect/>
          </a:stretch>
        </p:blipFill>
        <p:spPr>
          <a:xfrm>
            <a:off x="2007112" y="1917625"/>
            <a:ext cx="8805699" cy="59464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2a736d85ff4_0_29"/>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分布式系理论：ACID、CAP、BASE、一致性问题</a:t>
            </a:r>
            <a:endParaRPr/>
          </a:p>
        </p:txBody>
      </p:sp>
      <p:pic>
        <p:nvPicPr>
          <p:cNvPr id="102" name="Google Shape;102;g2a736d85ff4_0_29"/>
          <p:cNvPicPr preferRelativeResize="0"/>
          <p:nvPr/>
        </p:nvPicPr>
        <p:blipFill>
          <a:blip r:embed="rId3">
            <a:alphaModFix/>
          </a:blip>
          <a:stretch>
            <a:fillRect/>
          </a:stretch>
        </p:blipFill>
        <p:spPr>
          <a:xfrm>
            <a:off x="14048850" y="7641101"/>
            <a:ext cx="8126724" cy="5050974"/>
          </a:xfrm>
          <a:prstGeom prst="rect">
            <a:avLst/>
          </a:prstGeom>
          <a:noFill/>
          <a:ln>
            <a:noFill/>
          </a:ln>
        </p:spPr>
      </p:pic>
      <p:sp>
        <p:nvSpPr>
          <p:cNvPr id="103" name="Google Shape;103;g2a736d85ff4_0_29"/>
          <p:cNvSpPr txBox="1"/>
          <p:nvPr/>
        </p:nvSpPr>
        <p:spPr>
          <a:xfrm>
            <a:off x="13470475" y="7442625"/>
            <a:ext cx="11763600" cy="846600"/>
          </a:xfrm>
          <a:prstGeom prst="rect">
            <a:avLst/>
          </a:prstGeom>
          <a:noFill/>
          <a:ln>
            <a:noFill/>
          </a:ln>
        </p:spPr>
        <p:txBody>
          <a:bodyPr anchorCtr="0" anchor="t" bIns="91425" lIns="91425" spcFirstLastPara="1" rIns="91425" wrap="square" tIns="91425">
            <a:spAutoFit/>
          </a:bodyPr>
          <a:lstStyle/>
          <a:p>
            <a:pPr indent="-228600" lvl="0" marL="457200" rtl="0" algn="l">
              <a:lnSpc>
                <a:spcPct val="115000"/>
              </a:lnSpc>
              <a:spcBef>
                <a:spcPts val="1500"/>
              </a:spcBef>
              <a:spcAft>
                <a:spcPts val="0"/>
              </a:spcAft>
              <a:buClr>
                <a:srgbClr val="374151"/>
              </a:buClr>
              <a:buSzPts val="2000"/>
              <a:buNone/>
            </a:pPr>
            <a:r>
              <a:t/>
            </a:r>
            <a:endParaRPr sz="2000">
              <a:solidFill>
                <a:srgbClr val="374151"/>
              </a:solidFill>
            </a:endParaRPr>
          </a:p>
          <a:p>
            <a:pPr indent="-228600" lvl="0" marL="457200" rtl="0" algn="l">
              <a:lnSpc>
                <a:spcPct val="115000"/>
              </a:lnSpc>
              <a:spcBef>
                <a:spcPts val="0"/>
              </a:spcBef>
              <a:spcAft>
                <a:spcPts val="0"/>
              </a:spcAft>
              <a:buClr>
                <a:srgbClr val="374151"/>
              </a:buClr>
              <a:buSzPts val="2000"/>
              <a:buNone/>
            </a:pPr>
            <a:r>
              <a:t/>
            </a:r>
            <a:endParaRPr sz="2000">
              <a:solidFill>
                <a:srgbClr val="374151"/>
              </a:solidFill>
            </a:endParaRPr>
          </a:p>
        </p:txBody>
      </p:sp>
      <p:pic>
        <p:nvPicPr>
          <p:cNvPr id="104" name="Google Shape;104;g2a736d85ff4_0_29"/>
          <p:cNvPicPr preferRelativeResize="0"/>
          <p:nvPr/>
        </p:nvPicPr>
        <p:blipFill>
          <a:blip r:embed="rId4">
            <a:alphaModFix/>
          </a:blip>
          <a:stretch>
            <a:fillRect/>
          </a:stretch>
        </p:blipFill>
        <p:spPr>
          <a:xfrm>
            <a:off x="2820825" y="2414225"/>
            <a:ext cx="9150973" cy="3987350"/>
          </a:xfrm>
          <a:prstGeom prst="rect">
            <a:avLst/>
          </a:prstGeom>
          <a:noFill/>
          <a:ln>
            <a:noFill/>
          </a:ln>
        </p:spPr>
      </p:pic>
      <p:pic>
        <p:nvPicPr>
          <p:cNvPr id="105" name="Google Shape;105;g2a736d85ff4_0_29"/>
          <p:cNvPicPr preferRelativeResize="0"/>
          <p:nvPr/>
        </p:nvPicPr>
        <p:blipFill>
          <a:blip r:embed="rId5">
            <a:alphaModFix/>
          </a:blip>
          <a:stretch>
            <a:fillRect/>
          </a:stretch>
        </p:blipFill>
        <p:spPr>
          <a:xfrm>
            <a:off x="15182499" y="1780002"/>
            <a:ext cx="6312021" cy="5510223"/>
          </a:xfrm>
          <a:prstGeom prst="rect">
            <a:avLst/>
          </a:prstGeom>
          <a:noFill/>
          <a:ln>
            <a:noFill/>
          </a:ln>
        </p:spPr>
      </p:pic>
      <p:pic>
        <p:nvPicPr>
          <p:cNvPr id="106" name="Google Shape;106;g2a736d85ff4_0_29"/>
          <p:cNvPicPr preferRelativeResize="0"/>
          <p:nvPr/>
        </p:nvPicPr>
        <p:blipFill>
          <a:blip r:embed="rId6">
            <a:alphaModFix/>
          </a:blip>
          <a:stretch>
            <a:fillRect/>
          </a:stretch>
        </p:blipFill>
        <p:spPr>
          <a:xfrm>
            <a:off x="3880100" y="7594863"/>
            <a:ext cx="6735575" cy="4940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a6a472839e_0_17"/>
          <p:cNvSpPr txBox="1"/>
          <p:nvPr>
            <p:ph type="title"/>
          </p:nvPr>
        </p:nvSpPr>
        <p:spPr>
          <a:xfrm>
            <a:off x="2794924" y="164800"/>
            <a:ext cx="19975500" cy="1465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数据库事务: 隔离级别、读</a:t>
            </a:r>
            <a:r>
              <a:rPr lang="zh-CN"/>
              <a:t>可见性、写丢失问题</a:t>
            </a:r>
            <a:endParaRPr/>
          </a:p>
        </p:txBody>
      </p:sp>
      <p:pic>
        <p:nvPicPr>
          <p:cNvPr id="112" name="Google Shape;112;g2a6a472839e_0_17"/>
          <p:cNvPicPr preferRelativeResize="0"/>
          <p:nvPr/>
        </p:nvPicPr>
        <p:blipFill>
          <a:blip r:embed="rId3">
            <a:alphaModFix/>
          </a:blip>
          <a:stretch>
            <a:fillRect/>
          </a:stretch>
        </p:blipFill>
        <p:spPr>
          <a:xfrm>
            <a:off x="2957750" y="2064675"/>
            <a:ext cx="8346936" cy="3826500"/>
          </a:xfrm>
          <a:prstGeom prst="rect">
            <a:avLst/>
          </a:prstGeom>
          <a:noFill/>
          <a:ln>
            <a:noFill/>
          </a:ln>
        </p:spPr>
      </p:pic>
      <p:sp>
        <p:nvSpPr>
          <p:cNvPr id="113" name="Google Shape;113;g2a6a472839e_0_17"/>
          <p:cNvSpPr txBox="1"/>
          <p:nvPr/>
        </p:nvSpPr>
        <p:spPr>
          <a:xfrm>
            <a:off x="4876351" y="5924650"/>
            <a:ext cx="5715600" cy="9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RU与脏读（RR及以上）</a:t>
            </a:r>
            <a:endParaRPr sz="3600">
              <a:solidFill>
                <a:srgbClr val="EE4D2D"/>
              </a:solidFill>
              <a:latin typeface="Open Sans"/>
              <a:ea typeface="Open Sans"/>
              <a:cs typeface="Open Sans"/>
              <a:sym typeface="Open Sans"/>
            </a:endParaRPr>
          </a:p>
        </p:txBody>
      </p:sp>
      <p:pic>
        <p:nvPicPr>
          <p:cNvPr id="114" name="Google Shape;114;g2a6a472839e_0_17"/>
          <p:cNvPicPr preferRelativeResize="0"/>
          <p:nvPr/>
        </p:nvPicPr>
        <p:blipFill>
          <a:blip r:embed="rId4">
            <a:alphaModFix/>
          </a:blip>
          <a:stretch>
            <a:fillRect/>
          </a:stretch>
        </p:blipFill>
        <p:spPr>
          <a:xfrm>
            <a:off x="13073867" y="2222350"/>
            <a:ext cx="7980283" cy="3826500"/>
          </a:xfrm>
          <a:prstGeom prst="rect">
            <a:avLst/>
          </a:prstGeom>
          <a:noFill/>
          <a:ln>
            <a:noFill/>
          </a:ln>
        </p:spPr>
      </p:pic>
      <p:sp>
        <p:nvSpPr>
          <p:cNvPr id="115" name="Google Shape;115;g2a6a472839e_0_17"/>
          <p:cNvSpPr txBox="1"/>
          <p:nvPr/>
        </p:nvSpPr>
        <p:spPr>
          <a:xfrm>
            <a:off x="14287950" y="6224675"/>
            <a:ext cx="7007100" cy="9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RC与不可重复读（RR及以上）</a:t>
            </a:r>
            <a:endParaRPr sz="3600">
              <a:solidFill>
                <a:srgbClr val="EE4D2D"/>
              </a:solidFill>
              <a:latin typeface="Open Sans"/>
              <a:ea typeface="Open Sans"/>
              <a:cs typeface="Open Sans"/>
              <a:sym typeface="Open Sans"/>
            </a:endParaRPr>
          </a:p>
        </p:txBody>
      </p:sp>
      <p:sp>
        <p:nvSpPr>
          <p:cNvPr id="116" name="Google Shape;116;g2a6a472839e_0_17"/>
          <p:cNvSpPr txBox="1"/>
          <p:nvPr/>
        </p:nvSpPr>
        <p:spPr>
          <a:xfrm>
            <a:off x="12643850" y="7394075"/>
            <a:ext cx="11368500" cy="38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50">
              <a:solidFill>
                <a:srgbClr val="525252"/>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zh-CN" sz="1850">
                <a:solidFill>
                  <a:srgbClr val="525252"/>
                </a:solidFill>
                <a:highlight>
                  <a:schemeClr val="lt1"/>
                </a:highlight>
                <a:latin typeface="Courier New"/>
                <a:ea typeface="Courier New"/>
                <a:cs typeface="Courier New"/>
                <a:sym typeface="Courier New"/>
              </a:rPr>
              <a:t>原子写：</a:t>
            </a:r>
            <a:r>
              <a:rPr b="1" lang="zh-CN" sz="2150">
                <a:solidFill>
                  <a:srgbClr val="525252"/>
                </a:solidFill>
                <a:highlight>
                  <a:schemeClr val="lt1"/>
                </a:highlight>
                <a:latin typeface="Courier New"/>
                <a:ea typeface="Courier New"/>
                <a:cs typeface="Courier New"/>
                <a:sym typeface="Courier New"/>
              </a:rPr>
              <a:t>UPDATE counters SET value = value + 1 WHERE key = 'foo';</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zh-CN" sz="2150">
                <a:solidFill>
                  <a:srgbClr val="525252"/>
                </a:solidFill>
                <a:highlight>
                  <a:schemeClr val="lt1"/>
                </a:highlight>
                <a:latin typeface="Courier New"/>
                <a:ea typeface="Courier New"/>
                <a:cs typeface="Courier New"/>
                <a:sym typeface="Courier New"/>
              </a:rPr>
              <a:t>显示加锁：select xx where xx for update;</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zh-CN" sz="2150">
                <a:solidFill>
                  <a:srgbClr val="525252"/>
                </a:solidFill>
                <a:highlight>
                  <a:schemeClr val="lt1"/>
                </a:highlight>
                <a:latin typeface="Courier New"/>
                <a:ea typeface="Courier New"/>
                <a:cs typeface="Courier New"/>
                <a:sym typeface="Courier New"/>
              </a:rPr>
              <a:t>乐观锁:select xx,version where xx;</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zh-CN" sz="2150">
                <a:solidFill>
                  <a:srgbClr val="525252"/>
                </a:solidFill>
                <a:highlight>
                  <a:schemeClr val="lt1"/>
                </a:highlight>
                <a:latin typeface="Courier New"/>
                <a:ea typeface="Courier New"/>
                <a:cs typeface="Courier New"/>
                <a:sym typeface="Courier New"/>
              </a:rPr>
              <a:t>		update set xx=yy where version=v；</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2150">
              <a:solidFill>
                <a:srgbClr val="52525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zh-CN" sz="2150">
                <a:solidFill>
                  <a:srgbClr val="525252"/>
                </a:solidFill>
                <a:highlight>
                  <a:schemeClr val="lt1"/>
                </a:highlight>
                <a:latin typeface="Courier New"/>
                <a:ea typeface="Courier New"/>
                <a:cs typeface="Courier New"/>
                <a:sym typeface="Courier New"/>
              </a:rPr>
              <a:t>CAS:UPDATE wiki_pages SET content = 'new content' WHERE id = 1234 AND content = 'old content';</a:t>
            </a:r>
            <a:endParaRPr b="1" sz="2150">
              <a:solidFill>
                <a:srgbClr val="525252"/>
              </a:solidFill>
              <a:highlight>
                <a:schemeClr val="lt1"/>
              </a:highlight>
              <a:latin typeface="Courier New"/>
              <a:ea typeface="Courier New"/>
              <a:cs typeface="Courier New"/>
              <a:sym typeface="Courier New"/>
            </a:endParaRPr>
          </a:p>
        </p:txBody>
      </p:sp>
      <p:pic>
        <p:nvPicPr>
          <p:cNvPr id="117" name="Google Shape;117;g2a6a472839e_0_17"/>
          <p:cNvPicPr preferRelativeResize="0"/>
          <p:nvPr/>
        </p:nvPicPr>
        <p:blipFill>
          <a:blip r:embed="rId5">
            <a:alphaModFix/>
          </a:blip>
          <a:stretch>
            <a:fillRect/>
          </a:stretch>
        </p:blipFill>
        <p:spPr>
          <a:xfrm>
            <a:off x="2379525" y="4413075"/>
            <a:ext cx="9523098" cy="6807501"/>
          </a:xfrm>
          <a:prstGeom prst="rect">
            <a:avLst/>
          </a:prstGeom>
          <a:noFill/>
          <a:ln>
            <a:noFill/>
          </a:ln>
        </p:spPr>
      </p:pic>
      <p:sp>
        <p:nvSpPr>
          <p:cNvPr id="118" name="Google Shape;118;g2a6a472839e_0_17"/>
          <p:cNvSpPr txBox="1"/>
          <p:nvPr/>
        </p:nvSpPr>
        <p:spPr>
          <a:xfrm>
            <a:off x="3960963" y="12271125"/>
            <a:ext cx="6340500" cy="8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RR与幻读(seriablizability）</a:t>
            </a:r>
            <a:endParaRPr sz="3600">
              <a:solidFill>
                <a:srgbClr val="EE4D2D"/>
              </a:solidFill>
              <a:latin typeface="Open Sans"/>
              <a:ea typeface="Open Sans"/>
              <a:cs typeface="Open Sans"/>
              <a:sym typeface="Open Sans"/>
            </a:endParaRPr>
          </a:p>
        </p:txBody>
      </p:sp>
      <p:sp>
        <p:nvSpPr>
          <p:cNvPr id="119" name="Google Shape;119;g2a6a472839e_0_17"/>
          <p:cNvSpPr txBox="1"/>
          <p:nvPr/>
        </p:nvSpPr>
        <p:spPr>
          <a:xfrm>
            <a:off x="15839050" y="11812500"/>
            <a:ext cx="2995200" cy="5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写丢失问题</a:t>
            </a:r>
            <a:endParaRPr sz="3600">
              <a:solidFill>
                <a:srgbClr val="EE4D2D"/>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736d85ff4_0_44"/>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分布式系统：三种数据分片</a:t>
            </a:r>
            <a:endParaRPr/>
          </a:p>
        </p:txBody>
      </p:sp>
      <p:pic>
        <p:nvPicPr>
          <p:cNvPr id="125" name="Google Shape;125;g2a736d85ff4_0_44"/>
          <p:cNvPicPr preferRelativeResize="0"/>
          <p:nvPr/>
        </p:nvPicPr>
        <p:blipFill>
          <a:blip r:embed="rId3">
            <a:alphaModFix/>
          </a:blip>
          <a:stretch>
            <a:fillRect/>
          </a:stretch>
        </p:blipFill>
        <p:spPr>
          <a:xfrm>
            <a:off x="1708350" y="7579800"/>
            <a:ext cx="7004250" cy="2958325"/>
          </a:xfrm>
          <a:prstGeom prst="rect">
            <a:avLst/>
          </a:prstGeom>
          <a:noFill/>
          <a:ln>
            <a:noFill/>
          </a:ln>
        </p:spPr>
      </p:pic>
      <p:pic>
        <p:nvPicPr>
          <p:cNvPr id="126" name="Google Shape;126;g2a736d85ff4_0_44"/>
          <p:cNvPicPr preferRelativeResize="0"/>
          <p:nvPr/>
        </p:nvPicPr>
        <p:blipFill>
          <a:blip r:embed="rId4">
            <a:alphaModFix/>
          </a:blip>
          <a:stretch>
            <a:fillRect/>
          </a:stretch>
        </p:blipFill>
        <p:spPr>
          <a:xfrm>
            <a:off x="9632613" y="7452575"/>
            <a:ext cx="5934550" cy="4103325"/>
          </a:xfrm>
          <a:prstGeom prst="rect">
            <a:avLst/>
          </a:prstGeom>
          <a:noFill/>
          <a:ln>
            <a:noFill/>
          </a:ln>
        </p:spPr>
      </p:pic>
      <p:pic>
        <p:nvPicPr>
          <p:cNvPr id="127" name="Google Shape;127;g2a736d85ff4_0_44"/>
          <p:cNvPicPr preferRelativeResize="0"/>
          <p:nvPr/>
        </p:nvPicPr>
        <p:blipFill>
          <a:blip r:embed="rId5">
            <a:alphaModFix/>
          </a:blip>
          <a:stretch>
            <a:fillRect/>
          </a:stretch>
        </p:blipFill>
        <p:spPr>
          <a:xfrm>
            <a:off x="16487200" y="7452575"/>
            <a:ext cx="6837200" cy="3446975"/>
          </a:xfrm>
          <a:prstGeom prst="rect">
            <a:avLst/>
          </a:prstGeom>
          <a:noFill/>
          <a:ln>
            <a:noFill/>
          </a:ln>
        </p:spPr>
      </p:pic>
      <p:graphicFrame>
        <p:nvGraphicFramePr>
          <p:cNvPr id="128" name="Google Shape;128;g2a736d85ff4_0_44"/>
          <p:cNvGraphicFramePr/>
          <p:nvPr/>
        </p:nvGraphicFramePr>
        <p:xfrm>
          <a:off x="13186975" y="1959850"/>
          <a:ext cx="3000000" cy="3000000"/>
        </p:xfrm>
        <a:graphic>
          <a:graphicData uri="http://schemas.openxmlformats.org/drawingml/2006/table">
            <a:tbl>
              <a:tblPr>
                <a:noFill/>
                <a:tableStyleId>{306AADBA-BB5E-43D5-B89C-AE3343BA0EA7}</a:tableStyleId>
              </a:tblPr>
              <a:tblGrid>
                <a:gridCol w="2575100"/>
                <a:gridCol w="1759125"/>
                <a:gridCol w="2820375"/>
                <a:gridCol w="2178675"/>
              </a:tblGrid>
              <a:tr h="997650">
                <a:tc>
                  <a:txBody>
                    <a:bodyPr/>
                    <a:lstStyle/>
                    <a:p>
                      <a:pPr indent="0" lvl="0" marL="0" rtl="0" algn="l">
                        <a:spcBef>
                          <a:spcPts val="0"/>
                        </a:spcBef>
                        <a:spcAft>
                          <a:spcPts val="0"/>
                        </a:spcAft>
                        <a:buNone/>
                      </a:pPr>
                      <a:r>
                        <a:t/>
                      </a:r>
                      <a:endParaRPr sz="2600"/>
                    </a:p>
                  </a:txBody>
                  <a:tcPr marT="91425" marB="91425" marR="91425" marL="91425"/>
                </a:tc>
                <a:tc>
                  <a:txBody>
                    <a:bodyPr/>
                    <a:lstStyle/>
                    <a:p>
                      <a:pPr indent="0" lvl="0" marL="0" rtl="0" algn="l">
                        <a:spcBef>
                          <a:spcPts val="0"/>
                        </a:spcBef>
                        <a:spcAft>
                          <a:spcPts val="0"/>
                        </a:spcAft>
                        <a:buNone/>
                      </a:pPr>
                      <a:r>
                        <a:rPr lang="zh-CN" sz="2600"/>
                        <a:t>映射关系</a:t>
                      </a:r>
                      <a:endParaRPr sz="2600"/>
                    </a:p>
                    <a:p>
                      <a:pPr indent="0" lvl="0" marL="0" rtl="0" algn="l">
                        <a:spcBef>
                          <a:spcPts val="0"/>
                        </a:spcBef>
                        <a:spcAft>
                          <a:spcPts val="0"/>
                        </a:spcAft>
                        <a:buNone/>
                      </a:pPr>
                      <a:r>
                        <a:rPr lang="zh-CN" sz="2600"/>
                        <a:t>维护</a:t>
                      </a:r>
                      <a:r>
                        <a:rPr lang="zh-CN" sz="2600"/>
                        <a:t>难度</a:t>
                      </a:r>
                      <a:endParaRPr sz="2600"/>
                    </a:p>
                  </a:txBody>
                  <a:tcPr marT="91425" marB="91425" marR="91425" marL="91425"/>
                </a:tc>
                <a:tc>
                  <a:txBody>
                    <a:bodyPr/>
                    <a:lstStyle/>
                    <a:p>
                      <a:pPr indent="0" lvl="0" marL="0" rtl="0" algn="l">
                        <a:spcBef>
                          <a:spcPts val="0"/>
                        </a:spcBef>
                        <a:spcAft>
                          <a:spcPts val="0"/>
                        </a:spcAft>
                        <a:buNone/>
                      </a:pPr>
                      <a:r>
                        <a:rPr lang="zh-CN" sz="2600"/>
                        <a:t>节点增删</a:t>
                      </a:r>
                      <a:r>
                        <a:rPr lang="zh-CN" sz="2600"/>
                        <a:t>数据迁移</a:t>
                      </a:r>
                      <a:endParaRPr sz="2600"/>
                    </a:p>
                  </a:txBody>
                  <a:tcPr marT="91425" marB="91425" marR="91425" marL="91425"/>
                </a:tc>
                <a:tc>
                  <a:txBody>
                    <a:bodyPr/>
                    <a:lstStyle/>
                    <a:p>
                      <a:pPr indent="0" lvl="0" marL="0" rtl="0" algn="l">
                        <a:spcBef>
                          <a:spcPts val="0"/>
                        </a:spcBef>
                        <a:spcAft>
                          <a:spcPts val="0"/>
                        </a:spcAft>
                        <a:buNone/>
                      </a:pPr>
                      <a:r>
                        <a:rPr lang="zh-CN" sz="2600"/>
                        <a:t>数据动态平衡</a:t>
                      </a:r>
                      <a:endParaRPr sz="2600"/>
                    </a:p>
                  </a:txBody>
                  <a:tcPr marT="91425" marB="91425" marR="91425" marL="91425"/>
                </a:tc>
              </a:tr>
              <a:tr h="858525">
                <a:tc>
                  <a:txBody>
                    <a:bodyPr/>
                    <a:lstStyle/>
                    <a:p>
                      <a:pPr indent="0" lvl="0" marL="0" rtl="0" algn="l">
                        <a:spcBef>
                          <a:spcPts val="0"/>
                        </a:spcBef>
                        <a:spcAft>
                          <a:spcPts val="0"/>
                        </a:spcAft>
                        <a:buNone/>
                      </a:pPr>
                      <a:r>
                        <a:rPr lang="zh-CN" sz="2600"/>
                        <a:t>hash 取模</a:t>
                      </a:r>
                      <a:endParaRPr sz="2600"/>
                    </a:p>
                  </a:txBody>
                  <a:tcPr marT="91425" marB="91425" marR="91425" marL="91425"/>
                </a:tc>
                <a:tc>
                  <a:txBody>
                    <a:bodyPr/>
                    <a:lstStyle/>
                    <a:p>
                      <a:pPr indent="0" lvl="0" marL="0" rtl="0" algn="l">
                        <a:spcBef>
                          <a:spcPts val="0"/>
                        </a:spcBef>
                        <a:spcAft>
                          <a:spcPts val="0"/>
                        </a:spcAft>
                        <a:buNone/>
                      </a:pPr>
                      <a:r>
                        <a:rPr lang="zh-CN" sz="2600"/>
                        <a:t>简单</a:t>
                      </a:r>
                      <a:endParaRPr sz="2600"/>
                    </a:p>
                  </a:txBody>
                  <a:tcPr marT="91425" marB="91425" marR="91425" marL="91425"/>
                </a:tc>
                <a:tc>
                  <a:txBody>
                    <a:bodyPr/>
                    <a:lstStyle/>
                    <a:p>
                      <a:pPr indent="0" lvl="0" marL="0" rtl="0" algn="l">
                        <a:spcBef>
                          <a:spcPts val="0"/>
                        </a:spcBef>
                        <a:spcAft>
                          <a:spcPts val="0"/>
                        </a:spcAft>
                        <a:buNone/>
                      </a:pPr>
                      <a:r>
                        <a:rPr lang="zh-CN" sz="2600"/>
                        <a:t>数据迁移大</a:t>
                      </a:r>
                      <a:endParaRPr sz="2600"/>
                    </a:p>
                  </a:txBody>
                  <a:tcPr marT="91425" marB="91425" marR="91425" marL="91425"/>
                </a:tc>
                <a:tc>
                  <a:txBody>
                    <a:bodyPr/>
                    <a:lstStyle/>
                    <a:p>
                      <a:pPr indent="0" lvl="0" marL="0" rtl="0" algn="l">
                        <a:spcBef>
                          <a:spcPts val="0"/>
                        </a:spcBef>
                        <a:spcAft>
                          <a:spcPts val="0"/>
                        </a:spcAft>
                        <a:buNone/>
                      </a:pPr>
                      <a:r>
                        <a:rPr lang="zh-CN" sz="2600"/>
                        <a:t>无</a:t>
                      </a:r>
                      <a:endParaRPr sz="2600"/>
                    </a:p>
                  </a:txBody>
                  <a:tcPr marT="91425" marB="91425" marR="91425" marL="91425"/>
                </a:tc>
              </a:tr>
              <a:tr h="1497200">
                <a:tc>
                  <a:txBody>
                    <a:bodyPr/>
                    <a:lstStyle/>
                    <a:p>
                      <a:pPr indent="0" lvl="0" marL="0" rtl="0" algn="l">
                        <a:spcBef>
                          <a:spcPts val="0"/>
                        </a:spcBef>
                        <a:spcAft>
                          <a:spcPts val="0"/>
                        </a:spcAft>
                        <a:buNone/>
                      </a:pPr>
                      <a:r>
                        <a:rPr lang="zh-CN" sz="2600"/>
                        <a:t>范围</a:t>
                      </a:r>
                      <a:endParaRPr sz="2600"/>
                    </a:p>
                    <a:p>
                      <a:pPr indent="0" lvl="0" marL="0" rtl="0" algn="l">
                        <a:spcBef>
                          <a:spcPts val="0"/>
                        </a:spcBef>
                        <a:spcAft>
                          <a:spcPts val="0"/>
                        </a:spcAft>
                        <a:buNone/>
                      </a:pPr>
                      <a:r>
                        <a:rPr lang="zh-CN" sz="2600"/>
                        <a:t>range based</a:t>
                      </a:r>
                      <a:endParaRPr sz="2600"/>
                    </a:p>
                  </a:txBody>
                  <a:tcPr marT="91425" marB="91425" marR="91425" marL="91425"/>
                </a:tc>
                <a:tc>
                  <a:txBody>
                    <a:bodyPr/>
                    <a:lstStyle/>
                    <a:p>
                      <a:pPr indent="0" lvl="0" marL="0" rtl="0" algn="l">
                        <a:spcBef>
                          <a:spcPts val="0"/>
                        </a:spcBef>
                        <a:spcAft>
                          <a:spcPts val="0"/>
                        </a:spcAft>
                        <a:buNone/>
                      </a:pPr>
                      <a:r>
                        <a:rPr lang="zh-CN" sz="2600"/>
                        <a:t>难</a:t>
                      </a:r>
                      <a:endParaRPr sz="2600"/>
                    </a:p>
                  </a:txBody>
                  <a:tcPr marT="91425" marB="91425" marR="91425" marL="91425"/>
                </a:tc>
                <a:tc>
                  <a:txBody>
                    <a:bodyPr/>
                    <a:lstStyle/>
                    <a:p>
                      <a:pPr indent="0" lvl="0" marL="0" rtl="0" algn="l">
                        <a:spcBef>
                          <a:spcPts val="0"/>
                        </a:spcBef>
                        <a:spcAft>
                          <a:spcPts val="0"/>
                        </a:spcAft>
                        <a:buNone/>
                      </a:pPr>
                      <a:r>
                        <a:rPr lang="zh-CN" sz="2600"/>
                        <a:t>可以控制数据迁移的范围</a:t>
                      </a:r>
                      <a:endParaRPr sz="2600"/>
                    </a:p>
                  </a:txBody>
                  <a:tcPr marT="91425" marB="91425" marR="91425" marL="91425"/>
                </a:tc>
                <a:tc>
                  <a:txBody>
                    <a:bodyPr/>
                    <a:lstStyle/>
                    <a:p>
                      <a:pPr indent="0" lvl="0" marL="0" rtl="0" algn="l">
                        <a:spcBef>
                          <a:spcPts val="0"/>
                        </a:spcBef>
                        <a:spcAft>
                          <a:spcPts val="0"/>
                        </a:spcAft>
                        <a:buNone/>
                      </a:pPr>
                      <a:r>
                        <a:rPr lang="zh-CN" sz="2600"/>
                        <a:t>基于数据快是可以做到mongodb</a:t>
                      </a:r>
                      <a:endParaRPr sz="2600"/>
                    </a:p>
                  </a:txBody>
                  <a:tcPr marT="91425" marB="91425" marR="91425" marL="91425">
                    <a:lnB cap="flat" cmpd="sng" w="9525">
                      <a:solidFill>
                        <a:schemeClr val="dk1"/>
                      </a:solidFill>
                      <a:prstDash val="solid"/>
                      <a:round/>
                      <a:headEnd len="sm" w="sm" type="none"/>
                      <a:tailEnd len="sm" w="sm" type="none"/>
                    </a:lnB>
                  </a:tcPr>
                </a:tc>
              </a:tr>
              <a:tr h="1829975">
                <a:tc>
                  <a:txBody>
                    <a:bodyPr/>
                    <a:lstStyle/>
                    <a:p>
                      <a:pPr indent="0" lvl="0" marL="0" rtl="0" algn="l">
                        <a:spcBef>
                          <a:spcPts val="0"/>
                        </a:spcBef>
                        <a:spcAft>
                          <a:spcPts val="0"/>
                        </a:spcAft>
                        <a:buNone/>
                      </a:pPr>
                      <a:r>
                        <a:rPr lang="zh-CN" sz="2600"/>
                        <a:t>一致性hash</a:t>
                      </a:r>
                      <a:endParaRPr sz="2600"/>
                    </a:p>
                  </a:txBody>
                  <a:tcPr marT="91425" marB="91425" marR="91425" marL="91425"/>
                </a:tc>
                <a:tc>
                  <a:txBody>
                    <a:bodyPr/>
                    <a:lstStyle/>
                    <a:p>
                      <a:pPr indent="0" lvl="0" marL="0" rtl="0" algn="l">
                        <a:spcBef>
                          <a:spcPts val="0"/>
                        </a:spcBef>
                        <a:spcAft>
                          <a:spcPts val="0"/>
                        </a:spcAft>
                        <a:buNone/>
                      </a:pPr>
                      <a:r>
                        <a:rPr lang="zh-CN" sz="2600"/>
                        <a:t>中</a:t>
                      </a:r>
                      <a:endParaRPr sz="2600"/>
                    </a:p>
                  </a:txBody>
                  <a:tcPr marT="91425" marB="91425" marR="91425" marL="91425"/>
                </a:tc>
                <a:tc>
                  <a:txBody>
                    <a:bodyPr/>
                    <a:lstStyle/>
                    <a:p>
                      <a:pPr indent="0" lvl="0" marL="0" rtl="0" algn="l">
                        <a:spcBef>
                          <a:spcPts val="0"/>
                        </a:spcBef>
                        <a:spcAft>
                          <a:spcPts val="0"/>
                        </a:spcAft>
                        <a:buNone/>
                      </a:pPr>
                      <a:r>
                        <a:rPr lang="zh-CN" sz="2600"/>
                        <a:t>需要迁移的数据较少，所有节点都能贡献部分数据</a:t>
                      </a:r>
                      <a:endParaRPr sz="2600"/>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zh-CN" sz="2600"/>
                        <a:t>无</a:t>
                      </a:r>
                      <a:endParaRPr sz="2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29" name="Google Shape;129;g2a736d85ff4_0_44"/>
          <p:cNvPicPr preferRelativeResize="0"/>
          <p:nvPr/>
        </p:nvPicPr>
        <p:blipFill>
          <a:blip r:embed="rId6">
            <a:alphaModFix/>
          </a:blip>
          <a:stretch>
            <a:fillRect/>
          </a:stretch>
        </p:blipFill>
        <p:spPr>
          <a:xfrm>
            <a:off x="2704925" y="2465227"/>
            <a:ext cx="8066426" cy="3969700"/>
          </a:xfrm>
          <a:prstGeom prst="rect">
            <a:avLst/>
          </a:prstGeom>
          <a:noFill/>
          <a:ln>
            <a:noFill/>
          </a:ln>
        </p:spPr>
      </p:pic>
      <p:sp>
        <p:nvSpPr>
          <p:cNvPr id="130" name="Google Shape;130;g2a736d85ff4_0_44"/>
          <p:cNvSpPr txBox="1"/>
          <p:nvPr/>
        </p:nvSpPr>
        <p:spPr>
          <a:xfrm>
            <a:off x="2336350" y="10899550"/>
            <a:ext cx="5109900" cy="14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a:t>
            </a:r>
            <a:r>
              <a:rPr lang="zh-CN" sz="3000">
                <a:solidFill>
                  <a:schemeClr val="dk1"/>
                </a:solidFill>
                <a:latin typeface="Open Sans"/>
                <a:ea typeface="Open Sans"/>
                <a:cs typeface="Open Sans"/>
                <a:sym typeface="Open Sans"/>
              </a:rPr>
              <a:t> 业务代码中分片</a:t>
            </a:r>
            <a:endParaRPr sz="3000">
              <a:solidFill>
                <a:schemeClr val="dk1"/>
              </a:solidFill>
              <a:latin typeface="Open Sans"/>
              <a:ea typeface="Open Sans"/>
              <a:cs typeface="Open Sans"/>
              <a:sym typeface="Open Sans"/>
            </a:endParaRPr>
          </a:p>
          <a:p>
            <a:pPr indent="0" lvl="0" marL="0" rtl="0" algn="l">
              <a:spcBef>
                <a:spcPts val="0"/>
              </a:spcBef>
              <a:spcAft>
                <a:spcPts val="0"/>
              </a:spcAft>
              <a:buNone/>
            </a:pPr>
            <a:r>
              <a:rPr lang="zh-CN" sz="3000">
                <a:solidFill>
                  <a:schemeClr val="dk1"/>
                </a:solidFill>
                <a:latin typeface="Open Sans"/>
                <a:ea typeface="Open Sans"/>
                <a:cs typeface="Open Sans"/>
                <a:sym typeface="Open Sans"/>
              </a:rPr>
              <a:t>常使用简单hash 取模</a:t>
            </a:r>
            <a:endParaRPr sz="3000">
              <a:solidFill>
                <a:schemeClr val="dk1"/>
              </a:solidFill>
              <a:latin typeface="Open Sans"/>
              <a:ea typeface="Open Sans"/>
              <a:cs typeface="Open Sans"/>
              <a:sym typeface="Open Sans"/>
            </a:endParaRPr>
          </a:p>
        </p:txBody>
      </p:sp>
      <p:sp>
        <p:nvSpPr>
          <p:cNvPr id="131" name="Google Shape;131;g2a736d85ff4_0_44"/>
          <p:cNvSpPr txBox="1"/>
          <p:nvPr/>
        </p:nvSpPr>
        <p:spPr>
          <a:xfrm>
            <a:off x="10044950" y="11772875"/>
            <a:ext cx="4988400" cy="8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a:t>
            </a:r>
            <a:r>
              <a:rPr lang="zh-CN" sz="3000">
                <a:solidFill>
                  <a:schemeClr val="dk1"/>
                </a:solidFill>
                <a:latin typeface="Open Sans"/>
                <a:ea typeface="Open Sans"/>
                <a:cs typeface="Open Sans"/>
                <a:sym typeface="Open Sans"/>
              </a:rPr>
              <a:t> </a:t>
            </a:r>
            <a:r>
              <a:rPr lang="zh-CN" sz="3000">
                <a:solidFill>
                  <a:schemeClr val="dk1"/>
                </a:solidFill>
                <a:latin typeface="Open Sans"/>
                <a:ea typeface="Open Sans"/>
                <a:cs typeface="Open Sans"/>
                <a:sym typeface="Open Sans"/>
              </a:rPr>
              <a:t>外部映射表</a:t>
            </a:r>
            <a:endParaRPr sz="3000">
              <a:solidFill>
                <a:schemeClr val="dk1"/>
              </a:solidFill>
              <a:latin typeface="Open Sans"/>
              <a:ea typeface="Open Sans"/>
              <a:cs typeface="Open Sans"/>
              <a:sym typeface="Open Sans"/>
            </a:endParaRPr>
          </a:p>
        </p:txBody>
      </p:sp>
      <p:sp>
        <p:nvSpPr>
          <p:cNvPr id="132" name="Google Shape;132;g2a736d85ff4_0_44"/>
          <p:cNvSpPr txBox="1"/>
          <p:nvPr/>
        </p:nvSpPr>
        <p:spPr>
          <a:xfrm>
            <a:off x="17088475" y="11380050"/>
            <a:ext cx="5109900" cy="8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        </a:t>
            </a:r>
            <a:r>
              <a:rPr lang="zh-CN" sz="3600">
                <a:solidFill>
                  <a:schemeClr val="dk1"/>
                </a:solidFill>
                <a:latin typeface="Open Sans"/>
                <a:ea typeface="Open Sans"/>
                <a:cs typeface="Open Sans"/>
                <a:sym typeface="Open Sans"/>
              </a:rPr>
              <a:t> </a:t>
            </a:r>
            <a:r>
              <a:rPr lang="zh-CN" sz="3000">
                <a:solidFill>
                  <a:schemeClr val="dk1"/>
                </a:solidFill>
                <a:latin typeface="Open Sans"/>
                <a:ea typeface="Open Sans"/>
                <a:cs typeface="Open Sans"/>
                <a:sym typeface="Open Sans"/>
              </a:rPr>
              <a:t>外部</a:t>
            </a:r>
            <a:r>
              <a:rPr lang="zh-CN" sz="3000">
                <a:solidFill>
                  <a:schemeClr val="dk1"/>
                </a:solidFill>
                <a:latin typeface="Open Sans"/>
                <a:ea typeface="Open Sans"/>
                <a:cs typeface="Open Sans"/>
                <a:sym typeface="Open Sans"/>
              </a:rPr>
              <a:t>组件</a:t>
            </a:r>
            <a:endParaRPr sz="3000">
              <a:solidFill>
                <a:schemeClr val="dk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a7e586d03b_0_17"/>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分布式系统：</a:t>
            </a:r>
            <a:r>
              <a:rPr lang="zh-CN"/>
              <a:t>一致性哈希</a:t>
            </a:r>
            <a:r>
              <a:rPr lang="zh-CN"/>
              <a:t>数据分片</a:t>
            </a:r>
            <a:endParaRPr/>
          </a:p>
        </p:txBody>
      </p:sp>
      <p:pic>
        <p:nvPicPr>
          <p:cNvPr id="138" name="Google Shape;138;g2a7e586d03b_0_17"/>
          <p:cNvPicPr preferRelativeResize="0"/>
          <p:nvPr/>
        </p:nvPicPr>
        <p:blipFill>
          <a:blip r:embed="rId3">
            <a:alphaModFix/>
          </a:blip>
          <a:stretch>
            <a:fillRect/>
          </a:stretch>
        </p:blipFill>
        <p:spPr>
          <a:xfrm>
            <a:off x="3062150" y="1699425"/>
            <a:ext cx="6060224" cy="5640300"/>
          </a:xfrm>
          <a:prstGeom prst="rect">
            <a:avLst/>
          </a:prstGeom>
          <a:noFill/>
          <a:ln>
            <a:noFill/>
          </a:ln>
        </p:spPr>
      </p:pic>
      <p:sp>
        <p:nvSpPr>
          <p:cNvPr id="139" name="Google Shape;139;g2a7e586d03b_0_17"/>
          <p:cNvSpPr txBox="1"/>
          <p:nvPr/>
        </p:nvSpPr>
        <p:spPr>
          <a:xfrm>
            <a:off x="2375125" y="8232125"/>
            <a:ext cx="9176700" cy="3893100"/>
          </a:xfrm>
          <a:prstGeom prst="rect">
            <a:avLst/>
          </a:prstGeom>
          <a:noFill/>
          <a:ln>
            <a:noFill/>
          </a:ln>
        </p:spPr>
        <p:txBody>
          <a:bodyPr anchorCtr="0" anchor="t" bIns="91425" lIns="91425" spcFirstLastPara="1" rIns="91425" wrap="square" tIns="91425">
            <a:noAutofit/>
          </a:bodyPr>
          <a:lstStyle/>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哈希环，将节点根据名称或者ip得到一个hash值</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寻址和路由：key 同样的hash找到第一个大的节点</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节点增加删除，仅影响该节的后继节点，不影响其它数据节点</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accent5"/>
              </a:buClr>
              <a:buSzPts val="3000"/>
              <a:buFont typeface="Open Sans"/>
              <a:buChar char="●"/>
            </a:pPr>
            <a:r>
              <a:rPr lang="zh-CN" sz="3000">
                <a:solidFill>
                  <a:schemeClr val="accent5"/>
                </a:solidFill>
                <a:latin typeface="Open Sans"/>
                <a:ea typeface="Open Sans"/>
                <a:cs typeface="Open Sans"/>
                <a:sym typeface="Open Sans"/>
              </a:rPr>
              <a:t>节点数量较少时，很难保证数据分布均匀</a:t>
            </a:r>
            <a:endParaRPr sz="3000">
              <a:solidFill>
                <a:schemeClr val="accent5"/>
              </a:solidFill>
              <a:latin typeface="Open Sans"/>
              <a:ea typeface="Open Sans"/>
              <a:cs typeface="Open Sans"/>
              <a:sym typeface="Open Sans"/>
            </a:endParaRPr>
          </a:p>
        </p:txBody>
      </p:sp>
      <p:pic>
        <p:nvPicPr>
          <p:cNvPr id="140" name="Google Shape;140;g2a7e586d03b_0_17"/>
          <p:cNvPicPr preferRelativeResize="0"/>
          <p:nvPr/>
        </p:nvPicPr>
        <p:blipFill>
          <a:blip r:embed="rId4">
            <a:alphaModFix/>
          </a:blip>
          <a:stretch>
            <a:fillRect/>
          </a:stretch>
        </p:blipFill>
        <p:spPr>
          <a:xfrm>
            <a:off x="13968475" y="2006225"/>
            <a:ext cx="5592663" cy="5640301"/>
          </a:xfrm>
          <a:prstGeom prst="rect">
            <a:avLst/>
          </a:prstGeom>
          <a:noFill/>
          <a:ln>
            <a:noFill/>
          </a:ln>
        </p:spPr>
      </p:pic>
      <p:sp>
        <p:nvSpPr>
          <p:cNvPr id="141" name="Google Shape;141;g2a7e586d03b_0_17"/>
          <p:cNvSpPr txBox="1"/>
          <p:nvPr/>
        </p:nvSpPr>
        <p:spPr>
          <a:xfrm>
            <a:off x="13428113" y="8025150"/>
            <a:ext cx="9176700" cy="3893100"/>
          </a:xfrm>
          <a:prstGeom prst="rect">
            <a:avLst/>
          </a:prstGeom>
          <a:noFill/>
          <a:ln>
            <a:noFill/>
          </a:ln>
        </p:spPr>
        <p:txBody>
          <a:bodyPr anchorCtr="0" anchor="t" bIns="91425" lIns="91425" spcFirstLastPara="1" rIns="91425" wrap="square" tIns="91425">
            <a:noAutofit/>
          </a:bodyPr>
          <a:lstStyle/>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增加虚拟节点</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寻址和路由：key 先</a:t>
            </a:r>
            <a:r>
              <a:rPr lang="zh-CN" sz="3000">
                <a:solidFill>
                  <a:schemeClr val="dk1"/>
                </a:solidFill>
                <a:latin typeface="Open Sans"/>
                <a:ea typeface="Open Sans"/>
                <a:cs typeface="Open Sans"/>
                <a:sym typeface="Open Sans"/>
              </a:rPr>
              <a:t>找到虚拟节点，然后找节点</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节点增加删除，</a:t>
            </a:r>
            <a:r>
              <a:rPr lang="zh-CN" sz="3000">
                <a:solidFill>
                  <a:schemeClr val="dk1"/>
                </a:solidFill>
                <a:latin typeface="Open Sans"/>
                <a:ea typeface="Open Sans"/>
                <a:cs typeface="Open Sans"/>
                <a:sym typeface="Open Sans"/>
              </a:rPr>
              <a:t>会有不同的节点共同承担系统的变化</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虚拟节点可以根据节点的配置，设置不同的权值</a:t>
            </a:r>
            <a:endParaRPr sz="3000">
              <a:solidFill>
                <a:schemeClr val="accent5"/>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61f3becd40_0_2"/>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分布式系统：3种副本复制策略</a:t>
            </a:r>
            <a:endParaRPr/>
          </a:p>
        </p:txBody>
      </p:sp>
      <p:sp>
        <p:nvSpPr>
          <p:cNvPr id="147" name="Google Shape;147;g261f3becd40_0_2"/>
          <p:cNvSpPr txBox="1"/>
          <p:nvPr/>
        </p:nvSpPr>
        <p:spPr>
          <a:xfrm>
            <a:off x="12996500" y="6646300"/>
            <a:ext cx="10576200" cy="6132300"/>
          </a:xfrm>
          <a:prstGeom prst="rect">
            <a:avLst/>
          </a:prstGeom>
          <a:noFill/>
          <a:ln>
            <a:noFill/>
          </a:ln>
        </p:spPr>
        <p:txBody>
          <a:bodyPr anchorCtr="0" anchor="t" bIns="91425" lIns="91425" spcFirstLastPara="1" rIns="91425" wrap="square" tIns="91425">
            <a:noAutofit/>
          </a:bodyPr>
          <a:lstStyle/>
          <a:p>
            <a:pPr indent="-412750" lvl="0" marL="457200" rtl="0" algn="l">
              <a:lnSpc>
                <a:spcPct val="115000"/>
              </a:lnSpc>
              <a:spcBef>
                <a:spcPts val="0"/>
              </a:spcBef>
              <a:spcAft>
                <a:spcPts val="0"/>
              </a:spcAft>
              <a:buClr>
                <a:srgbClr val="333333"/>
              </a:buClr>
              <a:buSzPts val="2900"/>
              <a:buFont typeface="Helvetica Neue"/>
              <a:buAutoNum type="arabicPeriod"/>
            </a:pPr>
            <a:r>
              <a:rPr lang="zh-CN" sz="2900">
                <a:solidFill>
                  <a:srgbClr val="333333"/>
                </a:solidFill>
                <a:highlight>
                  <a:srgbClr val="FFFFFF"/>
                </a:highlight>
                <a:latin typeface="Helvetica Neue"/>
                <a:ea typeface="Helvetica Neue"/>
                <a:cs typeface="Helvetica Neue"/>
                <a:sym typeface="Helvetica Neue"/>
              </a:rPr>
              <a:t>单领导者，1个或者多个slave</a:t>
            </a:r>
            <a:endParaRPr sz="2900">
              <a:solidFill>
                <a:srgbClr val="333333"/>
              </a:solidFill>
              <a:highlight>
                <a:srgbClr val="FFFFFF"/>
              </a:highlight>
              <a:latin typeface="Helvetica Neue"/>
              <a:ea typeface="Helvetica Neue"/>
              <a:cs typeface="Helvetica Neue"/>
              <a:sym typeface="Helvetica Neue"/>
            </a:endParaRPr>
          </a:p>
          <a:p>
            <a:pPr indent="-412750" lvl="1" marL="914400" rtl="0" algn="l">
              <a:lnSpc>
                <a:spcPct val="115000"/>
              </a:lnSpc>
              <a:spcBef>
                <a:spcPts val="0"/>
              </a:spcBef>
              <a:spcAft>
                <a:spcPts val="0"/>
              </a:spcAft>
              <a:buClr>
                <a:srgbClr val="333333"/>
              </a:buClr>
              <a:buSzPts val="2900"/>
              <a:buFont typeface="Helvetica Neue"/>
              <a:buChar char="○"/>
            </a:pPr>
            <a:r>
              <a:rPr lang="zh-CN" sz="2900">
                <a:solidFill>
                  <a:srgbClr val="333333"/>
                </a:solidFill>
                <a:highlight>
                  <a:srgbClr val="FFFFFF"/>
                </a:highlight>
                <a:latin typeface="Helvetica Neue"/>
                <a:ea typeface="Helvetica Neue"/>
                <a:cs typeface="Helvetica Neue"/>
                <a:sym typeface="Helvetica Neue"/>
              </a:rPr>
              <a:t>异步复制、半同步复制、同步复制</a:t>
            </a:r>
            <a:endParaRPr sz="2900">
              <a:solidFill>
                <a:srgbClr val="333333"/>
              </a:solidFill>
              <a:highlight>
                <a:srgbClr val="FFFFFF"/>
              </a:highlight>
              <a:latin typeface="Helvetica Neue"/>
              <a:ea typeface="Helvetica Neue"/>
              <a:cs typeface="Helvetica Neue"/>
              <a:sym typeface="Helvetica Neue"/>
            </a:endParaRPr>
          </a:p>
          <a:p>
            <a:pPr indent="-412750" lvl="1" marL="914400" rtl="0" algn="l">
              <a:lnSpc>
                <a:spcPct val="115000"/>
              </a:lnSpc>
              <a:spcBef>
                <a:spcPts val="0"/>
              </a:spcBef>
              <a:spcAft>
                <a:spcPts val="0"/>
              </a:spcAft>
              <a:buClr>
                <a:srgbClr val="333333"/>
              </a:buClr>
              <a:buSzPts val="2900"/>
              <a:buFont typeface="Helvetica Neue"/>
              <a:buChar char="○"/>
            </a:pPr>
            <a:r>
              <a:rPr lang="zh-CN" sz="2900">
                <a:solidFill>
                  <a:srgbClr val="333333"/>
                </a:solidFill>
                <a:highlight>
                  <a:srgbClr val="FFFFFF"/>
                </a:highlight>
                <a:latin typeface="Helvetica Neue"/>
                <a:ea typeface="Helvetica Neue"/>
                <a:cs typeface="Helvetica Neue"/>
                <a:sym typeface="Helvetica Neue"/>
              </a:rPr>
              <a:t>常见故障，主库失效、从库失效、复制的延时的影响</a:t>
            </a:r>
            <a:endParaRPr sz="2900">
              <a:solidFill>
                <a:srgbClr val="333333"/>
              </a:solidFill>
              <a:highlight>
                <a:srgbClr val="FFFFFF"/>
              </a:highlight>
              <a:latin typeface="Helvetica Neue"/>
              <a:ea typeface="Helvetica Neue"/>
              <a:cs typeface="Helvetica Neue"/>
              <a:sym typeface="Helvetica Neue"/>
            </a:endParaRPr>
          </a:p>
          <a:p>
            <a:pPr indent="-412750" lvl="0" marL="457200" rtl="0" algn="l">
              <a:lnSpc>
                <a:spcPct val="115000"/>
              </a:lnSpc>
              <a:spcBef>
                <a:spcPts val="0"/>
              </a:spcBef>
              <a:spcAft>
                <a:spcPts val="0"/>
              </a:spcAft>
              <a:buClr>
                <a:srgbClr val="333333"/>
              </a:buClr>
              <a:buSzPts val="2900"/>
              <a:buFont typeface="Helvetica Neue"/>
              <a:buAutoNum type="arabicPeriod"/>
            </a:pPr>
            <a:r>
              <a:rPr lang="zh-CN" sz="2900">
                <a:solidFill>
                  <a:srgbClr val="333333"/>
                </a:solidFill>
                <a:highlight>
                  <a:srgbClr val="FFFFFF"/>
                </a:highlight>
                <a:latin typeface="Helvetica Neue"/>
                <a:ea typeface="Helvetica Neue"/>
                <a:cs typeface="Helvetica Neue"/>
                <a:sym typeface="Helvetica Neue"/>
              </a:rPr>
              <a:t>多主复制，用于多数据中心多活、离线客户端等场景。多主模型最大问题是写冲突（没有将的很清楚）</a:t>
            </a:r>
            <a:endParaRPr sz="2900">
              <a:solidFill>
                <a:srgbClr val="333333"/>
              </a:solidFill>
              <a:highlight>
                <a:srgbClr val="FFFFFF"/>
              </a:highlight>
              <a:latin typeface="Helvetica Neue"/>
              <a:ea typeface="Helvetica Neue"/>
              <a:cs typeface="Helvetica Neue"/>
              <a:sym typeface="Helvetica Neue"/>
            </a:endParaRPr>
          </a:p>
          <a:p>
            <a:pPr indent="-412750" lvl="1" marL="914400" rtl="0" algn="l">
              <a:lnSpc>
                <a:spcPct val="115000"/>
              </a:lnSpc>
              <a:spcBef>
                <a:spcPts val="0"/>
              </a:spcBef>
              <a:spcAft>
                <a:spcPts val="0"/>
              </a:spcAft>
              <a:buClr>
                <a:srgbClr val="333333"/>
              </a:buClr>
              <a:buSzPts val="2900"/>
              <a:buFont typeface="Helvetica Neue"/>
              <a:buChar char="○"/>
            </a:pPr>
            <a:r>
              <a:rPr lang="zh-CN" sz="2900">
                <a:solidFill>
                  <a:srgbClr val="333333"/>
                </a:solidFill>
                <a:highlight>
                  <a:srgbClr val="FFFFFF"/>
                </a:highlight>
                <a:latin typeface="Helvetica Neue"/>
                <a:ea typeface="Helvetica Neue"/>
                <a:cs typeface="Helvetica Neue"/>
                <a:sym typeface="Helvetica Neue"/>
              </a:rPr>
              <a:t>尽可能从应用流量避免冲突</a:t>
            </a:r>
            <a:endParaRPr sz="2900">
              <a:solidFill>
                <a:srgbClr val="333333"/>
              </a:solidFill>
              <a:highlight>
                <a:srgbClr val="FFFFFF"/>
              </a:highlight>
              <a:latin typeface="Helvetica Neue"/>
              <a:ea typeface="Helvetica Neue"/>
              <a:cs typeface="Helvetica Neue"/>
              <a:sym typeface="Helvetica Neue"/>
            </a:endParaRPr>
          </a:p>
          <a:p>
            <a:pPr indent="-412750" lvl="1" marL="914400" rtl="0" algn="l">
              <a:lnSpc>
                <a:spcPct val="115000"/>
              </a:lnSpc>
              <a:spcBef>
                <a:spcPts val="0"/>
              </a:spcBef>
              <a:spcAft>
                <a:spcPts val="0"/>
              </a:spcAft>
              <a:buClr>
                <a:srgbClr val="333333"/>
              </a:buClr>
              <a:buSzPts val="2900"/>
              <a:buFont typeface="Helvetica Neue"/>
              <a:buChar char="○"/>
            </a:pPr>
            <a:r>
              <a:rPr lang="zh-CN" sz="2900">
                <a:solidFill>
                  <a:srgbClr val="333333"/>
                </a:solidFill>
                <a:highlight>
                  <a:srgbClr val="FFFFFF"/>
                </a:highlight>
                <a:latin typeface="Helvetica Neue"/>
                <a:ea typeface="Helvetica Neue"/>
                <a:cs typeface="Helvetica Neue"/>
                <a:sym typeface="Helvetica Neue"/>
              </a:rPr>
              <a:t>版本控制，每个写入操作伴随一个版本和时间戳</a:t>
            </a:r>
            <a:endParaRPr sz="2900">
              <a:solidFill>
                <a:srgbClr val="333333"/>
              </a:solidFill>
              <a:highlight>
                <a:srgbClr val="FFFFFF"/>
              </a:highlight>
              <a:latin typeface="Helvetica Neue"/>
              <a:ea typeface="Helvetica Neue"/>
              <a:cs typeface="Helvetica Neue"/>
              <a:sym typeface="Helvetica Neue"/>
            </a:endParaRPr>
          </a:p>
          <a:p>
            <a:pPr indent="-412750" lvl="1" marL="914400" rtl="0" algn="l">
              <a:lnSpc>
                <a:spcPct val="115000"/>
              </a:lnSpc>
              <a:spcBef>
                <a:spcPts val="0"/>
              </a:spcBef>
              <a:spcAft>
                <a:spcPts val="0"/>
              </a:spcAft>
              <a:buClr>
                <a:srgbClr val="333333"/>
              </a:buClr>
              <a:buSzPts val="2900"/>
              <a:buFont typeface="Helvetica Neue"/>
              <a:buChar char="○"/>
            </a:pPr>
            <a:r>
              <a:rPr lang="zh-CN" sz="2900">
                <a:solidFill>
                  <a:srgbClr val="333333"/>
                </a:solidFill>
                <a:highlight>
                  <a:srgbClr val="FFFFFF"/>
                </a:highlight>
                <a:latin typeface="Helvetica Neue"/>
                <a:ea typeface="Helvetica Neue"/>
                <a:cs typeface="Helvetica Neue"/>
                <a:sym typeface="Helvetica Neue"/>
              </a:rPr>
              <a:t>冲突合并，自定义冲突解决办法。冲突发生时，返回多个版本的数据，由应用端自己决定</a:t>
            </a:r>
            <a:endParaRPr sz="2900">
              <a:solidFill>
                <a:srgbClr val="333333"/>
              </a:solidFill>
              <a:highlight>
                <a:srgbClr val="FFFFFF"/>
              </a:highlight>
              <a:latin typeface="Helvetica Neue"/>
              <a:ea typeface="Helvetica Neue"/>
              <a:cs typeface="Helvetica Neue"/>
              <a:sym typeface="Helvetica Neue"/>
            </a:endParaRPr>
          </a:p>
          <a:p>
            <a:pPr indent="-412750" lvl="0" marL="457200" rtl="0" algn="l">
              <a:lnSpc>
                <a:spcPct val="115000"/>
              </a:lnSpc>
              <a:spcBef>
                <a:spcPts val="0"/>
              </a:spcBef>
              <a:spcAft>
                <a:spcPts val="0"/>
              </a:spcAft>
              <a:buSzPts val="2900"/>
              <a:buAutoNum type="arabicPeriod"/>
            </a:pPr>
            <a:r>
              <a:rPr lang="zh-CN" sz="2900">
                <a:solidFill>
                  <a:srgbClr val="333333"/>
                </a:solidFill>
                <a:highlight>
                  <a:srgbClr val="FFFFFF"/>
                </a:highlight>
                <a:latin typeface="Helvetica Neue"/>
                <a:ea typeface="Helvetica Neue"/>
                <a:cs typeface="Helvetica Neue"/>
                <a:sym typeface="Helvetica Neue"/>
              </a:rPr>
              <a:t>无主模式：允许任何副本接受写请求。dynamo体系。</a:t>
            </a:r>
            <a:r>
              <a:rPr lang="zh-CN" sz="2900">
                <a:solidFill>
                  <a:srgbClr val="1F2328"/>
                </a:solidFill>
                <a:highlight>
                  <a:srgbClr val="FFFFFF"/>
                </a:highlight>
              </a:rPr>
              <a:t>客户端将每个写入发送到几个节点，并从多个节点并行读取，以检测和纠正具有陈旧数据的节点，配置法定人数</a:t>
            </a:r>
            <a:endParaRPr sz="290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b="1" sz="240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b="1" sz="2400">
              <a:solidFill>
                <a:srgbClr val="333333"/>
              </a:solidFill>
              <a:highlight>
                <a:srgbClr val="FFFFFF"/>
              </a:highlight>
              <a:latin typeface="Helvetica Neue"/>
              <a:ea typeface="Helvetica Neue"/>
              <a:cs typeface="Helvetica Neue"/>
              <a:sym typeface="Helvetica Neue"/>
            </a:endParaRPr>
          </a:p>
        </p:txBody>
      </p:sp>
      <p:pic>
        <p:nvPicPr>
          <p:cNvPr id="148" name="Google Shape;148;g261f3becd40_0_2"/>
          <p:cNvPicPr preferRelativeResize="0"/>
          <p:nvPr/>
        </p:nvPicPr>
        <p:blipFill>
          <a:blip r:embed="rId3">
            <a:alphaModFix/>
          </a:blip>
          <a:stretch>
            <a:fillRect/>
          </a:stretch>
        </p:blipFill>
        <p:spPr>
          <a:xfrm>
            <a:off x="1104725" y="2261150"/>
            <a:ext cx="12661621" cy="4385149"/>
          </a:xfrm>
          <a:prstGeom prst="rect">
            <a:avLst/>
          </a:prstGeom>
          <a:noFill/>
          <a:ln>
            <a:noFill/>
          </a:ln>
        </p:spPr>
      </p:pic>
      <p:pic>
        <p:nvPicPr>
          <p:cNvPr id="149" name="Google Shape;149;g261f3becd40_0_2"/>
          <p:cNvPicPr preferRelativeResize="0"/>
          <p:nvPr/>
        </p:nvPicPr>
        <p:blipFill>
          <a:blip r:embed="rId4">
            <a:alphaModFix/>
          </a:blip>
          <a:stretch>
            <a:fillRect/>
          </a:stretch>
        </p:blipFill>
        <p:spPr>
          <a:xfrm>
            <a:off x="14005725" y="1900588"/>
            <a:ext cx="9420582" cy="4745700"/>
          </a:xfrm>
          <a:prstGeom prst="rect">
            <a:avLst/>
          </a:prstGeom>
          <a:noFill/>
          <a:ln>
            <a:noFill/>
          </a:ln>
        </p:spPr>
      </p:pic>
      <p:pic>
        <p:nvPicPr>
          <p:cNvPr id="150" name="Google Shape;150;g261f3becd40_0_2"/>
          <p:cNvPicPr preferRelativeResize="0"/>
          <p:nvPr/>
        </p:nvPicPr>
        <p:blipFill>
          <a:blip r:embed="rId5">
            <a:alphaModFix/>
          </a:blip>
          <a:stretch>
            <a:fillRect/>
          </a:stretch>
        </p:blipFill>
        <p:spPr>
          <a:xfrm>
            <a:off x="1999175" y="7519875"/>
            <a:ext cx="9889923" cy="43851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a736d85ff4_0_25"/>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架构学习1: mysql 分布式方案</a:t>
            </a:r>
            <a:endParaRPr/>
          </a:p>
        </p:txBody>
      </p:sp>
      <p:sp>
        <p:nvSpPr>
          <p:cNvPr id="156" name="Google Shape;156;g2a736d85ff4_0_25"/>
          <p:cNvSpPr txBox="1"/>
          <p:nvPr/>
        </p:nvSpPr>
        <p:spPr>
          <a:xfrm>
            <a:off x="13874950" y="1816875"/>
            <a:ext cx="8917200" cy="10642200"/>
          </a:xfrm>
          <a:prstGeom prst="rect">
            <a:avLst/>
          </a:prstGeom>
          <a:noFill/>
          <a:ln>
            <a:noFill/>
          </a:ln>
        </p:spPr>
        <p:txBody>
          <a:bodyPr anchorCtr="0" anchor="t" bIns="91425" lIns="91425" spcFirstLastPara="1" rIns="91425" wrap="square" tIns="91425">
            <a:noAutofit/>
          </a:bodyPr>
          <a:lstStyle/>
          <a:p>
            <a:pPr indent="-419100" lvl="0" marL="457200" rtl="0" algn="l">
              <a:lnSpc>
                <a:spcPct val="150000"/>
              </a:lnSpc>
              <a:spcBef>
                <a:spcPts val="0"/>
              </a:spcBef>
              <a:spcAft>
                <a:spcPts val="0"/>
              </a:spcAft>
              <a:buClr>
                <a:schemeClr val="dk1"/>
              </a:buClr>
              <a:buSzPts val="3000"/>
              <a:buFont typeface="Open Sans"/>
              <a:buAutoNum type="arabicPeriod"/>
            </a:pPr>
            <a:r>
              <a:rPr lang="zh-CN" sz="3000">
                <a:solidFill>
                  <a:schemeClr val="dk1"/>
                </a:solidFill>
                <a:latin typeface="Open Sans"/>
                <a:ea typeface="Open Sans"/>
                <a:cs typeface="Open Sans"/>
                <a:sym typeface="Open Sans"/>
              </a:rPr>
              <a:t>分片</a:t>
            </a:r>
            <a:endParaRPr sz="3000">
              <a:solidFill>
                <a:schemeClr val="dk1"/>
              </a:solidFill>
              <a:latin typeface="Open Sans"/>
              <a:ea typeface="Open Sans"/>
              <a:cs typeface="Open Sans"/>
              <a:sym typeface="Open Sans"/>
            </a:endParaRPr>
          </a:p>
          <a:p>
            <a:pPr indent="-419100" lvl="1" marL="9144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按照用途：用户数据库、产品类目</a:t>
            </a:r>
            <a:endParaRPr sz="3000">
              <a:solidFill>
                <a:schemeClr val="dk1"/>
              </a:solidFill>
              <a:latin typeface="Open Sans"/>
              <a:ea typeface="Open Sans"/>
              <a:cs typeface="Open Sans"/>
              <a:sym typeface="Open Sans"/>
            </a:endParaRPr>
          </a:p>
          <a:p>
            <a:pPr indent="-419100" lvl="1" marL="9144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用户数据进行分片和路由</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AutoNum type="arabicPeriod"/>
            </a:pPr>
            <a:r>
              <a:rPr lang="zh-CN" sz="3000">
                <a:solidFill>
                  <a:schemeClr val="dk1"/>
                </a:solidFill>
                <a:latin typeface="Open Sans"/>
                <a:ea typeface="Open Sans"/>
                <a:cs typeface="Open Sans"/>
                <a:sym typeface="Open Sans"/>
              </a:rPr>
              <a:t>副本同步策略：一主多从、冷备份</a:t>
            </a:r>
            <a:endParaRPr sz="3000">
              <a:solidFill>
                <a:schemeClr val="dk1"/>
              </a:solidFill>
              <a:latin typeface="Open Sans"/>
              <a:ea typeface="Open Sans"/>
              <a:cs typeface="Open Sans"/>
              <a:sym typeface="Open Sans"/>
            </a:endParaRPr>
          </a:p>
          <a:p>
            <a:pPr indent="-419100" lvl="0" marL="457200" rtl="0" algn="l">
              <a:lnSpc>
                <a:spcPct val="150000"/>
              </a:lnSpc>
              <a:spcBef>
                <a:spcPts val="0"/>
              </a:spcBef>
              <a:spcAft>
                <a:spcPts val="0"/>
              </a:spcAft>
              <a:buClr>
                <a:schemeClr val="dk1"/>
              </a:buClr>
              <a:buSzPts val="3000"/>
              <a:buFont typeface="Open Sans"/>
              <a:buAutoNum type="arabicPeriod"/>
            </a:pPr>
            <a:r>
              <a:rPr lang="zh-CN" sz="3000">
                <a:solidFill>
                  <a:schemeClr val="dk1"/>
                </a:solidFill>
                <a:latin typeface="Open Sans"/>
                <a:ea typeface="Open Sans"/>
                <a:cs typeface="Open Sans"/>
                <a:sym typeface="Open Sans"/>
              </a:rPr>
              <a:t>CAP理论：基本满足AP，牺牲一致性</a:t>
            </a:r>
            <a:endParaRPr sz="3000">
              <a:solidFill>
                <a:schemeClr val="dk1"/>
              </a:solidFill>
            </a:endParaRPr>
          </a:p>
          <a:p>
            <a:pPr indent="-419100" lvl="0" marL="457200" rtl="0" algn="l">
              <a:lnSpc>
                <a:spcPct val="150000"/>
              </a:lnSpc>
              <a:spcBef>
                <a:spcPts val="0"/>
              </a:spcBef>
              <a:spcAft>
                <a:spcPts val="0"/>
              </a:spcAft>
              <a:buClr>
                <a:schemeClr val="dk1"/>
              </a:buClr>
              <a:buSzPts val="3000"/>
              <a:buFont typeface="Open Sans"/>
              <a:buAutoNum type="arabicPeriod"/>
            </a:pPr>
            <a:r>
              <a:rPr lang="zh-CN" sz="3000">
                <a:solidFill>
                  <a:schemeClr val="dk1"/>
                </a:solidFill>
                <a:latin typeface="Open Sans"/>
                <a:ea typeface="Open Sans"/>
                <a:cs typeface="Open Sans"/>
                <a:sym typeface="Open Sans"/>
              </a:rPr>
              <a:t>BASE理论：</a:t>
            </a:r>
            <a:r>
              <a:rPr lang="zh-CN" sz="3000">
                <a:solidFill>
                  <a:schemeClr val="dk1"/>
                </a:solidFill>
              </a:rPr>
              <a:t>允许在出现故障或网络分区的下保持基本可用，在某一时刻主从之间存在数据不一致，副本同步期望实现最终一致</a:t>
            </a:r>
            <a:endParaRPr sz="3000">
              <a:solidFill>
                <a:schemeClr val="dk1"/>
              </a:solidFill>
            </a:endParaRPr>
          </a:p>
          <a:p>
            <a:pPr indent="-419100" lvl="0" marL="457200" rtl="0" algn="l">
              <a:lnSpc>
                <a:spcPct val="150000"/>
              </a:lnSpc>
              <a:spcBef>
                <a:spcPts val="0"/>
              </a:spcBef>
              <a:spcAft>
                <a:spcPts val="0"/>
              </a:spcAft>
              <a:buClr>
                <a:schemeClr val="dk1"/>
              </a:buClr>
              <a:buSzPts val="3000"/>
              <a:buFont typeface="Open Sans"/>
              <a:buAutoNum type="arabicPeriod"/>
            </a:pPr>
            <a:r>
              <a:rPr lang="zh-CN" sz="3000">
                <a:solidFill>
                  <a:schemeClr val="dk1"/>
                </a:solidFill>
                <a:latin typeface="Open Sans"/>
                <a:ea typeface="Open Sans"/>
                <a:cs typeface="Open Sans"/>
                <a:sym typeface="Open Sans"/>
              </a:rPr>
              <a:t>容错性和扩容：</a:t>
            </a:r>
            <a:endParaRPr sz="3000">
              <a:solidFill>
                <a:schemeClr val="dk1"/>
              </a:solidFill>
              <a:latin typeface="Open Sans"/>
              <a:ea typeface="Open Sans"/>
              <a:cs typeface="Open Sans"/>
              <a:sym typeface="Open Sans"/>
            </a:endParaRPr>
          </a:p>
          <a:p>
            <a:pPr indent="-419100" lvl="1" marL="9144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可以增加slave节点，提高读的能力</a:t>
            </a:r>
            <a:endParaRPr sz="3000">
              <a:solidFill>
                <a:schemeClr val="dk1"/>
              </a:solidFill>
              <a:latin typeface="Open Sans"/>
              <a:ea typeface="Open Sans"/>
              <a:cs typeface="Open Sans"/>
              <a:sym typeface="Open Sans"/>
            </a:endParaRPr>
          </a:p>
          <a:p>
            <a:pPr indent="-419100" lvl="1" marL="914400" rtl="0" algn="l">
              <a:lnSpc>
                <a:spcPct val="150000"/>
              </a:lnSpc>
              <a:spcBef>
                <a:spcPts val="0"/>
              </a:spcBef>
              <a:spcAft>
                <a:spcPts val="0"/>
              </a:spcAft>
              <a:buClr>
                <a:schemeClr val="dk1"/>
              </a:buClr>
              <a:buSzPts val="3000"/>
              <a:buFont typeface="Open Sans"/>
              <a:buChar char="○"/>
            </a:pPr>
            <a:r>
              <a:rPr lang="zh-CN" sz="3000">
                <a:solidFill>
                  <a:schemeClr val="dk1"/>
                </a:solidFill>
              </a:rPr>
              <a:t>主节点发生故障时，可以通过自动故障转移机制将一个从节点提升为新的主节点，以保持系统的可用性（手动或者自动）</a:t>
            </a:r>
            <a:endParaRPr sz="3000">
              <a:solidFill>
                <a:schemeClr val="dk1"/>
              </a:solidFill>
              <a:latin typeface="Open Sans"/>
              <a:ea typeface="Open Sans"/>
              <a:cs typeface="Open Sans"/>
              <a:sym typeface="Open Sans"/>
            </a:endParaRPr>
          </a:p>
          <a:p>
            <a:pPr indent="-419100" lvl="1" marL="914400" rtl="0" algn="l">
              <a:lnSpc>
                <a:spcPct val="150000"/>
              </a:lnSpc>
              <a:spcBef>
                <a:spcPts val="0"/>
              </a:spcBef>
              <a:spcAft>
                <a:spcPts val="0"/>
              </a:spcAft>
              <a:buClr>
                <a:schemeClr val="dk1"/>
              </a:buClr>
              <a:buSzPts val="3000"/>
              <a:buFont typeface="Open Sans"/>
              <a:buChar char="○"/>
            </a:pPr>
            <a:r>
              <a:rPr lang="zh-CN" sz="3000">
                <a:solidFill>
                  <a:schemeClr val="dk1"/>
                </a:solidFill>
                <a:latin typeface="Open Sans"/>
                <a:ea typeface="Open Sans"/>
                <a:cs typeface="Open Sans"/>
                <a:sym typeface="Open Sans"/>
              </a:rPr>
              <a:t>横向扩容：增加读写group，分片比较麻烦</a:t>
            </a:r>
            <a:endParaRPr sz="3000">
              <a:solidFill>
                <a:schemeClr val="dk1"/>
              </a:solidFill>
              <a:latin typeface="Open Sans"/>
              <a:ea typeface="Open Sans"/>
              <a:cs typeface="Open Sans"/>
              <a:sym typeface="Open Sans"/>
            </a:endParaRPr>
          </a:p>
          <a:p>
            <a:pPr indent="0" lvl="0" marL="914400" rtl="0" algn="l">
              <a:spcBef>
                <a:spcPts val="0"/>
              </a:spcBef>
              <a:spcAft>
                <a:spcPts val="0"/>
              </a:spcAft>
              <a:buNone/>
            </a:pPr>
            <a:r>
              <a:t/>
            </a:r>
            <a:endParaRPr sz="3000">
              <a:solidFill>
                <a:schemeClr val="dk1"/>
              </a:solidFill>
              <a:latin typeface="Open Sans"/>
              <a:ea typeface="Open Sans"/>
              <a:cs typeface="Open Sans"/>
              <a:sym typeface="Open Sans"/>
            </a:endParaRPr>
          </a:p>
        </p:txBody>
      </p:sp>
      <p:pic>
        <p:nvPicPr>
          <p:cNvPr id="157" name="Google Shape;157;g2a736d85ff4_0_25"/>
          <p:cNvPicPr preferRelativeResize="0"/>
          <p:nvPr/>
        </p:nvPicPr>
        <p:blipFill>
          <a:blip r:embed="rId3">
            <a:alphaModFix/>
          </a:blip>
          <a:stretch>
            <a:fillRect/>
          </a:stretch>
        </p:blipFill>
        <p:spPr>
          <a:xfrm>
            <a:off x="1384375" y="2696900"/>
            <a:ext cx="11836551" cy="8322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a736d85ff4_0_71"/>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架构学习2: </a:t>
            </a:r>
            <a:r>
              <a:rPr lang="zh-CN"/>
              <a:t>codis </a:t>
            </a:r>
            <a:r>
              <a:rPr lang="zh-CN"/>
              <a:t>分布式方案</a:t>
            </a:r>
            <a:endParaRPr/>
          </a:p>
        </p:txBody>
      </p:sp>
      <p:sp>
        <p:nvSpPr>
          <p:cNvPr id="163" name="Google Shape;163;g2a736d85ff4_0_71"/>
          <p:cNvSpPr txBox="1"/>
          <p:nvPr/>
        </p:nvSpPr>
        <p:spPr>
          <a:xfrm>
            <a:off x="14294250" y="2304075"/>
            <a:ext cx="8627400" cy="9654000"/>
          </a:xfrm>
          <a:prstGeom prst="rect">
            <a:avLst/>
          </a:prstGeom>
          <a:noFill/>
          <a:ln>
            <a:noFill/>
          </a:ln>
        </p:spPr>
        <p:txBody>
          <a:bodyPr anchorCtr="0" anchor="t" bIns="91425" lIns="91425" spcFirstLastPara="1" rIns="91425" wrap="square" tIns="91425">
            <a:noAutofit/>
          </a:bodyPr>
          <a:lstStyle/>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highlight>
                  <a:schemeClr val="lt1"/>
                </a:highlight>
                <a:latin typeface="Open Sans"/>
                <a:ea typeface="Open Sans"/>
                <a:cs typeface="Open Sans"/>
                <a:sym typeface="Open Sans"/>
              </a:rPr>
              <a:t>分片</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虚拟slot,1024</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codis代理分片，redis cluser 客户端分片</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路由信息存在zk中</a:t>
            </a:r>
            <a:endParaRPr sz="2800">
              <a:solidFill>
                <a:schemeClr val="dk1"/>
              </a:solidFill>
              <a:highlight>
                <a:schemeClr val="lt1"/>
              </a:highlight>
              <a:latin typeface="Open Sans"/>
              <a:ea typeface="Open Sans"/>
              <a:cs typeface="Open Sans"/>
              <a:sym typeface="Open Sans"/>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highlight>
                  <a:schemeClr val="lt1"/>
                </a:highlight>
                <a:latin typeface="Open Sans"/>
                <a:ea typeface="Open Sans"/>
                <a:cs typeface="Open Sans"/>
                <a:sym typeface="Open Sans"/>
              </a:rPr>
              <a:t>codis group </a:t>
            </a:r>
            <a:r>
              <a:rPr lang="zh-CN" sz="2800">
                <a:solidFill>
                  <a:schemeClr val="dk1"/>
                </a:solidFill>
                <a:highlight>
                  <a:schemeClr val="lt1"/>
                </a:highlight>
                <a:latin typeface="Open Sans"/>
                <a:ea typeface="Open Sans"/>
                <a:cs typeface="Open Sans"/>
                <a:sym typeface="Open Sans"/>
              </a:rPr>
              <a:t>一主多从</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rPr>
              <a:t>Redis 的主从复制特性，以保持数据一致性</a:t>
            </a:r>
            <a:endParaRPr sz="2800">
              <a:solidFill>
                <a:schemeClr val="dk1"/>
              </a:solidFill>
              <a:highlight>
                <a:schemeClr val="lt1"/>
              </a:highlight>
            </a:endParaRPr>
          </a:p>
          <a:p>
            <a:pPr indent="-406400" lvl="1" marL="914400" rtl="0" algn="l">
              <a:lnSpc>
                <a:spcPct val="150000"/>
              </a:lnSpc>
              <a:spcBef>
                <a:spcPts val="0"/>
              </a:spcBef>
              <a:spcAft>
                <a:spcPts val="0"/>
              </a:spcAft>
              <a:buClr>
                <a:schemeClr val="dk1"/>
              </a:buClr>
              <a:buSzPts val="2800"/>
              <a:buChar char="○"/>
            </a:pPr>
            <a:r>
              <a:rPr lang="zh-CN" sz="2800">
                <a:solidFill>
                  <a:schemeClr val="dk1"/>
                </a:solidFill>
                <a:highlight>
                  <a:schemeClr val="lt1"/>
                </a:highlight>
              </a:rPr>
              <a:t>当主节点发生故障时，Codis 可以通过将一个从节点提升为新的主节点来实现故障转移</a:t>
            </a:r>
            <a:endParaRPr sz="2800">
              <a:solidFill>
                <a:schemeClr val="dk1"/>
              </a:solidFill>
              <a:highlight>
                <a:schemeClr val="lt1"/>
              </a:highlight>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highlight>
                  <a:schemeClr val="lt1"/>
                </a:highlight>
                <a:latin typeface="Open Sans"/>
                <a:ea typeface="Open Sans"/>
                <a:cs typeface="Open Sans"/>
                <a:sym typeface="Open Sans"/>
              </a:rPr>
              <a:t>CAP和</a:t>
            </a:r>
            <a:r>
              <a:rPr lang="zh-CN" sz="2800">
                <a:solidFill>
                  <a:schemeClr val="dk1"/>
                </a:solidFill>
                <a:highlight>
                  <a:schemeClr val="lt1"/>
                </a:highlight>
                <a:latin typeface="Open Sans"/>
                <a:ea typeface="Open Sans"/>
                <a:cs typeface="Open Sans"/>
                <a:sym typeface="Open Sans"/>
              </a:rPr>
              <a:t>BASE理论：</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rPr>
              <a:t>主从模型、分片机制，提高了可用性，需要容受复制延时，保证了基本可用</a:t>
            </a:r>
            <a:endParaRPr sz="2800">
              <a:solidFill>
                <a:schemeClr val="dk1"/>
              </a:solidFill>
              <a:highlight>
                <a:schemeClr val="lt1"/>
              </a:highlight>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highlight>
                  <a:schemeClr val="lt1"/>
                </a:highlight>
                <a:latin typeface="Open Sans"/>
                <a:ea typeface="Open Sans"/>
                <a:cs typeface="Open Sans"/>
                <a:sym typeface="Open Sans"/>
              </a:rPr>
              <a:t>故障处理方案</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codis group 故障</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proxy故障。HA机制</a:t>
            </a:r>
            <a:endParaRPr sz="2800">
              <a:solidFill>
                <a:schemeClr val="dk1"/>
              </a:solidFill>
              <a:highlight>
                <a:schemeClr val="lt1"/>
              </a:highlight>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highlight>
                  <a:schemeClr val="lt1"/>
                </a:highlight>
                <a:latin typeface="Open Sans"/>
                <a:ea typeface="Open Sans"/>
                <a:cs typeface="Open Sans"/>
                <a:sym typeface="Open Sans"/>
              </a:rPr>
              <a:t>横向扩容，缩容</a:t>
            </a:r>
            <a:endParaRPr sz="2800">
              <a:solidFill>
                <a:schemeClr val="dk1"/>
              </a:solidFill>
              <a:highlight>
                <a:schemeClr val="lt1"/>
              </a:highlight>
              <a:latin typeface="Open Sans"/>
              <a:ea typeface="Open Sans"/>
              <a:cs typeface="Open Sans"/>
              <a:sym typeface="Open Sans"/>
            </a:endParaRPr>
          </a:p>
        </p:txBody>
      </p:sp>
      <p:sp>
        <p:nvSpPr>
          <p:cNvPr id="164" name="Google Shape;164;g2a736d85ff4_0_71"/>
          <p:cNvSpPr txBox="1"/>
          <p:nvPr/>
        </p:nvSpPr>
        <p:spPr>
          <a:xfrm>
            <a:off x="1244700" y="8786075"/>
            <a:ext cx="924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3600">
                <a:solidFill>
                  <a:schemeClr val="dk1"/>
                </a:solidFill>
              </a:rPr>
              <a:t>https://wsgzao.github.io/post/codis/</a:t>
            </a:r>
            <a:endParaRPr/>
          </a:p>
        </p:txBody>
      </p:sp>
      <p:pic>
        <p:nvPicPr>
          <p:cNvPr id="165" name="Google Shape;165;g2a736d85ff4_0_71"/>
          <p:cNvPicPr preferRelativeResize="0"/>
          <p:nvPr/>
        </p:nvPicPr>
        <p:blipFill>
          <a:blip r:embed="rId3">
            <a:alphaModFix/>
          </a:blip>
          <a:stretch>
            <a:fillRect/>
          </a:stretch>
        </p:blipFill>
        <p:spPr>
          <a:xfrm>
            <a:off x="1244700" y="3297974"/>
            <a:ext cx="11455499" cy="758229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a5ef1e3186_0_26"/>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架构学习3:  </a:t>
            </a:r>
            <a:r>
              <a:rPr lang="zh-CN"/>
              <a:t>kafka分布式方案</a:t>
            </a:r>
            <a:endParaRPr/>
          </a:p>
        </p:txBody>
      </p:sp>
      <p:sp>
        <p:nvSpPr>
          <p:cNvPr id="171" name="Google Shape;171;g2a5ef1e3186_0_26"/>
          <p:cNvSpPr txBox="1"/>
          <p:nvPr/>
        </p:nvSpPr>
        <p:spPr>
          <a:xfrm>
            <a:off x="14209675" y="1731450"/>
            <a:ext cx="8528700" cy="11605800"/>
          </a:xfrm>
          <a:prstGeom prst="rect">
            <a:avLst/>
          </a:prstGeom>
          <a:noFill/>
          <a:ln>
            <a:noFill/>
          </a:ln>
        </p:spPr>
        <p:txBody>
          <a:bodyPr anchorCtr="0" anchor="t" bIns="91425" lIns="91425" spcFirstLastPara="1" rIns="91425" wrap="square" tIns="91425">
            <a:spAutoFit/>
          </a:bodyPr>
          <a:lstStyle/>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分片</a:t>
            </a:r>
            <a:r>
              <a:rPr lang="zh-CN" sz="2800">
                <a:solidFill>
                  <a:schemeClr val="dk1"/>
                </a:solidFill>
                <a:latin typeface="Open Sans"/>
                <a:ea typeface="Open Sans"/>
                <a:cs typeface="Open Sans"/>
                <a:sym typeface="Open Sans"/>
              </a:rPr>
              <a:t>机制</a:t>
            </a:r>
            <a:endParaRPr sz="2800">
              <a:solidFill>
                <a:schemeClr val="dk1"/>
              </a:solidFill>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topic 分成多个partition，每个分区是有序队列</a:t>
            </a:r>
            <a:endParaRPr sz="2800">
              <a:solidFill>
                <a:schemeClr val="dk1"/>
              </a:solidFill>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支持客户端指定分区和服务端轮训、随机等</a:t>
            </a:r>
            <a:endParaRPr sz="2800">
              <a:solidFill>
                <a:schemeClr val="dk1"/>
              </a:solidFill>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副本机制</a:t>
            </a:r>
            <a:endParaRPr sz="2800">
              <a:solidFill>
                <a:schemeClr val="dk1"/>
              </a:solidFill>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一主多从</a:t>
            </a:r>
            <a:endParaRPr sz="2800">
              <a:solidFill>
                <a:schemeClr val="dk1"/>
              </a:solidFill>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ACK机制设置异步，半同步、同步机制</a:t>
            </a:r>
            <a:endParaRPr sz="2800">
              <a:solidFill>
                <a:schemeClr val="dk1"/>
              </a:solidFill>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ISR 中的副本会尽量保持与主副本同步，但也会有滞后，leader故障可能数据丢失</a:t>
            </a:r>
            <a:endParaRPr sz="2800">
              <a:solidFill>
                <a:schemeClr val="dk1"/>
              </a:solidFill>
            </a:endParaRPr>
          </a:p>
          <a:p>
            <a:pPr indent="-406400" lvl="0" marL="457200" rtl="0" algn="l">
              <a:lnSpc>
                <a:spcPct val="150000"/>
              </a:lnSpc>
              <a:spcBef>
                <a:spcPts val="0"/>
              </a:spcBef>
              <a:spcAft>
                <a:spcPts val="0"/>
              </a:spcAft>
              <a:buClr>
                <a:schemeClr val="dk1"/>
              </a:buClr>
              <a:buSzPts val="2800"/>
              <a:buAutoNum type="arabicPeriod"/>
            </a:pPr>
            <a:r>
              <a:rPr lang="zh-CN" sz="2800">
                <a:solidFill>
                  <a:schemeClr val="dk1"/>
                </a:solidFill>
              </a:rPr>
              <a:t>存储：顺序写机制，提高了吞吐能力</a:t>
            </a:r>
            <a:endParaRPr sz="2800">
              <a:solidFill>
                <a:schemeClr val="dk1"/>
              </a:solidFill>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CAP和</a:t>
            </a:r>
            <a:r>
              <a:rPr lang="zh-CN" sz="2800">
                <a:solidFill>
                  <a:schemeClr val="dk1"/>
                </a:solidFill>
                <a:latin typeface="Open Sans"/>
                <a:ea typeface="Open Sans"/>
                <a:cs typeface="Open Sans"/>
                <a:sym typeface="Open Sans"/>
              </a:rPr>
              <a:t>BASE：</a:t>
            </a:r>
            <a:r>
              <a:rPr lang="zh-CN" sz="2800">
                <a:solidFill>
                  <a:schemeClr val="dk1"/>
                </a:solidFill>
              </a:rPr>
              <a:t>在 CAP 理论中强调的分区容忍性P和可用性A，而在副本之间一致性上进行了，读写是从leader，可通过设置ACK权衡性能和吞吐能力，适合大规模、高吞吐量、消息系统需求。</a:t>
            </a:r>
            <a:endParaRPr sz="2800">
              <a:solidFill>
                <a:schemeClr val="dk1"/>
              </a:solidFill>
            </a:endParaRPr>
          </a:p>
          <a:p>
            <a:pPr indent="-406400" lvl="0" marL="457200" rtl="0" algn="l">
              <a:lnSpc>
                <a:spcPct val="150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常见问题</a:t>
            </a:r>
            <a:endParaRPr sz="2800">
              <a:solidFill>
                <a:schemeClr val="dk1"/>
              </a:solidFill>
              <a:latin typeface="Open Sans"/>
              <a:ea typeface="Open Sans"/>
              <a:cs typeface="Open Sans"/>
              <a:sym typeface="Open Sans"/>
            </a:endParaRPr>
          </a:p>
          <a:p>
            <a:pPr indent="-406400" lvl="1" marL="914400" rtl="0" algn="l">
              <a:lnSpc>
                <a:spcPct val="150000"/>
              </a:lnSpc>
              <a:spcBef>
                <a:spcPts val="0"/>
              </a:spcBef>
              <a:spcAft>
                <a:spcPts val="0"/>
              </a:spcAft>
              <a:buClr>
                <a:schemeClr val="dk1"/>
              </a:buClr>
              <a:buSzPts val="2800"/>
              <a:buFont typeface="Open Sans"/>
              <a:buChar char="○"/>
            </a:pPr>
            <a:r>
              <a:rPr lang="zh-CN" sz="2800">
                <a:solidFill>
                  <a:schemeClr val="dk1"/>
                </a:solidFill>
              </a:rPr>
              <a:t>数据丢失、生产者、集群内部、消费者</a:t>
            </a:r>
            <a:endParaRPr sz="2800">
              <a:solidFill>
                <a:schemeClr val="dk1"/>
              </a:solidFill>
            </a:endParaRPr>
          </a:p>
          <a:p>
            <a:pPr indent="-406400" lvl="1" marL="914400" rtl="0" algn="l">
              <a:lnSpc>
                <a:spcPct val="150000"/>
              </a:lnSpc>
              <a:spcBef>
                <a:spcPts val="0"/>
              </a:spcBef>
              <a:spcAft>
                <a:spcPts val="0"/>
              </a:spcAft>
              <a:buClr>
                <a:schemeClr val="dk1"/>
              </a:buClr>
              <a:buSzPts val="2800"/>
              <a:buChar char="○"/>
            </a:pPr>
            <a:r>
              <a:rPr lang="zh-CN" sz="2800">
                <a:solidFill>
                  <a:schemeClr val="dk1"/>
                </a:solidFill>
              </a:rPr>
              <a:t>重复消费</a:t>
            </a:r>
            <a:endParaRPr sz="2800">
              <a:solidFill>
                <a:schemeClr val="dk1"/>
              </a:solidFill>
            </a:endParaRPr>
          </a:p>
          <a:p>
            <a:pPr indent="-406400" lvl="1" marL="914400" rtl="0" algn="l">
              <a:lnSpc>
                <a:spcPct val="150000"/>
              </a:lnSpc>
              <a:spcBef>
                <a:spcPts val="0"/>
              </a:spcBef>
              <a:spcAft>
                <a:spcPts val="0"/>
              </a:spcAft>
              <a:buClr>
                <a:schemeClr val="dk1"/>
              </a:buClr>
              <a:buSzPts val="2800"/>
              <a:buChar char="○"/>
            </a:pPr>
            <a:r>
              <a:rPr lang="zh-CN" sz="2800">
                <a:solidFill>
                  <a:schemeClr val="dk1"/>
                </a:solidFill>
              </a:rPr>
              <a:t>消费不及时导致的lag</a:t>
            </a:r>
            <a:endParaRPr sz="2800">
              <a:solidFill>
                <a:schemeClr val="dk1"/>
              </a:solidFill>
            </a:endParaRPr>
          </a:p>
          <a:p>
            <a:pPr indent="-406400" lvl="1" marL="914400" rtl="0" algn="l">
              <a:lnSpc>
                <a:spcPct val="150000"/>
              </a:lnSpc>
              <a:spcBef>
                <a:spcPts val="0"/>
              </a:spcBef>
              <a:spcAft>
                <a:spcPts val="0"/>
              </a:spcAft>
              <a:buClr>
                <a:schemeClr val="dk1"/>
              </a:buClr>
              <a:buSzPts val="2800"/>
              <a:buChar char="○"/>
            </a:pPr>
            <a:r>
              <a:rPr lang="zh-CN" sz="2800">
                <a:solidFill>
                  <a:schemeClr val="dk1"/>
                </a:solidFill>
              </a:rPr>
              <a:t>扩容，缩容，rebalance问题</a:t>
            </a:r>
            <a:endParaRPr sz="2800">
              <a:solidFill>
                <a:schemeClr val="dk1"/>
              </a:solidFill>
            </a:endParaRPr>
          </a:p>
        </p:txBody>
      </p:sp>
      <p:pic>
        <p:nvPicPr>
          <p:cNvPr id="172" name="Google Shape;172;g2a5ef1e3186_0_26"/>
          <p:cNvPicPr preferRelativeResize="0"/>
          <p:nvPr/>
        </p:nvPicPr>
        <p:blipFill>
          <a:blip r:embed="rId3">
            <a:alphaModFix/>
          </a:blip>
          <a:stretch>
            <a:fillRect/>
          </a:stretch>
        </p:blipFill>
        <p:spPr>
          <a:xfrm>
            <a:off x="1239500" y="3075762"/>
            <a:ext cx="12313151" cy="7564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a5ef1e3186_0_22"/>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Clr>
                <a:schemeClr val="dk1"/>
              </a:buClr>
              <a:buSzPts val="1100"/>
              <a:buFont typeface="Arial"/>
              <a:buNone/>
            </a:pPr>
            <a:r>
              <a:rPr lang="zh-CN"/>
              <a:t>架构学习4:  ES 分布式方案</a:t>
            </a:r>
            <a:endParaRPr/>
          </a:p>
        </p:txBody>
      </p:sp>
      <p:pic>
        <p:nvPicPr>
          <p:cNvPr id="178" name="Google Shape;178;g2a5ef1e3186_0_22"/>
          <p:cNvPicPr preferRelativeResize="0"/>
          <p:nvPr/>
        </p:nvPicPr>
        <p:blipFill>
          <a:blip r:embed="rId3">
            <a:alphaModFix/>
          </a:blip>
          <a:stretch>
            <a:fillRect/>
          </a:stretch>
        </p:blipFill>
        <p:spPr>
          <a:xfrm>
            <a:off x="2026075" y="1975275"/>
            <a:ext cx="10373274" cy="6540781"/>
          </a:xfrm>
          <a:prstGeom prst="rect">
            <a:avLst/>
          </a:prstGeom>
          <a:noFill/>
          <a:ln>
            <a:noFill/>
          </a:ln>
        </p:spPr>
      </p:pic>
      <p:sp>
        <p:nvSpPr>
          <p:cNvPr id="179" name="Google Shape;179;g2a5ef1e3186_0_22"/>
          <p:cNvSpPr txBox="1"/>
          <p:nvPr/>
        </p:nvSpPr>
        <p:spPr>
          <a:xfrm>
            <a:off x="13947300" y="1975275"/>
            <a:ext cx="9454800" cy="95370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分片</a:t>
            </a:r>
            <a:r>
              <a:rPr lang="zh-CN" sz="2800">
                <a:solidFill>
                  <a:schemeClr val="dk1"/>
                </a:solidFill>
                <a:latin typeface="Open Sans"/>
                <a:ea typeface="Open Sans"/>
                <a:cs typeface="Open Sans"/>
                <a:sym typeface="Open Sans"/>
              </a:rPr>
              <a:t>机制</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索引被划分为多个分片，每个分片是一个独立的、完整的索引</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在创建索引时指定索引的分片数量，分片数创建后无法更改</a:t>
            </a:r>
            <a:endParaRPr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副本机制</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一主多从。写请求：主分片然后同步给其它副本；所有分片接受读请求</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默认是同步写，可接受异步写</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主副本选举机制。master 节点选择 ISR集合中的副本</a:t>
            </a:r>
            <a:endParaRPr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AutoNum type="arabicPeriod"/>
            </a:pPr>
            <a:r>
              <a:rPr lang="zh-CN" sz="2800">
                <a:solidFill>
                  <a:schemeClr val="dk1"/>
                </a:solidFill>
                <a:highlight>
                  <a:srgbClr val="FFFFFF"/>
                </a:highlight>
                <a:latin typeface="Open Sans"/>
                <a:ea typeface="Open Sans"/>
                <a:cs typeface="Open Sans"/>
                <a:sym typeface="Open Sans"/>
              </a:rPr>
              <a:t>LSM存储，删除和更新都是追加写，先写内存的Buffer（类MemTable），当Buffer内数据到一定量后会被flush成一个Segment，Segmen后台合并也和SSTable的Merge类似。</a:t>
            </a:r>
            <a:endParaRPr sz="2800">
              <a:solidFill>
                <a:schemeClr val="dk1"/>
              </a:solidFill>
              <a:latin typeface="Open Sans"/>
              <a:ea typeface="Open Sans"/>
              <a:cs typeface="Open Sans"/>
              <a:sym typeface="Open Sans"/>
            </a:endParaRPr>
          </a:p>
          <a:p>
            <a:pPr indent="-406400" lvl="0" marL="457200" rtl="0" algn="l">
              <a:lnSpc>
                <a:spcPct val="115000"/>
              </a:lnSpc>
              <a:spcBef>
                <a:spcPts val="0"/>
              </a:spcBef>
              <a:spcAft>
                <a:spcPts val="0"/>
              </a:spcAft>
              <a:buClr>
                <a:schemeClr val="dk1"/>
              </a:buClr>
              <a:buSzPts val="2800"/>
              <a:buFont typeface="Open Sans"/>
              <a:buAutoNum type="arabicPeriod"/>
            </a:pPr>
            <a:r>
              <a:rPr lang="zh-CN" sz="2800">
                <a:solidFill>
                  <a:schemeClr val="dk1"/>
                </a:solidFill>
                <a:latin typeface="Open Sans"/>
                <a:ea typeface="Open Sans"/>
                <a:cs typeface="Open Sans"/>
                <a:sym typeface="Open Sans"/>
              </a:rPr>
              <a:t>CAP理论和</a:t>
            </a:r>
            <a:r>
              <a:rPr lang="zh-CN" sz="2800">
                <a:solidFill>
                  <a:schemeClr val="dk1"/>
                </a:solidFill>
                <a:latin typeface="Open Sans"/>
                <a:ea typeface="Open Sans"/>
                <a:cs typeface="Open Sans"/>
                <a:sym typeface="Open Sans"/>
              </a:rPr>
              <a:t>BSE理论</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采用分片和副本机制，确保数据的冗余存储，提高系统的可用性和容错性。</a:t>
            </a:r>
            <a:endParaRPr sz="2800">
              <a:solidFill>
                <a:schemeClr val="dk1"/>
              </a:solidFill>
              <a:latin typeface="Open Sans"/>
              <a:ea typeface="Open Sans"/>
              <a:cs typeface="Open Sans"/>
              <a:sym typeface="Open Sans"/>
            </a:endParaRPr>
          </a:p>
          <a:p>
            <a:pPr indent="-406400" lvl="1" marL="914400" rtl="0" algn="l">
              <a:lnSpc>
                <a:spcPct val="115000"/>
              </a:lnSpc>
              <a:spcBef>
                <a:spcPts val="0"/>
              </a:spcBef>
              <a:spcAft>
                <a:spcPts val="0"/>
              </a:spcAft>
              <a:buClr>
                <a:schemeClr val="dk1"/>
              </a:buClr>
              <a:buSzPts val="2800"/>
              <a:buFont typeface="Open Sans"/>
              <a:buChar char="○"/>
            </a:pPr>
            <a:r>
              <a:rPr lang="zh-CN" sz="2800">
                <a:solidFill>
                  <a:schemeClr val="dk1"/>
                </a:solidFill>
                <a:latin typeface="Open Sans"/>
                <a:ea typeface="Open Sans"/>
                <a:cs typeface="Open Sans"/>
                <a:sym typeface="Open Sans"/>
              </a:rPr>
              <a:t>水平扩展性，可以通过增加节点来处理更大规模的数据和请求</a:t>
            </a:r>
            <a:endParaRPr sz="2800">
              <a:solidFill>
                <a:schemeClr val="dk1"/>
              </a:solidFill>
              <a:latin typeface="Open Sans"/>
              <a:ea typeface="Open Sans"/>
              <a:cs typeface="Open Sans"/>
              <a:sym typeface="Open Sans"/>
            </a:endParaRPr>
          </a:p>
        </p:txBody>
      </p:sp>
      <p:pic>
        <p:nvPicPr>
          <p:cNvPr id="180" name="Google Shape;180;g2a5ef1e3186_0_22"/>
          <p:cNvPicPr preferRelativeResize="0"/>
          <p:nvPr/>
        </p:nvPicPr>
        <p:blipFill>
          <a:blip r:embed="rId4">
            <a:alphaModFix/>
          </a:blip>
          <a:stretch>
            <a:fillRect/>
          </a:stretch>
        </p:blipFill>
        <p:spPr>
          <a:xfrm>
            <a:off x="2266362" y="8780700"/>
            <a:ext cx="10373275" cy="3869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2a736d85ff4_0_110"/>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Clr>
                <a:schemeClr val="dk1"/>
              </a:buClr>
              <a:buSzPts val="1100"/>
              <a:buFont typeface="Arial"/>
              <a:buNone/>
            </a:pPr>
            <a:r>
              <a:rPr lang="zh-CN"/>
              <a:t>架构学习5:  zookeeper 一致性方案</a:t>
            </a:r>
            <a:endParaRPr/>
          </a:p>
        </p:txBody>
      </p:sp>
      <p:pic>
        <p:nvPicPr>
          <p:cNvPr id="186" name="Google Shape;186;g2a736d85ff4_0_110"/>
          <p:cNvPicPr preferRelativeResize="0"/>
          <p:nvPr/>
        </p:nvPicPr>
        <p:blipFill>
          <a:blip r:embed="rId3">
            <a:alphaModFix/>
          </a:blip>
          <a:stretch>
            <a:fillRect/>
          </a:stretch>
        </p:blipFill>
        <p:spPr>
          <a:xfrm>
            <a:off x="1275050" y="1902025"/>
            <a:ext cx="10000376" cy="4828225"/>
          </a:xfrm>
          <a:prstGeom prst="rect">
            <a:avLst/>
          </a:prstGeom>
          <a:noFill/>
          <a:ln>
            <a:noFill/>
          </a:ln>
        </p:spPr>
      </p:pic>
      <p:pic>
        <p:nvPicPr>
          <p:cNvPr id="187" name="Google Shape;187;g2a736d85ff4_0_110"/>
          <p:cNvPicPr preferRelativeResize="0"/>
          <p:nvPr/>
        </p:nvPicPr>
        <p:blipFill>
          <a:blip r:embed="rId4">
            <a:alphaModFix/>
          </a:blip>
          <a:stretch>
            <a:fillRect/>
          </a:stretch>
        </p:blipFill>
        <p:spPr>
          <a:xfrm>
            <a:off x="1275050" y="7004675"/>
            <a:ext cx="10000375" cy="4074751"/>
          </a:xfrm>
          <a:prstGeom prst="rect">
            <a:avLst/>
          </a:prstGeom>
          <a:noFill/>
          <a:ln>
            <a:noFill/>
          </a:ln>
        </p:spPr>
      </p:pic>
      <p:sp>
        <p:nvSpPr>
          <p:cNvPr id="188" name="Google Shape;188;g2a736d85ff4_0_110"/>
          <p:cNvSpPr txBox="1"/>
          <p:nvPr/>
        </p:nvSpPr>
        <p:spPr>
          <a:xfrm>
            <a:off x="12838050" y="2090225"/>
            <a:ext cx="10000500" cy="85458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1500"/>
              </a:spcBef>
              <a:spcAft>
                <a:spcPts val="0"/>
              </a:spcAft>
              <a:buClr>
                <a:schemeClr val="dk1"/>
              </a:buClr>
              <a:buSzPts val="2800"/>
              <a:buAutoNum type="arabicPeriod"/>
            </a:pPr>
            <a:r>
              <a:rPr lang="zh-CN" sz="2800">
                <a:solidFill>
                  <a:schemeClr val="dk1"/>
                </a:solidFill>
              </a:rPr>
              <a:t>正常广播</a:t>
            </a:r>
            <a:endParaRPr sz="2800">
              <a:solidFill>
                <a:schemeClr val="dk1"/>
              </a:solidFill>
            </a:endParaRPr>
          </a:p>
          <a:p>
            <a:pPr indent="-406400" lvl="1" marL="914400" rtl="0" algn="l">
              <a:lnSpc>
                <a:spcPct val="115000"/>
              </a:lnSpc>
              <a:spcBef>
                <a:spcPts val="0"/>
              </a:spcBef>
              <a:spcAft>
                <a:spcPts val="0"/>
              </a:spcAft>
              <a:buClr>
                <a:schemeClr val="dk1"/>
              </a:buClr>
              <a:buSzPts val="2800"/>
              <a:buChar char="○"/>
            </a:pPr>
            <a:r>
              <a:rPr lang="zh-CN" sz="2800">
                <a:solidFill>
                  <a:schemeClr val="dk1"/>
                </a:solidFill>
              </a:rPr>
              <a:t>只有leader能发起事务。paxos没有限制leader，活锁问题，raft限制leader</a:t>
            </a:r>
            <a:endParaRPr sz="2800">
              <a:solidFill>
                <a:schemeClr val="dk1"/>
              </a:solidFill>
            </a:endParaRPr>
          </a:p>
          <a:p>
            <a:pPr indent="-406400" lvl="1" marL="914400" rtl="0" algn="l">
              <a:lnSpc>
                <a:spcPct val="115000"/>
              </a:lnSpc>
              <a:spcBef>
                <a:spcPts val="0"/>
              </a:spcBef>
              <a:spcAft>
                <a:spcPts val="0"/>
              </a:spcAft>
              <a:buClr>
                <a:schemeClr val="dk1"/>
              </a:buClr>
              <a:buSzPts val="2800"/>
              <a:buChar char="○"/>
            </a:pPr>
            <a:r>
              <a:rPr lang="zh-CN" sz="2800">
                <a:solidFill>
                  <a:schemeClr val="dk1"/>
                </a:solidFill>
              </a:rPr>
              <a:t>递增的proposer ID</a:t>
            </a:r>
            <a:endParaRPr sz="2800">
              <a:solidFill>
                <a:schemeClr val="dk1"/>
              </a:solidFill>
            </a:endParaRPr>
          </a:p>
          <a:p>
            <a:pPr indent="-406400" lvl="1" marL="914400" rtl="0" algn="l">
              <a:lnSpc>
                <a:spcPct val="115000"/>
              </a:lnSpc>
              <a:spcBef>
                <a:spcPts val="0"/>
              </a:spcBef>
              <a:spcAft>
                <a:spcPts val="0"/>
              </a:spcAft>
              <a:buClr>
                <a:schemeClr val="dk1"/>
              </a:buClr>
              <a:buSzPts val="2800"/>
              <a:buFont typeface="Microsoft Yahei"/>
              <a:buChar char="○"/>
            </a:pPr>
            <a:r>
              <a:rPr lang="zh-CN" sz="2800">
                <a:solidFill>
                  <a:schemeClr val="dk1"/>
                </a:solidFill>
                <a:highlight>
                  <a:srgbClr val="FFFFFF"/>
                </a:highlight>
                <a:latin typeface="Microsoft Yahei"/>
                <a:ea typeface="Microsoft Yahei"/>
                <a:cs typeface="Microsoft Yahei"/>
                <a:sym typeface="Microsoft Yahei"/>
              </a:rPr>
              <a:t>二阶段：收到半数 Follower 机器的 ack 之后，才会提交本地机器上的事务，同时开始广播 commit</a:t>
            </a:r>
            <a:endParaRPr sz="2800">
              <a:solidFill>
                <a:schemeClr val="dk1"/>
              </a:solidFill>
            </a:endParaRPr>
          </a:p>
          <a:p>
            <a:pPr indent="-406400" lvl="0" marL="457200" rtl="0" algn="l">
              <a:lnSpc>
                <a:spcPct val="115000"/>
              </a:lnSpc>
              <a:spcBef>
                <a:spcPts val="0"/>
              </a:spcBef>
              <a:spcAft>
                <a:spcPts val="0"/>
              </a:spcAft>
              <a:buClr>
                <a:schemeClr val="dk1"/>
              </a:buClr>
              <a:buSzPts val="2800"/>
              <a:buAutoNum type="arabicPeriod"/>
            </a:pPr>
            <a:r>
              <a:rPr lang="zh-CN" sz="2800">
                <a:solidFill>
                  <a:schemeClr val="dk1"/>
                </a:solidFill>
              </a:rPr>
              <a:t>leader 崩溃，重新选举</a:t>
            </a:r>
            <a:endParaRPr sz="2800">
              <a:solidFill>
                <a:schemeClr val="dk1"/>
              </a:solidFill>
            </a:endParaRPr>
          </a:p>
          <a:p>
            <a:pPr indent="-406400" lvl="1" marL="914400" rtl="0" algn="l">
              <a:lnSpc>
                <a:spcPct val="115000"/>
              </a:lnSpc>
              <a:spcBef>
                <a:spcPts val="0"/>
              </a:spcBef>
              <a:spcAft>
                <a:spcPts val="0"/>
              </a:spcAft>
              <a:buClr>
                <a:schemeClr val="dk1"/>
              </a:buClr>
              <a:buSzPts val="2800"/>
              <a:buChar char="○"/>
            </a:pPr>
            <a:r>
              <a:rPr lang="zh-CN" sz="2800">
                <a:solidFill>
                  <a:schemeClr val="dk1"/>
                </a:solidFill>
                <a:highlight>
                  <a:srgbClr val="FFFFFF"/>
                </a:highlight>
                <a:latin typeface="Microsoft Yahei"/>
                <a:ea typeface="Microsoft Yahei"/>
                <a:cs typeface="Microsoft Yahei"/>
                <a:sym typeface="Microsoft Yahei"/>
              </a:rPr>
              <a:t>所有节点状态变更为 looking</a:t>
            </a:r>
            <a:endParaRPr sz="2800">
              <a:solidFill>
                <a:schemeClr val="dk1"/>
              </a:solidFill>
              <a:highlight>
                <a:srgbClr val="FFFFFF"/>
              </a:highlight>
              <a:latin typeface="Microsoft Yahei"/>
              <a:ea typeface="Microsoft Yahei"/>
              <a:cs typeface="Microsoft Yahei"/>
              <a:sym typeface="Microsoft Yahei"/>
            </a:endParaRPr>
          </a:p>
          <a:p>
            <a:pPr indent="-406400" lvl="1" marL="914400" rtl="0" algn="l">
              <a:lnSpc>
                <a:spcPct val="115000"/>
              </a:lnSpc>
              <a:spcBef>
                <a:spcPts val="0"/>
              </a:spcBef>
              <a:spcAft>
                <a:spcPts val="0"/>
              </a:spcAft>
              <a:buClr>
                <a:schemeClr val="dk1"/>
              </a:buClr>
              <a:buSzPts val="2800"/>
              <a:buFont typeface="Microsoft Yahei"/>
              <a:buChar char="○"/>
            </a:pPr>
            <a:r>
              <a:rPr lang="zh-CN" sz="2800">
                <a:solidFill>
                  <a:schemeClr val="dk1"/>
                </a:solidFill>
                <a:highlight>
                  <a:srgbClr val="FFFFFF"/>
                </a:highlight>
                <a:latin typeface="Microsoft Yahei"/>
                <a:ea typeface="Microsoft Yahei"/>
                <a:cs typeface="Microsoft Yahei"/>
                <a:sym typeface="Microsoft Yahei"/>
              </a:rPr>
              <a:t>在选举中，第一次投票中，所有的 Server 都会投自己带上</a:t>
            </a:r>
            <a:r>
              <a:rPr lang="zh-CN" sz="2800">
                <a:solidFill>
                  <a:schemeClr val="dk1"/>
                </a:solidFill>
                <a:highlight>
                  <a:schemeClr val="lt1"/>
                </a:highlight>
                <a:latin typeface="Microsoft Yahei"/>
                <a:ea typeface="Microsoft Yahei"/>
                <a:cs typeface="Microsoft Yahei"/>
                <a:sym typeface="Microsoft Yahei"/>
              </a:rPr>
              <a:t>epoch、zxid 、server id，</a:t>
            </a:r>
            <a:r>
              <a:rPr lang="zh-CN" sz="2800">
                <a:solidFill>
                  <a:schemeClr val="dk1"/>
                </a:solidFill>
                <a:highlight>
                  <a:srgbClr val="FFFFFF"/>
                </a:highlight>
                <a:latin typeface="Microsoft Yahei"/>
                <a:ea typeface="Microsoft Yahei"/>
                <a:cs typeface="Microsoft Yahei"/>
                <a:sym typeface="Microsoft Yahei"/>
              </a:rPr>
              <a:t>然后将投票发送给集群中所有机器，在运行期间</a:t>
            </a:r>
            <a:endParaRPr sz="2800">
              <a:solidFill>
                <a:schemeClr val="dk1"/>
              </a:solidFill>
              <a:highlight>
                <a:srgbClr val="FFFFFF"/>
              </a:highlight>
              <a:latin typeface="Microsoft Yahei"/>
              <a:ea typeface="Microsoft Yahei"/>
              <a:cs typeface="Microsoft Yahei"/>
              <a:sym typeface="Microsoft Yahei"/>
            </a:endParaRPr>
          </a:p>
          <a:p>
            <a:pPr indent="-406400" lvl="1" marL="914400" rtl="0" algn="l">
              <a:lnSpc>
                <a:spcPct val="115000"/>
              </a:lnSpc>
              <a:spcBef>
                <a:spcPts val="0"/>
              </a:spcBef>
              <a:spcAft>
                <a:spcPts val="0"/>
              </a:spcAft>
              <a:buClr>
                <a:schemeClr val="dk1"/>
              </a:buClr>
              <a:buSzPts val="2800"/>
              <a:buFont typeface="Microsoft Yahei"/>
              <a:buChar char="○"/>
            </a:pPr>
            <a:r>
              <a:rPr lang="zh-CN" sz="2800">
                <a:solidFill>
                  <a:schemeClr val="dk1"/>
                </a:solidFill>
                <a:highlight>
                  <a:srgbClr val="FFFFFF"/>
                </a:highlight>
                <a:latin typeface="Microsoft Yahei"/>
                <a:ea typeface="Microsoft Yahei"/>
                <a:cs typeface="Microsoft Yahei"/>
                <a:sym typeface="Microsoft Yahei"/>
              </a:rPr>
              <a:t> 收到投票信息后，按照epoch、zxid 、server id 最大的位leader. 获得超过半数的投票数，则会成为 Leader 节点，反之则重新投票选举</a:t>
            </a:r>
            <a:endParaRPr sz="2800">
              <a:solidFill>
                <a:schemeClr val="dk1"/>
              </a:solidFill>
              <a:highlight>
                <a:srgbClr val="FFFFFF"/>
              </a:highlight>
              <a:latin typeface="Microsoft Yahei"/>
              <a:ea typeface="Microsoft Yahei"/>
              <a:cs typeface="Microsoft Yahei"/>
              <a:sym typeface="Microsoft Yahei"/>
            </a:endParaRPr>
          </a:p>
          <a:p>
            <a:pPr indent="-406400" lvl="0" marL="457200" rtl="0" algn="l">
              <a:lnSpc>
                <a:spcPct val="115000"/>
              </a:lnSpc>
              <a:spcBef>
                <a:spcPts val="0"/>
              </a:spcBef>
              <a:spcAft>
                <a:spcPts val="0"/>
              </a:spcAft>
              <a:buClr>
                <a:schemeClr val="dk1"/>
              </a:buClr>
              <a:buSzPts val="2800"/>
              <a:buFont typeface="Microsoft Yahei"/>
              <a:buAutoNum type="arabicPeriod"/>
            </a:pPr>
            <a:r>
              <a:rPr lang="zh-CN" sz="2800">
                <a:solidFill>
                  <a:schemeClr val="dk1"/>
                </a:solidFill>
                <a:highlight>
                  <a:srgbClr val="FFFFFF"/>
                </a:highlight>
                <a:latin typeface="Microsoft Yahei"/>
                <a:ea typeface="Microsoft Yahei"/>
                <a:cs typeface="Microsoft Yahei"/>
                <a:sym typeface="Microsoft Yahei"/>
              </a:rPr>
              <a:t>数据同步：</a:t>
            </a:r>
            <a:endParaRPr sz="2800">
              <a:solidFill>
                <a:schemeClr val="dk1"/>
              </a:solidFill>
              <a:highlight>
                <a:srgbClr val="FFFFFF"/>
              </a:highlight>
              <a:latin typeface="Microsoft Yahei"/>
              <a:ea typeface="Microsoft Yahei"/>
              <a:cs typeface="Microsoft Yahei"/>
              <a:sym typeface="Microsoft Yahei"/>
            </a:endParaRPr>
          </a:p>
          <a:p>
            <a:pPr indent="-406400" lvl="1" marL="914400" rtl="0" algn="l">
              <a:lnSpc>
                <a:spcPct val="115000"/>
              </a:lnSpc>
              <a:spcBef>
                <a:spcPts val="0"/>
              </a:spcBef>
              <a:spcAft>
                <a:spcPts val="0"/>
              </a:spcAft>
              <a:buClr>
                <a:schemeClr val="dk1"/>
              </a:buClr>
              <a:buSzPts val="2800"/>
              <a:buFont typeface="Microsoft Yahei"/>
              <a:buChar char="○"/>
            </a:pPr>
            <a:r>
              <a:rPr lang="zh-CN" sz="2800">
                <a:solidFill>
                  <a:schemeClr val="dk1"/>
                </a:solidFill>
                <a:highlight>
                  <a:srgbClr val="FFFFFF"/>
                </a:highlight>
                <a:latin typeface="Microsoft Yahei"/>
                <a:ea typeface="Microsoft Yahei"/>
                <a:cs typeface="Microsoft Yahei"/>
                <a:sym typeface="Microsoft Yahei"/>
              </a:rPr>
              <a:t>同步阶段就是利用 Leader前一阶段获得的最新Proposal历史</a:t>
            </a:r>
            <a:endParaRPr sz="2800">
              <a:solidFill>
                <a:schemeClr val="dk1"/>
              </a:solidFill>
            </a:endParaRPr>
          </a:p>
        </p:txBody>
      </p:sp>
      <p:sp>
        <p:nvSpPr>
          <p:cNvPr id="189" name="Google Shape;189;g2a736d85ff4_0_110"/>
          <p:cNvSpPr txBox="1"/>
          <p:nvPr/>
        </p:nvSpPr>
        <p:spPr>
          <a:xfrm>
            <a:off x="1274988" y="11644050"/>
            <a:ext cx="10000500" cy="8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a:solidFill>
                  <a:srgbClr val="EE4D2D"/>
                </a:solidFill>
                <a:latin typeface="Open Sans"/>
                <a:ea typeface="Open Sans"/>
                <a:cs typeface="Open Sans"/>
                <a:sym typeface="Open Sans"/>
              </a:rPr>
              <a:t>扩展阅读；paxos和raft，区块链共识pow,pos等</a:t>
            </a:r>
            <a:endParaRPr sz="3600">
              <a:solidFill>
                <a:srgbClr val="EE4D2D"/>
              </a:solidFill>
              <a:latin typeface="Open Sans"/>
              <a:ea typeface="Open Sans"/>
              <a:cs typeface="Open Sans"/>
              <a:sym typeface="Open Sans"/>
            </a:endParaRPr>
          </a:p>
          <a:p>
            <a:pPr indent="0" lvl="0" marL="0" rtl="0" algn="l">
              <a:spcBef>
                <a:spcPts val="0"/>
              </a:spcBef>
              <a:spcAft>
                <a:spcPts val="0"/>
              </a:spcAft>
              <a:buNone/>
            </a:pPr>
            <a:r>
              <a:t/>
            </a:r>
            <a:endParaRPr sz="3600">
              <a:solidFill>
                <a:srgbClr val="EE4D2D"/>
              </a:solidFill>
              <a:latin typeface="Open Sans"/>
              <a:ea typeface="Open Sans"/>
              <a:cs typeface="Open Sans"/>
              <a:sym typeface="Open Sans"/>
            </a:endParaRPr>
          </a:p>
        </p:txBody>
      </p:sp>
      <p:sp>
        <p:nvSpPr>
          <p:cNvPr id="190" name="Google Shape;190;g2a736d85ff4_0_110"/>
          <p:cNvSpPr txBox="1"/>
          <p:nvPr/>
        </p:nvSpPr>
        <p:spPr>
          <a:xfrm>
            <a:off x="14462975" y="11304675"/>
            <a:ext cx="7118700" cy="7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3600" u="sng">
                <a:solidFill>
                  <a:schemeClr val="hlink"/>
                </a:solidFill>
                <a:latin typeface="Open Sans"/>
                <a:ea typeface="Open Sans"/>
                <a:cs typeface="Open Sans"/>
                <a:sym typeface="Open Sans"/>
                <a:hlinkClick r:id="rId5"/>
              </a:rPr>
              <a:t>ZK 是强一致性吗？</a:t>
            </a:r>
            <a:endParaRPr sz="3600">
              <a:solidFill>
                <a:srgbClr val="EE4D2D"/>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29f21f7e370_0_6"/>
          <p:cNvSpPr txBox="1"/>
          <p:nvPr>
            <p:ph type="title"/>
          </p:nvPr>
        </p:nvSpPr>
        <p:spPr>
          <a:xfrm>
            <a:off x="2794930" y="164802"/>
            <a:ext cx="18086100" cy="14628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zh-CN"/>
              <a:t>架构学习6：</a:t>
            </a:r>
            <a:r>
              <a:rPr lang="zh-CN"/>
              <a:t>数据仓库、批处理、流式处理</a:t>
            </a:r>
            <a:endParaRPr/>
          </a:p>
        </p:txBody>
      </p:sp>
      <p:pic>
        <p:nvPicPr>
          <p:cNvPr id="196" name="Google Shape;196;g29f21f7e370_0_6"/>
          <p:cNvPicPr preferRelativeResize="0"/>
          <p:nvPr/>
        </p:nvPicPr>
        <p:blipFill>
          <a:blip r:embed="rId3">
            <a:alphaModFix/>
          </a:blip>
          <a:stretch>
            <a:fillRect/>
          </a:stretch>
        </p:blipFill>
        <p:spPr>
          <a:xfrm>
            <a:off x="10833325" y="2200250"/>
            <a:ext cx="11498399" cy="7366175"/>
          </a:xfrm>
          <a:prstGeom prst="rect">
            <a:avLst/>
          </a:prstGeom>
          <a:noFill/>
          <a:ln>
            <a:noFill/>
          </a:ln>
        </p:spPr>
      </p:pic>
      <p:sp>
        <p:nvSpPr>
          <p:cNvPr id="197" name="Google Shape;197;g29f21f7e370_0_6"/>
          <p:cNvSpPr txBox="1"/>
          <p:nvPr/>
        </p:nvSpPr>
        <p:spPr>
          <a:xfrm>
            <a:off x="11432899" y="9869225"/>
            <a:ext cx="5060400" cy="2312700"/>
          </a:xfrm>
          <a:prstGeom prst="rect">
            <a:avLst/>
          </a:prstGeom>
          <a:noFill/>
          <a:ln>
            <a:noFill/>
          </a:ln>
        </p:spPr>
        <p:txBody>
          <a:bodyPr anchorCtr="0" anchor="t" bIns="91425" lIns="91425" spcFirstLastPara="1" rIns="91425" wrap="square" tIns="91425">
            <a:noAutofit/>
          </a:bodyPr>
          <a:lstStyle/>
          <a:p>
            <a:pPr indent="-457200" lvl="0" marL="457200" rtl="0" algn="l">
              <a:lnSpc>
                <a:spcPct val="115000"/>
              </a:lnSpc>
              <a:spcBef>
                <a:spcPts val="120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在线广告数量百万级</a:t>
            </a:r>
            <a:endParaRPr sz="3600">
              <a:solidFill>
                <a:schemeClr val="dk1"/>
              </a:solidFill>
              <a:latin typeface="Open Sans"/>
              <a:ea typeface="Open Sans"/>
              <a:cs typeface="Open Sans"/>
              <a:sym typeface="Open Sans"/>
            </a:endParaRPr>
          </a:p>
          <a:p>
            <a:pPr indent="-457200" lvl="0" marL="457200" rtl="0" algn="l">
              <a:lnSpc>
                <a:spcPct val="115000"/>
              </a:lnSpc>
              <a:spcBef>
                <a:spcPts val="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每秒转化数据200k</a:t>
            </a:r>
            <a:endParaRPr sz="36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t/>
            </a:r>
            <a:endParaRPr sz="36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3600">
              <a:solidFill>
                <a:srgbClr val="EE4D2D"/>
              </a:solidFill>
              <a:latin typeface="Open Sans"/>
              <a:ea typeface="Open Sans"/>
              <a:cs typeface="Open Sans"/>
              <a:sym typeface="Open Sans"/>
            </a:endParaRPr>
          </a:p>
        </p:txBody>
      </p:sp>
      <p:sp>
        <p:nvSpPr>
          <p:cNvPr id="198" name="Google Shape;198;g29f21f7e370_0_6"/>
          <p:cNvSpPr txBox="1"/>
          <p:nvPr/>
        </p:nvSpPr>
        <p:spPr>
          <a:xfrm>
            <a:off x="17143225" y="9718825"/>
            <a:ext cx="5641500" cy="2650500"/>
          </a:xfrm>
          <a:prstGeom prst="rect">
            <a:avLst/>
          </a:prstGeom>
          <a:noFill/>
          <a:ln>
            <a:noFill/>
          </a:ln>
        </p:spPr>
        <p:txBody>
          <a:bodyPr anchorCtr="0" anchor="t" bIns="91425" lIns="91425" spcFirstLastPara="1" rIns="91425" wrap="square" tIns="91425">
            <a:spAutoFit/>
          </a:bodyPr>
          <a:lstStyle/>
          <a:p>
            <a:pPr indent="-457200" lvl="0" marL="457200" rtl="0" algn="l">
              <a:lnSpc>
                <a:spcPct val="115000"/>
              </a:lnSpc>
              <a:spcBef>
                <a:spcPts val="1200"/>
              </a:spcBef>
              <a:spcAft>
                <a:spcPts val="0"/>
              </a:spcAft>
              <a:buClr>
                <a:schemeClr val="dk1"/>
              </a:buClr>
              <a:buSzPts val="3600"/>
              <a:buFont typeface="Open Sans"/>
              <a:buChar char="●"/>
            </a:pPr>
            <a:r>
              <a:rPr lang="zh-CN" sz="3600">
                <a:solidFill>
                  <a:schemeClr val="dk1"/>
                </a:solidFill>
                <a:latin typeface="Open Sans"/>
                <a:ea typeface="Open Sans"/>
                <a:cs typeface="Open Sans"/>
                <a:sym typeface="Open Sans"/>
              </a:rPr>
              <a:t>实现分钟级更新每个广告每1分钟、10分钟、1小时、3小时的曝光、点击、转化数据</a:t>
            </a:r>
            <a:endParaRPr sz="3600">
              <a:solidFill>
                <a:srgbClr val="EE4D2D"/>
              </a:solidFill>
              <a:latin typeface="Open Sans"/>
              <a:ea typeface="Open Sans"/>
              <a:cs typeface="Open Sans"/>
              <a:sym typeface="Open Sans"/>
            </a:endParaRPr>
          </a:p>
        </p:txBody>
      </p:sp>
      <p:pic>
        <p:nvPicPr>
          <p:cNvPr id="199" name="Google Shape;199;g29f21f7e370_0_6"/>
          <p:cNvPicPr preferRelativeResize="0"/>
          <p:nvPr/>
        </p:nvPicPr>
        <p:blipFill>
          <a:blip r:embed="rId4">
            <a:alphaModFix/>
          </a:blip>
          <a:stretch>
            <a:fillRect/>
          </a:stretch>
        </p:blipFill>
        <p:spPr>
          <a:xfrm>
            <a:off x="1556075" y="2503375"/>
            <a:ext cx="8119324" cy="925257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6"/>
          <p:cNvSpPr txBox="1"/>
          <p:nvPr>
            <p:ph idx="4294967295" type="ctrTitle"/>
          </p:nvPr>
        </p:nvSpPr>
        <p:spPr>
          <a:xfrm>
            <a:off x="1777999" y="6250429"/>
            <a:ext cx="20828002" cy="3120142"/>
          </a:xfrm>
          <a:prstGeom prst="rect">
            <a:avLst/>
          </a:prstGeom>
          <a:noFill/>
          <a:ln>
            <a:noFill/>
          </a:ln>
        </p:spPr>
        <p:txBody>
          <a:bodyPr anchorCtr="0" anchor="ctr" bIns="50800" lIns="50800" spcFirstLastPara="1" rIns="50800" wrap="square" tIns="50800">
            <a:normAutofit/>
          </a:bodyPr>
          <a:lstStyle/>
          <a:p>
            <a:pPr indent="0" lvl="0" marL="0" marR="0" rtl="0" algn="ctr">
              <a:lnSpc>
                <a:spcPct val="100000"/>
              </a:lnSpc>
              <a:spcBef>
                <a:spcPts val="0"/>
              </a:spcBef>
              <a:spcAft>
                <a:spcPts val="0"/>
              </a:spcAft>
              <a:buClr>
                <a:srgbClr val="EE4D2D"/>
              </a:buClr>
              <a:buSzPts val="13500"/>
              <a:buFont typeface="Open Sans"/>
              <a:buNone/>
            </a:pPr>
            <a:r>
              <a:rPr b="1" i="0" lang="zh-CN" sz="13500" u="none" cap="none" strike="noStrike">
                <a:solidFill>
                  <a:srgbClr val="EE4D2D"/>
                </a:solidFill>
                <a:latin typeface="Open Sans"/>
                <a:ea typeface="Open Sans"/>
                <a:cs typeface="Open Sans"/>
                <a:sym typeface="Open Sans"/>
              </a:rPr>
              <a:t>Thank You.</a:t>
            </a:r>
            <a:endParaRPr b="1" i="0" sz="11200" u="none" cap="none" strike="noStrike">
              <a:solidFill>
                <a:srgbClr val="EE4D2D"/>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