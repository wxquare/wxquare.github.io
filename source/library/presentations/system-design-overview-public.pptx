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2bff3d396f444c" /><Relationship Type="http://schemas.openxmlformats.org/officeDocument/2006/relationships/extended-properties" Target="/docProps/app.xml" Id="Rf62d0c334b084fc1" /><Relationship Type="http://schemas.openxmlformats.org/officeDocument/2006/relationships/officeDocument" Target="/ppt/presentation.xml" Id="Re205c014303748c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8478534682d43dc"/>
  </p:sldMasterIdLst>
  <p:notesMasterIdLst>
    <p:notesMasterId xmlns:r="http://schemas.openxmlformats.org/officeDocument/2006/relationships" r:id="Rebf287e9d7f0419f"/>
  </p:notesMasterIdLst>
  <p:sldIdLst>
    <p:sldId xmlns:r="http://schemas.openxmlformats.org/officeDocument/2006/relationships" id="256" r:id="Rd5aacba039074f83"/>
    <p:sldId xmlns:r="http://schemas.openxmlformats.org/officeDocument/2006/relationships" id="257" r:id="R7e489acca59a4c2e"/>
    <p:sldId xmlns:r="http://schemas.openxmlformats.org/officeDocument/2006/relationships" id="258" r:id="Rb3ebcdb383914871"/>
    <p:sldId xmlns:r="http://schemas.openxmlformats.org/officeDocument/2006/relationships" id="259" r:id="R7e7f26d628cc4022"/>
    <p:sldId xmlns:r="http://schemas.openxmlformats.org/officeDocument/2006/relationships" id="260" r:id="Rf7b5a3ba953a49f7"/>
    <p:sldId xmlns:r="http://schemas.openxmlformats.org/officeDocument/2006/relationships" id="261" r:id="R6056369233204050"/>
    <p:sldId xmlns:r="http://schemas.openxmlformats.org/officeDocument/2006/relationships" id="262" r:id="R3553601a29334cba"/>
    <p:sldId xmlns:r="http://schemas.openxmlformats.org/officeDocument/2006/relationships" id="263" r:id="R852419eb4bba4f59"/>
    <p:sldId xmlns:r="http://schemas.openxmlformats.org/officeDocument/2006/relationships" id="264" r:id="R5cd38e45072547f4"/>
    <p:sldId xmlns:r="http://schemas.openxmlformats.org/officeDocument/2006/relationships" id="265" r:id="Rf0901b0de0cc4a0f"/>
    <p:sldId xmlns:r="http://schemas.openxmlformats.org/officeDocument/2006/relationships" id="266" r:id="R200a26fb5cea4a13"/>
    <p:sldId xmlns:r="http://schemas.openxmlformats.org/officeDocument/2006/relationships" id="267" r:id="Re25598e5087d408c"/>
    <p:sldId xmlns:r="http://schemas.openxmlformats.org/officeDocument/2006/relationships" id="268" r:id="R857a74b580474c0b"/>
    <p:sldId xmlns:r="http://schemas.openxmlformats.org/officeDocument/2006/relationships" id="269" r:id="Re171ac7b8d0f4fef"/>
    <p:sldId xmlns:r="http://schemas.openxmlformats.org/officeDocument/2006/relationships" id="270" r:id="R8a744b943a414bf1"/>
    <p:sldId xmlns:r="http://schemas.openxmlformats.org/officeDocument/2006/relationships" id="271" r:id="Rff50a8dd05ff4db2"/>
    <p:sldId xmlns:r="http://schemas.openxmlformats.org/officeDocument/2006/relationships" id="272" r:id="R50293172fe8948de"/>
    <p:sldId xmlns:r="http://schemas.openxmlformats.org/officeDocument/2006/relationships" id="273" r:id="R0f949cd0c0ef4a0d"/>
    <p:sldId xmlns:r="http://schemas.openxmlformats.org/officeDocument/2006/relationships" id="274" r:id="R8dd29929e84b48dd"/>
    <p:sldId xmlns:r="http://schemas.openxmlformats.org/officeDocument/2006/relationships" id="275" r:id="Rff794125edbf459a"/>
    <p:sldId xmlns:r="http://schemas.openxmlformats.org/officeDocument/2006/relationships" id="276" r:id="Re3d80a270bcf4495"/>
    <p:sldId xmlns:r="http://schemas.openxmlformats.org/officeDocument/2006/relationships" id="277" r:id="R0676f21a633049a5"/>
    <p:sldId xmlns:r="http://schemas.openxmlformats.org/officeDocument/2006/relationships" id="278" r:id="R6a423a36bf35406e"/>
    <p:sldId xmlns:r="http://schemas.openxmlformats.org/officeDocument/2006/relationships" id="279" r:id="R5aef190c1b6b4e93"/>
    <p:sldId xmlns:r="http://schemas.openxmlformats.org/officeDocument/2006/relationships" id="280" r:id="Rc8f2004f013c48ce"/>
    <p:sldId xmlns:r="http://schemas.openxmlformats.org/officeDocument/2006/relationships" id="281" r:id="R7076c801478a474f"/>
    <p:sldId xmlns:r="http://schemas.openxmlformats.org/officeDocument/2006/relationships" id="282" r:id="R23c4ec1f4cb64e1e"/>
    <p:sldId xmlns:r="http://schemas.openxmlformats.org/officeDocument/2006/relationships" id="283" r:id="R37197b13c817486a"/>
    <p:sldId xmlns:r="http://schemas.openxmlformats.org/officeDocument/2006/relationships" id="284" r:id="Rff59c6fc84d0474a"/>
    <p:sldId xmlns:r="http://schemas.openxmlformats.org/officeDocument/2006/relationships" id="285" r:id="Rcfffd25942514f45"/>
    <p:sldId xmlns:r="http://schemas.openxmlformats.org/officeDocument/2006/relationships" id="286" r:id="R3cd143aec9ac4b79"/>
    <p:sldId xmlns:r="http://schemas.openxmlformats.org/officeDocument/2006/relationships" id="287" r:id="Rdb3212f9b36d4177"/>
    <p:sldId xmlns:r="http://schemas.openxmlformats.org/officeDocument/2006/relationships" id="288" r:id="Re0841b58994b4392"/>
    <p:sldId xmlns:r="http://schemas.openxmlformats.org/officeDocument/2006/relationships" id="289" r:id="Rdf816efbc4674293"/>
    <p:sldId xmlns:r="http://schemas.openxmlformats.org/officeDocument/2006/relationships" id="290" r:id="R548eedb42a8a431d"/>
    <p:sldId xmlns:r="http://schemas.openxmlformats.org/officeDocument/2006/relationships" id="291" r:id="R7d35bdef29724421"/>
    <p:sldId xmlns:r="http://schemas.openxmlformats.org/officeDocument/2006/relationships" id="292" r:id="Rb0f5c91bd9734430"/>
    <p:sldId xmlns:r="http://schemas.openxmlformats.org/officeDocument/2006/relationships" id="293" r:id="Rca93809a535640ce"/>
  </p:sldIdLst>
  <p:sldSz cx="24384000" cy="13716000"/>
  <p:notesSz cx="6858000" cy="9144000"/>
  <p:embeddedFontLst>
    <p:embeddedFont>
      <p:font typeface="Helvetica Neue"/>
      <p:regular xmlns:r="http://schemas.openxmlformats.org/officeDocument/2006/relationships" r:id="Rbbb9b0b24b1a4c38"/>
      <p:bold xmlns:r="http://schemas.openxmlformats.org/officeDocument/2006/relationships" r:id="R6e06a2fe8dba45b0"/>
      <p:italic xmlns:r="http://schemas.openxmlformats.org/officeDocument/2006/relationships" r:id="Rc54216a8a72941af"/>
      <p:boldItalic xmlns:r="http://schemas.openxmlformats.org/officeDocument/2006/relationships" r:id="R87a7de2641db4814"/>
    </p:embeddedFont>
    <p:embeddedFont>
      <p:font typeface="Roboto Mono"/>
      <p:regular xmlns:r="http://schemas.openxmlformats.org/officeDocument/2006/relationships" r:id="R9ab42aa4fbfe4f0b"/>
      <p:bold xmlns:r="http://schemas.openxmlformats.org/officeDocument/2006/relationships" r:id="R271f42c7e7ce454b"/>
      <p:italic xmlns:r="http://schemas.openxmlformats.org/officeDocument/2006/relationships" r:id="R40cd013cddd644ba"/>
      <p:boldItalic xmlns:r="http://schemas.openxmlformats.org/officeDocument/2006/relationships" r:id="Rf55dd7a4e10249ec"/>
    </p:embeddedFont>
    <p:embeddedFont>
      <p:font typeface="Open Sans"/>
      <p:regular xmlns:r="http://schemas.openxmlformats.org/officeDocument/2006/relationships" r:id="Rdf57f84c4c1a4539"/>
      <p:bold xmlns:r="http://schemas.openxmlformats.org/officeDocument/2006/relationships" r:id="Re0c28e7b7afd4fd9"/>
      <p:italic xmlns:r="http://schemas.openxmlformats.org/officeDocument/2006/relationships" r:id="R0a9f80b9b72f4c8a"/>
      <p:boldItalic xmlns:r="http://schemas.openxmlformats.org/officeDocument/2006/relationships" r:id="Rf0590f3eaafb4167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DD9C6449-1BFF-4C50-85C4-B7679297AE5B}">
  <a:tblStyle styleId="{DD9C6449-1BFF-4C50-85C4-B7679297AE5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8773DA7-163F-4946-AA27-403FBB8085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B2EF11D-EA40-47A6-A409-CD4BEB9C851F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3d23bb88914b03" /><Relationship Type="http://schemas.openxmlformats.org/officeDocument/2006/relationships/slideMaster" Target="/ppt/slideMasters/slideMaster1.xml" Id="Rd8478534682d43dc" /><Relationship Type="http://schemas.openxmlformats.org/officeDocument/2006/relationships/notesMaster" Target="/ppt/notesMasters/notesMaster1.xml" Id="Rebf287e9d7f0419f" /><Relationship Type="http://schemas.openxmlformats.org/officeDocument/2006/relationships/presProps" Target="/ppt/presProps.xml" Id="Rf0d8d5f9d6414f04" /><Relationship Type="http://schemas.openxmlformats.org/officeDocument/2006/relationships/tableStyles" Target="/ppt/tableStyles.xml" Id="R4d6f110389cf41d0" /><Relationship Type="http://schemas.openxmlformats.org/officeDocument/2006/relationships/font" Target="/ppt/fonts/font.dat" Id="Rbbb9b0b24b1a4c38" /><Relationship Type="http://schemas.openxmlformats.org/officeDocument/2006/relationships/font" Target="/ppt/fonts/font2.dat" Id="R6e06a2fe8dba45b0" /><Relationship Type="http://schemas.openxmlformats.org/officeDocument/2006/relationships/font" Target="/ppt/fonts/font3.dat" Id="Rc54216a8a72941af" /><Relationship Type="http://schemas.openxmlformats.org/officeDocument/2006/relationships/font" Target="/ppt/fonts/font4.dat" Id="R87a7de2641db4814" /><Relationship Type="http://schemas.openxmlformats.org/officeDocument/2006/relationships/font" Target="/ppt/fonts/font5.dat" Id="R9ab42aa4fbfe4f0b" /><Relationship Type="http://schemas.openxmlformats.org/officeDocument/2006/relationships/font" Target="/ppt/fonts/font6.dat" Id="R271f42c7e7ce454b" /><Relationship Type="http://schemas.openxmlformats.org/officeDocument/2006/relationships/font" Target="/ppt/fonts/font7.dat" Id="R40cd013cddd644ba" /><Relationship Type="http://schemas.openxmlformats.org/officeDocument/2006/relationships/font" Target="/ppt/fonts/font8.dat" Id="Rf55dd7a4e10249ec" /><Relationship Type="http://schemas.openxmlformats.org/officeDocument/2006/relationships/font" Target="/ppt/fonts/font9.dat" Id="Rdf57f84c4c1a4539" /><Relationship Type="http://schemas.openxmlformats.org/officeDocument/2006/relationships/font" Target="/ppt/fonts/font10.dat" Id="Re0c28e7b7afd4fd9" /><Relationship Type="http://schemas.openxmlformats.org/officeDocument/2006/relationships/font" Target="/ppt/fonts/font11.dat" Id="R0a9f80b9b72f4c8a" /><Relationship Type="http://schemas.openxmlformats.org/officeDocument/2006/relationships/font" Target="/ppt/fonts/font12.dat" Id="Rf0590f3eaafb4167" /><Relationship Type="http://schemas.openxmlformats.org/officeDocument/2006/relationships/slide" Target="/ppt/slides/slide1.xml" Id="Rd5aacba039074f83" /><Relationship Type="http://schemas.openxmlformats.org/officeDocument/2006/relationships/slide" Target="/ppt/slides/slide2.xml" Id="R7e489acca59a4c2e" /><Relationship Type="http://schemas.openxmlformats.org/officeDocument/2006/relationships/slide" Target="/ppt/slides/slide3.xml" Id="Rb3ebcdb383914871" /><Relationship Type="http://schemas.openxmlformats.org/officeDocument/2006/relationships/slide" Target="/ppt/slides/slide4.xml" Id="R7e7f26d628cc4022" /><Relationship Type="http://schemas.openxmlformats.org/officeDocument/2006/relationships/slide" Target="/ppt/slides/slide5.xml" Id="Rf7b5a3ba953a49f7" /><Relationship Type="http://schemas.openxmlformats.org/officeDocument/2006/relationships/slide" Target="/ppt/slides/slide6.xml" Id="R6056369233204050" /><Relationship Type="http://schemas.openxmlformats.org/officeDocument/2006/relationships/slide" Target="/ppt/slides/slide7.xml" Id="R3553601a29334cba" /><Relationship Type="http://schemas.openxmlformats.org/officeDocument/2006/relationships/slide" Target="/ppt/slides/slide8.xml" Id="R852419eb4bba4f59" /><Relationship Type="http://schemas.openxmlformats.org/officeDocument/2006/relationships/slide" Target="/ppt/slides/slide9.xml" Id="R5cd38e45072547f4" /><Relationship Type="http://schemas.openxmlformats.org/officeDocument/2006/relationships/slide" Target="/ppt/slides/slide10.xml" Id="Rf0901b0de0cc4a0f" /><Relationship Type="http://schemas.openxmlformats.org/officeDocument/2006/relationships/slide" Target="/ppt/slides/slide11.xml" Id="R200a26fb5cea4a13" /><Relationship Type="http://schemas.openxmlformats.org/officeDocument/2006/relationships/slide" Target="/ppt/slides/slide12.xml" Id="Re25598e5087d408c" /><Relationship Type="http://schemas.openxmlformats.org/officeDocument/2006/relationships/slide" Target="/ppt/slides/slide13.xml" Id="R857a74b580474c0b" /><Relationship Type="http://schemas.openxmlformats.org/officeDocument/2006/relationships/slide" Target="/ppt/slides/slide14.xml" Id="Re171ac7b8d0f4fef" /><Relationship Type="http://schemas.openxmlformats.org/officeDocument/2006/relationships/slide" Target="/ppt/slides/slide15.xml" Id="R8a744b943a414bf1" /><Relationship Type="http://schemas.openxmlformats.org/officeDocument/2006/relationships/slide" Target="/ppt/slides/slide16.xml" Id="Rff50a8dd05ff4db2" /><Relationship Type="http://schemas.openxmlformats.org/officeDocument/2006/relationships/slide" Target="/ppt/slides/slide17.xml" Id="R50293172fe8948de" /><Relationship Type="http://schemas.openxmlformats.org/officeDocument/2006/relationships/slide" Target="/ppt/slides/slide18.xml" Id="R0f949cd0c0ef4a0d" /><Relationship Type="http://schemas.openxmlformats.org/officeDocument/2006/relationships/slide" Target="/ppt/slides/slide19.xml" Id="R8dd29929e84b48dd" /><Relationship Type="http://schemas.openxmlformats.org/officeDocument/2006/relationships/slide" Target="/ppt/slides/slide20.xml" Id="Rff794125edbf459a" /><Relationship Type="http://schemas.openxmlformats.org/officeDocument/2006/relationships/slide" Target="/ppt/slides/slide21.xml" Id="Re3d80a270bcf4495" /><Relationship Type="http://schemas.openxmlformats.org/officeDocument/2006/relationships/slide" Target="/ppt/slides/slide22.xml" Id="R0676f21a633049a5" /><Relationship Type="http://schemas.openxmlformats.org/officeDocument/2006/relationships/slide" Target="/ppt/slides/slide23.xml" Id="R6a423a36bf35406e" /><Relationship Type="http://schemas.openxmlformats.org/officeDocument/2006/relationships/slide" Target="/ppt/slides/slide24.xml" Id="R5aef190c1b6b4e93" /><Relationship Type="http://schemas.openxmlformats.org/officeDocument/2006/relationships/slide" Target="/ppt/slides/slide25.xml" Id="Rc8f2004f013c48ce" /><Relationship Type="http://schemas.openxmlformats.org/officeDocument/2006/relationships/slide" Target="/ppt/slides/slide26.xml" Id="R7076c801478a474f" /><Relationship Type="http://schemas.openxmlformats.org/officeDocument/2006/relationships/slide" Target="/ppt/slides/slide27.xml" Id="R23c4ec1f4cb64e1e" /><Relationship Type="http://schemas.openxmlformats.org/officeDocument/2006/relationships/slide" Target="/ppt/slides/slide28.xml" Id="R37197b13c817486a" /><Relationship Type="http://schemas.openxmlformats.org/officeDocument/2006/relationships/slide" Target="/ppt/slides/slide29.xml" Id="Rff59c6fc84d0474a" /><Relationship Type="http://schemas.openxmlformats.org/officeDocument/2006/relationships/slide" Target="/ppt/slides/slide30.xml" Id="Rcfffd25942514f45" /><Relationship Type="http://schemas.openxmlformats.org/officeDocument/2006/relationships/slide" Target="/ppt/slides/slide31.xml" Id="R3cd143aec9ac4b79" /><Relationship Type="http://schemas.openxmlformats.org/officeDocument/2006/relationships/slide" Target="/ppt/slides/slide32.xml" Id="Rdb3212f9b36d4177" /><Relationship Type="http://schemas.openxmlformats.org/officeDocument/2006/relationships/slide" Target="/ppt/slides/slide33.xml" Id="Re0841b58994b4392" /><Relationship Type="http://schemas.openxmlformats.org/officeDocument/2006/relationships/slide" Target="/ppt/slides/slide34.xml" Id="Rdf816efbc4674293" /><Relationship Type="http://schemas.openxmlformats.org/officeDocument/2006/relationships/slide" Target="/ppt/slides/slide35.xml" Id="R548eedb42a8a431d" /><Relationship Type="http://schemas.openxmlformats.org/officeDocument/2006/relationships/slide" Target="/ppt/slides/slide36.xml" Id="R7d35bdef29724421" /><Relationship Type="http://schemas.openxmlformats.org/officeDocument/2006/relationships/slide" Target="/ppt/slides/slide37.xml" Id="Rb0f5c91bd9734430" /><Relationship Type="http://schemas.openxmlformats.org/officeDocument/2006/relationships/slide" Target="/ppt/slides/slide38.xml" Id="Rca93809a535640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0684bb810749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hite">
  <a:themeElements>
    <a:clrScheme name="wxquare Public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xquare Publ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b2ba3d534946f3" /><Relationship Type="http://schemas.openxmlformats.org/officeDocument/2006/relationships/notesMaster" Target="/ppt/notesMasters/notesMaster1.xml" Id="Rca5821746fbb49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24e5cde2444cf2" /><Relationship Type="http://schemas.openxmlformats.org/officeDocument/2006/relationships/notesMaster" Target="/ppt/notesMasters/notesMaster1.xml" Id="R63924c532e8546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e086b9b0894afe" /><Relationship Type="http://schemas.openxmlformats.org/officeDocument/2006/relationships/notesMaster" Target="/ppt/notesMasters/notesMaster1.xml" Id="R9fcb6c559f5440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993de171bd4d20" /><Relationship Type="http://schemas.openxmlformats.org/officeDocument/2006/relationships/notesMaster" Target="/ppt/notesMasters/notesMaster1.xml" Id="R153dbe159ffb42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239664e34b498e" /><Relationship Type="http://schemas.openxmlformats.org/officeDocument/2006/relationships/notesMaster" Target="/ppt/notesMasters/notesMaster1.xml" Id="R716f73285d1c46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c6a1424a0445f1" /><Relationship Type="http://schemas.openxmlformats.org/officeDocument/2006/relationships/notesMaster" Target="/ppt/notesMasters/notesMaster1.xml" Id="Ra2a1af2848614f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e809e58c27468b" /><Relationship Type="http://schemas.openxmlformats.org/officeDocument/2006/relationships/notesMaster" Target="/ppt/notesMasters/notesMaster1.xml" Id="Rf4f9db5d8f2042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4c16b51a8a4571" /><Relationship Type="http://schemas.openxmlformats.org/officeDocument/2006/relationships/notesMaster" Target="/ppt/notesMasters/notesMaster1.xml" Id="R95e0ccb01eff48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3ee119ffba42d9" /><Relationship Type="http://schemas.openxmlformats.org/officeDocument/2006/relationships/notesMaster" Target="/ppt/notesMasters/notesMaster1.xml" Id="R34429a33236744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cb5785c86a4373" /><Relationship Type="http://schemas.openxmlformats.org/officeDocument/2006/relationships/notesMaster" Target="/ppt/notesMasters/notesMaster1.xml" Id="Rc79c5d8b7d8a48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1687de15e34a66" /><Relationship Type="http://schemas.openxmlformats.org/officeDocument/2006/relationships/notesMaster" Target="/ppt/notesMasters/notesMaster1.xml" Id="R176fc6d873ba48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48b3b54ce94fd7" /><Relationship Type="http://schemas.openxmlformats.org/officeDocument/2006/relationships/notesMaster" Target="/ppt/notesMasters/notesMaster1.xml" Id="R845e9c76e8984d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922705230e4b45" /><Relationship Type="http://schemas.openxmlformats.org/officeDocument/2006/relationships/notesMaster" Target="/ppt/notesMasters/notesMaster1.xml" Id="Rf15a9420123444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a4a06a3cefc4a79" /><Relationship Type="http://schemas.openxmlformats.org/officeDocument/2006/relationships/notesMaster" Target="/ppt/notesMasters/notesMaster1.xml" Id="Rf47de8b992004e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ddc16ee92241d6" /><Relationship Type="http://schemas.openxmlformats.org/officeDocument/2006/relationships/notesMaster" Target="/ppt/notesMasters/notesMaster1.xml" Id="R6e260799ff164f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5f334776ed4c26" /><Relationship Type="http://schemas.openxmlformats.org/officeDocument/2006/relationships/notesMaster" Target="/ppt/notesMasters/notesMaster1.xml" Id="R58bba855a26949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aea9e3990b4d45" /><Relationship Type="http://schemas.openxmlformats.org/officeDocument/2006/relationships/notesMaster" Target="/ppt/notesMasters/notesMaster1.xml" Id="Rd6d0a3d30f6343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0b53f92edb4b03" /><Relationship Type="http://schemas.openxmlformats.org/officeDocument/2006/relationships/notesMaster" Target="/ppt/notesMasters/notesMaster1.xml" Id="Re35051a9c53146e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fbdb3a7fa4487e" /><Relationship Type="http://schemas.openxmlformats.org/officeDocument/2006/relationships/notesMaster" Target="/ppt/notesMasters/notesMaster1.xml" Id="R24b78e3a4bcc44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057033df844aa9" /><Relationship Type="http://schemas.openxmlformats.org/officeDocument/2006/relationships/notesMaster" Target="/ppt/notesMasters/notesMaster1.xml" Id="R4352e7c02bac405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75ea0baa4d944ee" /><Relationship Type="http://schemas.openxmlformats.org/officeDocument/2006/relationships/notesMaster" Target="/ppt/notesMasters/notesMaster1.xml" Id="R86333509a4c945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64de0f14a2343f7" /><Relationship Type="http://schemas.openxmlformats.org/officeDocument/2006/relationships/notesMaster" Target="/ppt/notesMasters/notesMaster1.xml" Id="R46ca2c2d332a4a6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ef7a319aa64a43" /><Relationship Type="http://schemas.openxmlformats.org/officeDocument/2006/relationships/notesMaster" Target="/ppt/notesMasters/notesMaster1.xml" Id="R9c20562319f3419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66b98b5a0a41e9" /><Relationship Type="http://schemas.openxmlformats.org/officeDocument/2006/relationships/notesMaster" Target="/ppt/notesMasters/notesMaster1.xml" Id="R232220ce26224c6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14b3f8d6d2a4c7e" /><Relationship Type="http://schemas.openxmlformats.org/officeDocument/2006/relationships/notesMaster" Target="/ppt/notesMasters/notesMaster1.xml" Id="Rdda7b410efaf4b5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f36f01b3b8e48d9" /><Relationship Type="http://schemas.openxmlformats.org/officeDocument/2006/relationships/notesMaster" Target="/ppt/notesMasters/notesMaster1.xml" Id="Rd8f346efb4de4ee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a17671d534a4540" /><Relationship Type="http://schemas.openxmlformats.org/officeDocument/2006/relationships/notesMaster" Target="/ppt/notesMasters/notesMaster1.xml" Id="R3b939dc34aac477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41592b159eb4c0d" /><Relationship Type="http://schemas.openxmlformats.org/officeDocument/2006/relationships/notesMaster" Target="/ppt/notesMasters/notesMaster1.xml" Id="Rff6b6c15061f437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e5c1fb559394a9d" /><Relationship Type="http://schemas.openxmlformats.org/officeDocument/2006/relationships/notesMaster" Target="/ppt/notesMasters/notesMaster1.xml" Id="R59d7361050da425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a4f136a0dc8461c" /><Relationship Type="http://schemas.openxmlformats.org/officeDocument/2006/relationships/notesMaster" Target="/ppt/notesMasters/notesMaster1.xml" Id="R4cbdb2edefb6459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7c82ef43a5c4e71" /><Relationship Type="http://schemas.openxmlformats.org/officeDocument/2006/relationships/notesMaster" Target="/ppt/notesMasters/notesMaster1.xml" Id="R0053ae5bd7194e3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576ea1f88bf4124" /><Relationship Type="http://schemas.openxmlformats.org/officeDocument/2006/relationships/notesMaster" Target="/ppt/notesMasters/notesMaster1.xml" Id="R92824aa2de5e4db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4eee9df1bf8413b" /><Relationship Type="http://schemas.openxmlformats.org/officeDocument/2006/relationships/notesMaster" Target="/ppt/notesMasters/notesMaster1.xml" Id="R6dcd8ec7fe97406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1bdd1c8f4ad4b30" /><Relationship Type="http://schemas.openxmlformats.org/officeDocument/2006/relationships/notesMaster" Target="/ppt/notesMasters/notesMaster1.xml" Id="Ra21764f62525482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6f20ea6a4d545b7" /><Relationship Type="http://schemas.openxmlformats.org/officeDocument/2006/relationships/notesMaster" Target="/ppt/notesMasters/notesMaster1.xml" Id="Ra9e430f7883d443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e69c20d06334f55" /><Relationship Type="http://schemas.openxmlformats.org/officeDocument/2006/relationships/notesMaster" Target="/ppt/notesMasters/notesMaster1.xml" Id="R38958ef95faa450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fa8a38cdd254452" /><Relationship Type="http://schemas.openxmlformats.org/officeDocument/2006/relationships/notesMaster" Target="/ppt/notesMasters/notesMaster1.xml" Id="Ra8516a43c2934e4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b0816840ef844d4" /><Relationship Type="http://schemas.openxmlformats.org/officeDocument/2006/relationships/notesMaster" Target="/ppt/notesMasters/notesMaster1.xml" Id="Rd006a3435ec54b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lvl="0" indent="-31750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>图模型，比较特殊，比较适合一些特殊场景</a:t>
            </a:r>
            <a:endParaRPr/>
          </a:p>
          <a:p xmlns:a="http://schemas.openxmlformats.org/drawingml/2006/main">
            <a:pPr marL="457200" lvl="0" indent="-31750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>列存储，加强模式加强因子存储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solidFill>
                <a:srgbClr val="333333"/>
              </a:solidFill>
              <a:highlight>
                <a:schemeClr val="lt1"/>
              </a:highlight>
            </a:endParaRPr>
          </a:p>
          <a:p xmlns:a="http://schemas.openxmlformats.org/drawingml/2006/main">
            <a: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sz="10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主节点的个数</a:t>
            </a:r>
            <a:endParaRPr sz="10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000"/>
              <a:buFont typeface="Arial"/>
              <a:buAutoNum type="arabicPeriod"/>
            </a:pPr>
            <a:r>
              <a:rPr sz="10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副本同步是同步还是异步</a:t>
            </a:r>
            <a:endParaRPr sz="10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  <a:p xmlns:a="http://schemas.openxmlformats.org/drawingml/2006/main">
            <a: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000"/>
              <a:buFont typeface="Arial"/>
              <a:buAutoNum type="arabicPeriod"/>
            </a:pPr>
            <a:r>
              <a:rPr sz="10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读写请求路由到maser节点还是slave节点</a:t>
            </a:r>
            <a:endParaRPr sz="10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fe8555d814fd4" /></Relationships>
</file>

<file path=ppt/slideLayouts/slideLayout1.xml><?xml version="1.0" encoding="utf-8"?>
<p:sldLayout xmlns:p="http://schemas.openxmlformats.org/presentationml/2006/main">
  <p:cSld name="wxquare Public 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501acc7f244026" /><Relationship Type="http://schemas.openxmlformats.org/officeDocument/2006/relationships/slideLayout" Target="/ppt/slideLayouts/slideLayout1.xml" Id="R1c1fc0f02c1c40a6" /></Relationships>
</file>

<file path=ppt/slideMasters/slideMaster1.xml><?xml version="1.0" encoding="utf-8"?>
<p:sldMaster xmlns:p="http://schemas.openxmlformats.org/presentationml/2006/main">
  <p:cSld name="wxquare Public 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1fc0f02c1c40a6"/>
  </p:sldLayoutIdLst>
</p:sldMaster>
</file>

<file path=ppt/slideMasters/theme/theme2.xml><?xml version="1.0" encoding="utf-8"?>
<a:theme xmlns:a="http://schemas.openxmlformats.org/drawingml/2006/main" name="White">
  <a:themeElements>
    <a:clrScheme name="wxquare Public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xquare Publ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af6510b854a7d" /><Relationship Type="http://schemas.openxmlformats.org/officeDocument/2006/relationships/notesSlide" Target="/ppt/notesSlides/notesSlide1.xml" Id="R555ccf0b92834a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b7a43479a49c5" /><Relationship Type="http://schemas.openxmlformats.org/officeDocument/2006/relationships/image" Target="/ppt/media/image.png" Id="R8b036922a42f47df" /><Relationship Type="http://schemas.openxmlformats.org/officeDocument/2006/relationships/hyperlink" Target="https://github.com/leewaiho/Clean-Architecture-zh" TargetMode="External" Id="R6a20cfb0436f4476" /><Relationship Type="http://schemas.openxmlformats.org/officeDocument/2006/relationships/hyperlink" Target="https://github.com/donnemartin/system-design-primer" TargetMode="External" Id="Rf3cecff920664791" /><Relationship Type="http://schemas.openxmlformats.org/officeDocument/2006/relationships/image" Target="/ppt/media/image2.png" Id="R093700bb23914800" /><Relationship Type="http://schemas.openxmlformats.org/officeDocument/2006/relationships/notesSlide" Target="/ppt/notesSlides/notesSlide2.xml" Id="R9f1afc76176e4d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bce3a327a47c9" /><Relationship Type="http://schemas.openxmlformats.org/officeDocument/2006/relationships/image" Target="/ppt/media/image3.png" Id="Rb30e6afc40894f68" /><Relationship Type="http://schemas.openxmlformats.org/officeDocument/2006/relationships/image" Target="/ppt/media/image4.png" Id="Rf5d9153151c84067" /><Relationship Type="http://schemas.openxmlformats.org/officeDocument/2006/relationships/notesSlide" Target="/ppt/notesSlides/notesSlide3.xml" Id="R872fee6fc8444e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3fb4225404251" /><Relationship Type="http://schemas.openxmlformats.org/officeDocument/2006/relationships/notesSlide" Target="/ppt/notesSlides/notesSlide4.xml" Id="R8bf63e978d314c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8d799921a4ff0" /><Relationship Type="http://schemas.openxmlformats.org/officeDocument/2006/relationships/notesSlide" Target="/ppt/notesSlides/notesSlide5.xml" Id="R80b802dcaf9d48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ede184f424070" /><Relationship Type="http://schemas.openxmlformats.org/officeDocument/2006/relationships/notesSlide" Target="/ppt/notesSlides/notesSlide6.xml" Id="Rab0e500cfa1d49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20885595742dd" /><Relationship Type="http://schemas.openxmlformats.org/officeDocument/2006/relationships/image" Target="/ppt/media/image5.png" Id="R6659ca06f66f4b75" /><Relationship Type="http://schemas.openxmlformats.org/officeDocument/2006/relationships/notesSlide" Target="/ppt/notesSlides/notesSlide7.xml" Id="R58be2001b23643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0e6359b3e4b13" /><Relationship Type="http://schemas.openxmlformats.org/officeDocument/2006/relationships/image" Target="/ppt/media/image6.png" Id="R87e955fac41e480d" /><Relationship Type="http://schemas.openxmlformats.org/officeDocument/2006/relationships/notesSlide" Target="/ppt/notesSlides/notesSlide8.xml" Id="Rf70b8aee4e6244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b283e9f54462f" /><Relationship Type="http://schemas.openxmlformats.org/officeDocument/2006/relationships/image" Target="/ppt/media/image7.png" Id="Rf027a14ae49b4838" /><Relationship Type="http://schemas.openxmlformats.org/officeDocument/2006/relationships/notesSlide" Target="/ppt/notesSlides/notesSlide9.xml" Id="Rd2250b84111c4b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b03dde0c54318" /><Relationship Type="http://schemas.openxmlformats.org/officeDocument/2006/relationships/image" Target="/ppt/media/image8.png" Id="Re9b93fce7a544fbe" /><Relationship Type="http://schemas.openxmlformats.org/officeDocument/2006/relationships/notesSlide" Target="/ppt/notesSlides/notesSlide10.xml" Id="R39a3301bfeff42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c08ec96694e76" /><Relationship Type="http://schemas.openxmlformats.org/officeDocument/2006/relationships/image" Target="/ppt/media/image9.png" Id="R0dacc1751c8d426e" /><Relationship Type="http://schemas.openxmlformats.org/officeDocument/2006/relationships/notesSlide" Target="/ppt/notesSlides/notesSlide11.xml" Id="R7a8267dfcf4049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43896144f4742" /><Relationship Type="http://schemas.openxmlformats.org/officeDocument/2006/relationships/image" Target="/ppt/media/image10.png" Id="Ra15f15aacae84b60" /><Relationship Type="http://schemas.openxmlformats.org/officeDocument/2006/relationships/notesSlide" Target="/ppt/notesSlides/notesSlide12.xml" Id="R9c28d1b6ff224f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d20ed834f4bc2" /><Relationship Type="http://schemas.openxmlformats.org/officeDocument/2006/relationships/notesSlide" Target="/ppt/notesSlides/notesSlide13.xml" Id="Rcd03d0443d3e45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0066f07d7482c" /><Relationship Type="http://schemas.openxmlformats.org/officeDocument/2006/relationships/notesSlide" Target="/ppt/notesSlides/notesSlide14.xml" Id="R3f68021e7c8e44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99b0e034b41df" /><Relationship Type="http://schemas.openxmlformats.org/officeDocument/2006/relationships/notesSlide" Target="/ppt/notesSlides/notesSlide15.xml" Id="Rcf7ab263209d49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e98e0392a4819" /><Relationship Type="http://schemas.openxmlformats.org/officeDocument/2006/relationships/notesSlide" Target="/ppt/notesSlides/notesSlide16.xml" Id="R704229a2d05349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69ad48e734b0b" /><Relationship Type="http://schemas.openxmlformats.org/officeDocument/2006/relationships/image" Target="/ppt/media/image11.png" Id="R0be2f0588e764818" /><Relationship Type="http://schemas.openxmlformats.org/officeDocument/2006/relationships/notesSlide" Target="/ppt/notesSlides/notesSlide17.xml" Id="R0106205830cb4a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e4e4a8f674ea4" /><Relationship Type="http://schemas.openxmlformats.org/officeDocument/2006/relationships/image" Target="/ppt/media/image12.png" Id="Rf516ee82c05e4fc0" /><Relationship Type="http://schemas.openxmlformats.org/officeDocument/2006/relationships/image" Target="/ppt/media/image13.png" Id="R37f4920a9add47b6" /><Relationship Type="http://schemas.openxmlformats.org/officeDocument/2006/relationships/image" Target="/ppt/media/image14.png" Id="R9b851b5d438b4a87" /><Relationship Type="http://schemas.openxmlformats.org/officeDocument/2006/relationships/image" Target="/ppt/media/image15.png" Id="R3c14f9dee4f2456a" /><Relationship Type="http://schemas.openxmlformats.org/officeDocument/2006/relationships/notesSlide" Target="/ppt/notesSlides/notesSlide18.xml" Id="R84492bafd56849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ddd1153464e82" /><Relationship Type="http://schemas.openxmlformats.org/officeDocument/2006/relationships/notesSlide" Target="/ppt/notesSlides/notesSlide19.xml" Id="R7afdd9faf094415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e2e36fb7e4504" /><Relationship Type="http://schemas.openxmlformats.org/officeDocument/2006/relationships/image" Target="/ppt/media/image16.png" Id="R80b13f38d4534d8d" /><Relationship Type="http://schemas.openxmlformats.org/officeDocument/2006/relationships/image" Target="/ppt/media/image17.png" Id="R79b1497c75704463" /><Relationship Type="http://schemas.openxmlformats.org/officeDocument/2006/relationships/image" Target="/ppt/media/image18.png" Id="Rd3a0f9a42cbb4004" /><Relationship Type="http://schemas.openxmlformats.org/officeDocument/2006/relationships/image" Target="/ppt/media/image19.png" Id="R5ac6d4359d9348bb" /><Relationship Type="http://schemas.openxmlformats.org/officeDocument/2006/relationships/image" Target="/ppt/media/image20.png" Id="R3e2e3b2758cf4510" /><Relationship Type="http://schemas.openxmlformats.org/officeDocument/2006/relationships/image" Target="/ppt/media/image21.png" Id="Rd1b0211741a346b5" /><Relationship Type="http://schemas.openxmlformats.org/officeDocument/2006/relationships/image" Target="/ppt/media/image22.png" Id="R0fb9f0591fc446f4" /><Relationship Type="http://schemas.openxmlformats.org/officeDocument/2006/relationships/notesSlide" Target="/ppt/notesSlides/notesSlide20.xml" Id="Ra13431846ed3482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7c4aaa2a64f82" /><Relationship Type="http://schemas.openxmlformats.org/officeDocument/2006/relationships/image" Target="/ppt/media/image23.png" Id="Re1113e0eb096431b" /><Relationship Type="http://schemas.openxmlformats.org/officeDocument/2006/relationships/image" Target="/ppt/media/image24.png" Id="R7da6150fb57f4383" /><Relationship Type="http://schemas.openxmlformats.org/officeDocument/2006/relationships/image" Target="/ppt/media/image25.png" Id="R6677cc18905843c1" /><Relationship Type="http://schemas.openxmlformats.org/officeDocument/2006/relationships/notesSlide" Target="/ppt/notesSlides/notesSlide21.xml" Id="Re621ab38cc90496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4b427da854ddf" /><Relationship Type="http://schemas.openxmlformats.org/officeDocument/2006/relationships/image" Target="/ppt/media/image26.png" Id="Rb5d65a72747b4ebb" /><Relationship Type="http://schemas.openxmlformats.org/officeDocument/2006/relationships/image" Target="/ppt/media/image27.png" Id="R8cc403d698c248f0" /><Relationship Type="http://schemas.openxmlformats.org/officeDocument/2006/relationships/notesSlide" Target="/ppt/notesSlides/notesSlide22.xml" Id="R0286059f186b44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a41265bfe4e7c" /><Relationship Type="http://schemas.openxmlformats.org/officeDocument/2006/relationships/image" Target="/ppt/media/image28.png" Id="R00facc5afc964314" /><Relationship Type="http://schemas.openxmlformats.org/officeDocument/2006/relationships/notesSlide" Target="/ppt/notesSlides/notesSlide23.xml" Id="Rfec143b9dcaf47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8f826281c4b55" /><Relationship Type="http://schemas.openxmlformats.org/officeDocument/2006/relationships/image" Target="/ppt/media/image29.png" Id="R475102f10c0c48f1" /><Relationship Type="http://schemas.openxmlformats.org/officeDocument/2006/relationships/notesSlide" Target="/ppt/notesSlides/notesSlide24.xml" Id="Rf8c8404ffdc447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47550aadd4c10" /><Relationship Type="http://schemas.openxmlformats.org/officeDocument/2006/relationships/image" Target="/ppt/media/image30.png" Id="Rd19ac65778e04d31" /><Relationship Type="http://schemas.openxmlformats.org/officeDocument/2006/relationships/image" Target="/ppt/media/image31.png" Id="Re4d0d4070f884660" /><Relationship Type="http://schemas.openxmlformats.org/officeDocument/2006/relationships/image" Target="/ppt/media/image32.png" Id="Re6b0986f23ac4f9a" /><Relationship Type="http://schemas.openxmlformats.org/officeDocument/2006/relationships/notesSlide" Target="/ppt/notesSlides/notesSlide25.xml" Id="R50d6c98ff05348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5aaf722224074" /><Relationship Type="http://schemas.openxmlformats.org/officeDocument/2006/relationships/notesSlide" Target="/ppt/notesSlides/notesSlide26.xml" Id="R2865323dc61c40b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ce2bd67874680" /><Relationship Type="http://schemas.openxmlformats.org/officeDocument/2006/relationships/image" Target="/ppt/media/image33.png" Id="Rb79bf2eb02354596" /><Relationship Type="http://schemas.openxmlformats.org/officeDocument/2006/relationships/notesSlide" Target="/ppt/notesSlides/notesSlide27.xml" Id="Rdd0250ce0e76443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84e34709f4389" /><Relationship Type="http://schemas.openxmlformats.org/officeDocument/2006/relationships/image" Target="/ppt/media/image34.png" Id="R9b422c3387bc4218" /><Relationship Type="http://schemas.openxmlformats.org/officeDocument/2006/relationships/notesSlide" Target="/ppt/notesSlides/notesSlide28.xml" Id="Rfb0725456162415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e986400e64903" /><Relationship Type="http://schemas.openxmlformats.org/officeDocument/2006/relationships/image" Target="/ppt/media/image35.png" Id="R83adc790034d4820" /><Relationship Type="http://schemas.openxmlformats.org/officeDocument/2006/relationships/notesSlide" Target="/ppt/notesSlides/notesSlide29.xml" Id="R2c77d4fe29b0458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4e3b8cad84f8c" /><Relationship Type="http://schemas.openxmlformats.org/officeDocument/2006/relationships/notesSlide" Target="/ppt/notesSlides/notesSlide30.xml" Id="R443718c8e29f409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5b77fd73346f7" /><Relationship Type="http://schemas.openxmlformats.org/officeDocument/2006/relationships/notesSlide" Target="/ppt/notesSlides/notesSlide31.xml" Id="R0cbaa545837e4aa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2e84bd6ea4e05" /><Relationship Type="http://schemas.openxmlformats.org/officeDocument/2006/relationships/image" Target="/ppt/media/image36.png" Id="Re42885e229a54e2c" /><Relationship Type="http://schemas.openxmlformats.org/officeDocument/2006/relationships/image" Target="/ppt/media/image37.png" Id="R80e5c8a7cd394277" /><Relationship Type="http://schemas.openxmlformats.org/officeDocument/2006/relationships/notesSlide" Target="/ppt/notesSlides/notesSlide32.xml" Id="R6f25d24cb66a405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f3b8426604fdb" /><Relationship Type="http://schemas.openxmlformats.org/officeDocument/2006/relationships/image" Target="/ppt/media/image38.png" Id="R2226bfac4a8b4d35" /><Relationship Type="http://schemas.openxmlformats.org/officeDocument/2006/relationships/notesSlide" Target="/ppt/notesSlides/notesSlide33.xml" Id="R41543747aefe49d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2c88961e64974" /><Relationship Type="http://schemas.openxmlformats.org/officeDocument/2006/relationships/notesSlide" Target="/ppt/notesSlides/notesSlide34.xml" Id="R1e99c3bfed894ea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3494d7c154f8c" /><Relationship Type="http://schemas.openxmlformats.org/officeDocument/2006/relationships/image" Target="/ppt/media/image39.png" Id="R4e1ec7746c8b45c9" /><Relationship Type="http://schemas.openxmlformats.org/officeDocument/2006/relationships/notesSlide" Target="/ppt/notesSlides/notesSlide35.xml" Id="R66d1030d6fea44a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10e04107e46e5" /><Relationship Type="http://schemas.openxmlformats.org/officeDocument/2006/relationships/image" Target="/ppt/media/image40.png" Id="R0fe3735613594f07" /><Relationship Type="http://schemas.openxmlformats.org/officeDocument/2006/relationships/hyperlink" Target="https://concisesoftware.com/blog/architecture-tradeoff-analysis-method-atam/" TargetMode="External" Id="R20db94035d124380" /><Relationship Type="http://schemas.openxmlformats.org/officeDocument/2006/relationships/image" Target="/ppt/media/image41.png" Id="Re1edf4a1cfa44719" /><Relationship Type="http://schemas.openxmlformats.org/officeDocument/2006/relationships/notesSlide" Target="/ppt/notesSlides/notesSlide36.xml" Id="R77ccaf4d4c77406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728baf0b14fd9" /><Relationship Type="http://schemas.openxmlformats.org/officeDocument/2006/relationships/hyperlink" Target="https://www.cnblogs.com/zpbolgs/p/15270837.html" TargetMode="External" Id="R19ff3e9c8eb741b6" /><Relationship Type="http://schemas.openxmlformats.org/officeDocument/2006/relationships/hyperlink" Target="https://www.cnblogs.com/zpbolgs/p/15270837.html" TargetMode="External" Id="R8acf8030f2a64530" /><Relationship Type="http://schemas.openxmlformats.org/officeDocument/2006/relationships/notesSlide" Target="/ppt/notesSlides/notesSlide37.xml" Id="R0ae5811d72084f2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ac358c92b4009" /><Relationship Type="http://schemas.openxmlformats.org/officeDocument/2006/relationships/hyperlink" Target="https://wxquare.github.io/2025/04/01/system-design/01-system-design-methodology/" TargetMode="External" Id="R5254c9cb80714e36" /><Relationship Type="http://schemas.openxmlformats.org/officeDocument/2006/relationships/notesSlide" Target="/ppt/notesSlides/notesSlide38.xml" Id="R813fd72e3e364b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1">
            <a:extLst xmlns:a="http://schemas.openxmlformats.org/drawingml/2006/main">
              <a:ext uri="{FF2B5EF4-FFF2-40B4-BE49-F238E27FC236}">
                <a16:creationId xmlns:a16="http://schemas.microsoft.com/office/drawing/2014/main" id="{3E006508-CE28-468D-B765-03B99C7B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20955000" cy="16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1E293B"/>
                </a:solidFill>
              </a:defRPr>
            </a:defPPr>
          </a:lstStyle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10000"/>
              <a:buFont typeface="Open Sans"/>
              <a:buNone/>
            </a:pPr>
            <a:r>
              <a:rPr sz="10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一起学学系统设计</a:t>
            </a:r>
            <a:endParaRPr sz="3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4" name="Google Shape;44;p1">
            <a:extLst xmlns:a="http://schemas.openxmlformats.org/drawingml/2006/main">
              <a:ext uri="{FF2B5EF4-FFF2-40B4-BE49-F238E27FC236}">
                <a16:creationId xmlns:a16="http://schemas.microsoft.com/office/drawing/2014/main" id="{962BF1EB-F39E-49FC-8EF1-109D3D8D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429500"/>
            <a:ext cx="14859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ctr">
            <a:normAutofit fontScale="100000"/>
          </a:bodyPr>
          <a:lstStyle xmlns:a="http://schemas.openxmlformats.org/drawingml/2006/main">
            <a:defPPr algn="ctr">
              <a:defRPr sz="450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5400"/>
              <a:buFont typeface="Open Sans"/>
              <a:buNone/>
              <a:defRPr sz="45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45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</a:rPr>
              <a:t>王贤桂  |  原分享 2024-06-12</a:t>
            </a:r>
            <a:endParaRPr sz="5400" b="0" i="0" u="none" strike="noStrike" cap="none">
              <a:solidFill>
                <a:srgbClr val="92929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5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0B6F81D8-2BED-42F3-B240-EBA990F8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46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EFF17150-94A2-446F-9FBC-729BB2C3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1 / 38</a:t>
            </a:r>
          </a:p>
        </p:txBody>
      </p:sp>
      <p:sp>
        <p:nvSpPr>
          <p:cNvPr id="47" name="Public deck subtitle">
            <a:extLst xmlns:a="http://schemas.openxmlformats.org/drawingml/2006/main">
              <a:ext uri="{FF2B5EF4-FFF2-40B4-BE49-F238E27FC236}">
                <a16:creationId xmlns:a16="http://schemas.microsoft.com/office/drawing/2014/main" id="{A687B05A-8438-46B9-9A61-91AB52F1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1485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000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2563EB"/>
                </a:solidFill>
                <a:latin typeface="Arial"/>
                <a:ea typeface="Arial"/>
                <a:cs typeface="Arial"/>
              </a:rPr>
              <a:t>技术方案 · 架构选型 · 设计评审</a:t>
            </a:r>
          </a:p>
        </p:txBody>
      </p:sp>
      <p:sp>
        <p:nvSpPr>
          <p:cNvPr id="48" name="Cover divider">
            <a:extLst xmlns:a="http://schemas.openxmlformats.org/drawingml/2006/main">
              <a:ext uri="{FF2B5EF4-FFF2-40B4-BE49-F238E27FC236}">
                <a16:creationId xmlns:a16="http://schemas.microsoft.com/office/drawing/2014/main" id="{9AF1F2E4-093D-4517-B310-323C1630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048750"/>
            <a:ext cx="838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</a:ln>
        </p:spPr>
      </p:sp>
    </p:spTree>
    <p:extLst>
      <p:ext uri="{BB962C8B-B14F-4D97-AF65-F5344CB8AC3E}">
        <p14:creationId xmlns:p14="http://schemas.microsoft.com/office/powerpoint/2010/main" val="1083748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g27261edc299_0_5">
            <a:extLst xmlns:a="http://schemas.openxmlformats.org/drawingml/2006/main">
              <a:ext uri="{FF2B5EF4-FFF2-40B4-BE49-F238E27FC236}">
                <a16:creationId xmlns:a16="http://schemas.microsoft.com/office/drawing/2014/main" id="{78853F56-4BA1-4498-9305-9BED2DA68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前言：课前说明</a:t>
            </a:r>
            <a:endParaRPr/>
          </a:p>
        </p:txBody>
      </p:sp>
      <p:pic>
        <p:nvPicPr>
          <p:cNvPr id="50" name="Google Shape;50;g27261edc299_0_5">
            <a:extLst xmlns:a="http://schemas.openxmlformats.org/drawingml/2006/main">
              <a:ext uri="{FF2B5EF4-FFF2-40B4-BE49-F238E27FC236}">
                <a16:creationId xmlns:a16="http://schemas.microsoft.com/office/drawing/2014/main" id="{04F94016-500E-4933-A34F-EE94686C12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36922a42f47d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52075" y="2466325"/>
            <a:ext cx="4183125" cy="56549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1" name="Google Shape;51;g27261edc299_0_5">
            <a:extLst xmlns:a="http://schemas.openxmlformats.org/drawingml/2006/main">
              <a:ext uri="{FF2B5EF4-FFF2-40B4-BE49-F238E27FC236}">
                <a16:creationId xmlns:a16="http://schemas.microsoft.com/office/drawing/2014/main" id="{F7AE985E-A9F2-49D6-9EC8-B509732F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150" y="8960050"/>
            <a:ext cx="10983300" cy="215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4191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https://github.com/Vonng/ddia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 u="sng">
                <a:solidFill>
                  <a:schemeClr val="dk1"/>
                </a:solidFill>
                <a:hlinkClick xmlns:r="http://schemas.openxmlformats.org/officeDocument/2006/relationships" r:id="R6a20cfb0436f4476"/>
              </a:rPr>
              <a:t>https://github.com/leewaiho/Clean-Architecture-zh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 u="sng">
                <a:solidFill>
                  <a:schemeClr val="dk1"/>
                </a:solidFill>
                <a:hlinkClick xmlns:r="http://schemas.openxmlformats.org/officeDocument/2006/relationships" r:id="Rf3cecff920664791"/>
              </a:rPr>
              <a:t>https://github.com/donnemartin/system-design-primer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52" name="Google Shape;52;g27261edc299_0_5">
            <a:extLst xmlns:a="http://schemas.openxmlformats.org/drawingml/2006/main">
              <a:ext uri="{FF2B5EF4-FFF2-40B4-BE49-F238E27FC236}">
                <a16:creationId xmlns:a16="http://schemas.microsoft.com/office/drawing/2014/main" id="{FDE5A9AC-0E71-40CC-81A3-A1B7D217CD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700bb2391480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18875" y="2567034"/>
            <a:ext cx="4183125" cy="5453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3" name="Google Shape;53;g27261edc299_0_5">
            <a:extLst xmlns:a="http://schemas.openxmlformats.org/drawingml/2006/main">
              <a:ext uri="{FF2B5EF4-FFF2-40B4-BE49-F238E27FC236}">
                <a16:creationId xmlns:a16="http://schemas.microsoft.com/office/drawing/2014/main" id="{C392F255-E3DA-4EAF-9708-DA6A084B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300" y="2240725"/>
            <a:ext cx="6910500" cy="84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主要涉及后端系统设计，不涉及前端开发和算法等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不会探讨非常庞大的业务架构设计，而是聚焦于日常工作中常见的技术方案设计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主要参考《数据密集型应用》以及github相关项目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尽量减少’八股文’，而是探讨平时做技术方案的问题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建议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5年以下的学习，也希望大佬给一些建议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4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013E76E7-C305-4DC7-9A78-B9E7FC14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55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24B6F4C2-AA08-4638-8FDA-3CB50D4F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56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8D674BAC-16F4-47E5-94FE-83578B9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2 / 38</a:t>
            </a:r>
          </a:p>
        </p:txBody>
      </p:sp>
    </p:spTree>
    <p:extLst>
      <p:ext uri="{BB962C8B-B14F-4D97-AF65-F5344CB8AC3E}">
        <p14:creationId xmlns:p14="http://schemas.microsoft.com/office/powerpoint/2010/main" val="921400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g2e4d454a3fe_0_7">
            <a:extLst xmlns:a="http://schemas.openxmlformats.org/drawingml/2006/main">
              <a:ext uri="{FF2B5EF4-FFF2-40B4-BE49-F238E27FC236}">
                <a16:creationId xmlns:a16="http://schemas.microsoft.com/office/drawing/2014/main" id="{13B72FA2-41BA-4C30-A280-BF4B5FF86B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前言：为什么要做技术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方案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设计？</a:t>
            </a:r>
            <a:endParaRPr/>
          </a:p>
        </p:txBody>
      </p:sp>
      <p:pic>
        <p:nvPicPr>
          <p:cNvPr id="59" name="Google Shape;59;g2e4d454a3fe_0_7">
            <a:extLst xmlns:a="http://schemas.openxmlformats.org/drawingml/2006/main">
              <a:ext uri="{FF2B5EF4-FFF2-40B4-BE49-F238E27FC236}">
                <a16:creationId xmlns:a16="http://schemas.microsoft.com/office/drawing/2014/main" id="{3851B49F-5DA0-4F43-8D67-33177F0252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e6afc40894f6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37275" y="3611475"/>
            <a:ext cx="10288376" cy="6136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0" name="Google Shape;60;g2e4d454a3fe_0_7">
            <a:extLst xmlns:a="http://schemas.openxmlformats.org/drawingml/2006/main">
              <a:ext uri="{FF2B5EF4-FFF2-40B4-BE49-F238E27FC236}">
                <a16:creationId xmlns:a16="http://schemas.microsoft.com/office/drawing/2014/main" id="{22BFFF2B-DD25-4C55-9109-716FEF819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9153151c8406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22775" y="3112200"/>
            <a:ext cx="9675637" cy="5989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1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7776479D-B4E6-497B-B53B-5F980D82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62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F8208DD2-9AA0-4761-9F36-2232EBAC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63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BB18FA66-6C9B-4048-B883-65C80E70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3 / 38</a:t>
            </a:r>
          </a:p>
        </p:txBody>
      </p:sp>
    </p:spTree>
    <p:extLst>
      <p:ext uri="{BB962C8B-B14F-4D97-AF65-F5344CB8AC3E}">
        <p14:creationId xmlns:p14="http://schemas.microsoft.com/office/powerpoint/2010/main" val="1542183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Google Shape;65;g27299db1fd3_0_5">
            <a:extLst xmlns:a="http://schemas.openxmlformats.org/drawingml/2006/main">
              <a:ext uri="{FF2B5EF4-FFF2-40B4-BE49-F238E27FC236}">
                <a16:creationId xmlns:a16="http://schemas.microsoft.com/office/drawing/2014/main" id="{B81492F6-F639-4724-B950-1E2A9336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2575" y="7173300"/>
            <a:ext cx="9370200" cy="5633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66" name="Google Shape;66;g27299db1fd3_0_5">
            <a:extLst xmlns:a="http://schemas.openxmlformats.org/drawingml/2006/main">
              <a:ext uri="{FF2B5EF4-FFF2-40B4-BE49-F238E27FC236}">
                <a16:creationId xmlns:a16="http://schemas.microsoft.com/office/drawing/2014/main" id="{03BF7847-5EFE-4D93-A0F8-13818D95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7800" y="2061875"/>
            <a:ext cx="3520800" cy="4495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67" name="Google Shape;67;g27299db1fd3_0_5">
            <a:extLst xmlns:a="http://schemas.openxmlformats.org/drawingml/2006/main">
              <a:ext uri="{FF2B5EF4-FFF2-40B4-BE49-F238E27FC236}">
                <a16:creationId xmlns:a16="http://schemas.microsoft.com/office/drawing/2014/main" id="{68F77D96-A7F2-44DE-ABD0-9FE3F8E4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5600" y="2100275"/>
            <a:ext cx="3724800" cy="4495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68" name="Google Shape;68;g27299db1fd3_0_5">
            <a:extLst xmlns:a="http://schemas.openxmlformats.org/drawingml/2006/main">
              <a:ext uri="{FF2B5EF4-FFF2-40B4-BE49-F238E27FC236}">
                <a16:creationId xmlns:a16="http://schemas.microsoft.com/office/drawing/2014/main" id="{B687B9D7-9BC7-4C57-893C-401BB390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563" y="2152850"/>
            <a:ext cx="3363300" cy="4495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69" name="Google Shape;69;g27299db1fd3_0_5">
            <a:extLst xmlns:a="http://schemas.openxmlformats.org/drawingml/2006/main">
              <a:ext uri="{FF2B5EF4-FFF2-40B4-BE49-F238E27FC236}">
                <a16:creationId xmlns:a16="http://schemas.microsoft.com/office/drawing/2014/main" id="{A507C820-DCA4-4128-86E6-60D2EF78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725" y="2138200"/>
            <a:ext cx="2969100" cy="4341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70" name="Google Shape;70;g27299db1fd3_0_5">
            <a:extLst xmlns:a="http://schemas.openxmlformats.org/drawingml/2006/main">
              <a:ext uri="{FF2B5EF4-FFF2-40B4-BE49-F238E27FC236}">
                <a16:creationId xmlns:a16="http://schemas.microsoft.com/office/drawing/2014/main" id="{86027DC0-0164-4DFE-AFD6-DDE9BDDB73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前言：技术设计应包含哪些内容？</a:t>
            </a:r>
            <a:endParaRPr/>
          </a:p>
        </p:txBody>
      </p:sp>
      <p:sp>
        <p:nvSpPr>
          <p:cNvPr id="71" name="Google Shape;71;g27299db1fd3_0_5">
            <a:extLst xmlns:a="http://schemas.openxmlformats.org/drawingml/2006/main">
              <a:ext uri="{FF2B5EF4-FFF2-40B4-BE49-F238E27FC236}">
                <a16:creationId xmlns:a16="http://schemas.microsoft.com/office/drawing/2014/main" id="{8E1D1B7E-1A02-4BD3-944F-B9EF9695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775" y="2384550"/>
            <a:ext cx="1803000" cy="341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 b="1">
                <a:solidFill>
                  <a:srgbClr val="0000FF"/>
                </a:solidFill>
              </a:rPr>
              <a:t>1. 背景</a:t>
            </a:r>
            <a:endParaRPr sz="3000" b="1">
              <a:solidFill>
                <a:srgbClr val="0000FF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需求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目标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挑战</a:t>
            </a:r>
            <a:endParaRPr sz="3000"/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2" name="Google Shape;72;g27299db1fd3_0_5">
            <a:extLst xmlns:a="http://schemas.openxmlformats.org/drawingml/2006/main">
              <a:ext uri="{FF2B5EF4-FFF2-40B4-BE49-F238E27FC236}">
                <a16:creationId xmlns:a16="http://schemas.microsoft.com/office/drawing/2014/main" id="{076013AF-244E-412B-8FD2-8F60D15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225" y="2335075"/>
            <a:ext cx="2969100" cy="31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0000FF"/>
                </a:solidFill>
              </a:rPr>
              <a:t>2. </a:t>
            </a:r>
            <a:r>
              <a:rPr sz="3000" b="1">
                <a:solidFill>
                  <a:srgbClr val="0000FF"/>
                </a:solidFill>
              </a:rPr>
              <a:t>调研</a:t>
            </a:r>
            <a:endParaRPr sz="3000" b="1">
              <a:solidFill>
                <a:srgbClr val="0000FF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内、外部限制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方案调研对比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可行性</a:t>
            </a:r>
            <a:endParaRPr sz="3000"/>
          </a:p>
          <a:p xmlns:a="http://schemas.openxmlformats.org/drawingml/2006/main">
            <a:pPr marL="4572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27299db1fd3_0_5">
            <a:extLst xmlns:a="http://schemas.openxmlformats.org/drawingml/2006/main">
              <a:ext uri="{FF2B5EF4-FFF2-40B4-BE49-F238E27FC236}">
                <a16:creationId xmlns:a16="http://schemas.microsoft.com/office/drawing/2014/main" id="{3EC67A91-F48D-49D3-8E2F-BCF3476A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6350" y="2293025"/>
            <a:ext cx="3363300" cy="41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</a:rPr>
              <a:t>3. </a:t>
            </a:r>
            <a:r>
              <a:rPr sz="3000" b="1">
                <a:solidFill>
                  <a:srgbClr val="0000FF"/>
                </a:solidFill>
              </a:rPr>
              <a:t>整体设计</a:t>
            </a:r>
            <a:endParaRPr sz="3000" b="1">
              <a:solidFill>
                <a:srgbClr val="0000FF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业务流程架构图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技术架构图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应用架构图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数据架构图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关键流程</a:t>
            </a:r>
            <a:endParaRPr sz="3000"/>
          </a:p>
        </p:txBody>
      </p:sp>
      <p:sp>
        <p:nvSpPr>
          <p:cNvPr id="74" name="Google Shape;74;g27299db1fd3_0_5">
            <a:extLst xmlns:a="http://schemas.openxmlformats.org/drawingml/2006/main">
              <a:ext uri="{FF2B5EF4-FFF2-40B4-BE49-F238E27FC236}">
                <a16:creationId xmlns:a16="http://schemas.microsoft.com/office/drawing/2014/main" id="{C95F0EA3-11C7-4407-91C6-7EB6AF42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1125" y="2384550"/>
            <a:ext cx="2969100" cy="41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</a:rPr>
              <a:t>4. 详细（功能）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接口设计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存储设计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缓存设计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异步机制设计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核心模块设计</a:t>
            </a:r>
            <a:endParaRPr sz="3000"/>
          </a:p>
        </p:txBody>
      </p:sp>
      <p:sp>
        <p:nvSpPr>
          <p:cNvPr id="75" name="Google Shape;75;g27299db1fd3_0_5">
            <a:extLst xmlns:a="http://schemas.openxmlformats.org/drawingml/2006/main">
              <a:ext uri="{FF2B5EF4-FFF2-40B4-BE49-F238E27FC236}">
                <a16:creationId xmlns:a16="http://schemas.microsoft.com/office/drawing/2014/main" id="{75F8FF61-52EB-4E1A-BBEB-0BDD39FC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0025" y="7424200"/>
            <a:ext cx="8595000" cy="545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 b="1">
                <a:solidFill>
                  <a:srgbClr val="0000FF"/>
                </a:solidFill>
              </a:rPr>
              <a:t>5. 非功能设计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兼容性：平台、浏览器、接口协议。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稳定性和可用性：识别安全、</a:t>
            </a:r>
            <a:r>
              <a:rPr sz="3000">
                <a:solidFill>
                  <a:schemeClr val="dk1"/>
                </a:solidFill>
              </a:rPr>
              <a:t>异常、风险点以及应对措施，灰度策略等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性能设计：性能需求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扩展性设计：用户、数据、功能扩展性。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可维护性设计：日志记录、监控设计、错误处理</a:t>
            </a:r>
            <a:endParaRPr sz="2600"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6" name="Google Shape;76;g27299db1fd3_0_5">
            <a:extLst xmlns:a="http://schemas.openxmlformats.org/drawingml/2006/main">
              <a:ext uri="{FF2B5EF4-FFF2-40B4-BE49-F238E27FC236}">
                <a16:creationId xmlns:a16="http://schemas.microsoft.com/office/drawing/2014/main" id="{114438D8-69B8-4D77-9864-5FBFE630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575" y="3704900"/>
            <a:ext cx="906600" cy="6306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77" name="Google Shape;77;g27299db1fd3_0_5">
            <a:extLst xmlns:a="http://schemas.openxmlformats.org/drawingml/2006/main">
              <a:ext uri="{FF2B5EF4-FFF2-40B4-BE49-F238E27FC236}">
                <a16:creationId xmlns:a16="http://schemas.microsoft.com/office/drawing/2014/main" id="{CBEDEB27-B090-4203-9019-456BD8F9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938" y="3777750"/>
            <a:ext cx="906600" cy="6306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78" name="Google Shape;78;g27299db1fd3_0_5">
            <a:extLst xmlns:a="http://schemas.openxmlformats.org/drawingml/2006/main">
              <a:ext uri="{FF2B5EF4-FFF2-40B4-BE49-F238E27FC236}">
                <a16:creationId xmlns:a16="http://schemas.microsoft.com/office/drawing/2014/main" id="{D52B3DAB-B95D-4ADD-9FB6-C87DE54F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5788" y="3777750"/>
            <a:ext cx="906600" cy="6306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79" name="Google Shape;79;g27299db1fd3_0_5">
            <a:extLst xmlns:a="http://schemas.openxmlformats.org/drawingml/2006/main">
              <a:ext uri="{FF2B5EF4-FFF2-40B4-BE49-F238E27FC236}">
                <a16:creationId xmlns:a16="http://schemas.microsoft.com/office/drawing/2014/main" id="{5E92ACAE-09FF-485E-B16A-FD958F21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550" y="8837813"/>
            <a:ext cx="906600" cy="6306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80" name="Google Shape;80;g27299db1fd3_0_5">
            <a:extLst xmlns:a="http://schemas.openxmlformats.org/drawingml/2006/main">
              <a:ext uri="{FF2B5EF4-FFF2-40B4-BE49-F238E27FC236}">
                <a16:creationId xmlns:a16="http://schemas.microsoft.com/office/drawing/2014/main" id="{F304A608-0249-48E8-982B-67B202CF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500" y="7424188"/>
            <a:ext cx="3724800" cy="5327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81" name="Google Shape;81;g27299db1fd3_0_5">
            <a:extLst xmlns:a="http://schemas.openxmlformats.org/drawingml/2006/main">
              <a:ext uri="{FF2B5EF4-FFF2-40B4-BE49-F238E27FC236}">
                <a16:creationId xmlns:a16="http://schemas.microsoft.com/office/drawing/2014/main" id="{41453C6B-0238-44F9-847B-220C5B6D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400" y="7478713"/>
            <a:ext cx="3724800" cy="532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</a:rPr>
              <a:t>其它</a:t>
            </a:r>
            <a:endParaRPr sz="3000" b="1">
              <a:solidFill>
                <a:srgbClr val="0000FF"/>
              </a:solidFill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</a:rPr>
              <a:t>6.测试和部署方案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</a:rPr>
              <a:t>7. 风险问题</a:t>
            </a:r>
            <a:endParaRPr sz="3000"/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8. 资源清单</a:t>
            </a:r>
            <a:endParaRPr sz="3000"/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9. 遗留问题</a:t>
            </a:r>
            <a:endParaRPr sz="3000"/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/>
              <a:t>10. 任务拆分</a:t>
            </a:r>
            <a:endParaRPr sz="3000"/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11. 评审记录</a:t>
            </a:r>
            <a:endParaRPr sz="3000"/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82" name="Google Shape;82;g27299db1fd3_0_5">
            <a:extLst xmlns:a="http://schemas.openxmlformats.org/drawingml/2006/main">
              <a:ext uri="{FF2B5EF4-FFF2-40B4-BE49-F238E27FC236}">
                <a16:creationId xmlns:a16="http://schemas.microsoft.com/office/drawing/2014/main" id="{45E76FE9-C440-4FAB-A193-873E78AA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4000" y="3967650"/>
            <a:ext cx="1366500" cy="5123700"/>
          </a:xfrm>
          <a:prstGeom xmlns:a="http://schemas.openxmlformats.org/drawingml/2006/main" prst="curvedLeftArrow">
            <a:avLst>
              <a:gd name="adj1" fmla="val 25000"/>
              <a:gd name="adj2" fmla="val 50000"/>
              <a:gd name="adj3" fmla="val 2500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83" name="Google Shape;83;g27299db1fd3_0_5">
            <a:extLst xmlns:a="http://schemas.openxmlformats.org/drawingml/2006/main">
              <a:ext uri="{FF2B5EF4-FFF2-40B4-BE49-F238E27FC236}">
                <a16:creationId xmlns:a16="http://schemas.microsoft.com/office/drawing/2014/main" id="{1293B57F-B011-41BF-9438-EDC5EB63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550" y="9285375"/>
            <a:ext cx="1366500" cy="778200"/>
          </a:xfrm>
          <a:prstGeom xmlns:a="http://schemas.openxmlformats.org/drawingml/2006/main" prst="lef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84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865751E0-CF48-4C9F-B4D3-8DB4C40A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85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1F856EBC-E043-47E4-A92B-7BC6BF0A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86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07C712F4-7D6F-456E-A8E7-B4F331A8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4 / 38</a:t>
            </a:r>
          </a:p>
        </p:txBody>
      </p:sp>
    </p:spTree>
    <p:extLst>
      <p:ext uri="{BB962C8B-B14F-4D97-AF65-F5344CB8AC3E}">
        <p14:creationId xmlns:p14="http://schemas.microsoft.com/office/powerpoint/2010/main" val="1657834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g27339dc66ca_2_99">
            <a:extLst xmlns:a="http://schemas.openxmlformats.org/drawingml/2006/main">
              <a:ext uri="{FF2B5EF4-FFF2-40B4-BE49-F238E27FC236}">
                <a16:creationId xmlns:a16="http://schemas.microsoft.com/office/drawing/2014/main" id="{0CBC2E1E-F5A6-4128-BC1A-F1BBCC3C1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前言：怎么评价技术设计的质量？</a:t>
            </a:r>
            <a:endParaRPr/>
          </a:p>
        </p:txBody>
      </p:sp>
      <p:cxnSp>
        <p:nvCxnSpPr>
          <p:cNvPr id="89" name="Google Shape;89;g27339dc66ca_2_99">
            <a:extLst xmlns:a="http://schemas.openxmlformats.org/drawingml/2006/main">
              <a:ext uri="{FF2B5EF4-FFF2-40B4-BE49-F238E27FC236}">
                <a16:creationId xmlns:a16="http://schemas.microsoft.com/office/drawing/2014/main" id="{75692E1C-DDF8-4112-A957-708045681D95}"/>
              </a:ext>
            </a:extLst>
          </p:cNvPr>
          <p:cNvCxnSpPr/>
          <p:nvPr/>
        </p:nvCxnSpPr>
        <p:spPr>
          <a:xfrm xmlns:a="http://schemas.openxmlformats.org/drawingml/2006/main">
            <a:off x="3074275" y="7120750"/>
            <a:ext cx="18209100" cy="105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g27339dc66ca_2_99">
            <a:extLst xmlns:a="http://schemas.openxmlformats.org/drawingml/2006/main">
              <a:ext uri="{FF2B5EF4-FFF2-40B4-BE49-F238E27FC236}">
                <a16:creationId xmlns:a16="http://schemas.microsoft.com/office/drawing/2014/main" id="{FE53E889-E2E3-49FE-8E5D-73E1D44DA23C}"/>
              </a:ext>
            </a:extLst>
          </p:cNvPr>
          <p:cNvCxnSpPr/>
          <p:nvPr/>
        </p:nvCxnSpPr>
        <p:spPr>
          <a:xfrm xmlns:a="http://schemas.openxmlformats.org/drawingml/2006/main" flipH="1">
            <a:off x="11219675" y="2128350"/>
            <a:ext cx="26400" cy="100638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g27339dc66ca_2_99">
            <a:extLst xmlns:a="http://schemas.openxmlformats.org/drawingml/2006/main">
              <a:ext uri="{FF2B5EF4-FFF2-40B4-BE49-F238E27FC236}">
                <a16:creationId xmlns:a16="http://schemas.microsoft.com/office/drawing/2014/main" id="{C1E6ACE4-578A-41CD-A868-8E50071C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25" y="2942925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功能正确性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92" name="Google Shape;92;g27339dc66ca_2_99">
            <a:extLst xmlns:a="http://schemas.openxmlformats.org/drawingml/2006/main">
              <a:ext uri="{FF2B5EF4-FFF2-40B4-BE49-F238E27FC236}">
                <a16:creationId xmlns:a16="http://schemas.microsoft.com/office/drawing/2014/main" id="{F7E9D60F-2A92-4CCA-A242-FE295504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700" y="2942913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功能</a:t>
            </a:r>
            <a:r>
              <a:rPr sz="2600">
                <a:latin typeface="Open Sans"/>
                <a:ea typeface="Open Sans"/>
                <a:cs typeface="Open Sans"/>
              </a:rPr>
              <a:t>完整性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93" name="Google Shape;93;g27339dc66ca_2_99">
            <a:extLst xmlns:a="http://schemas.openxmlformats.org/drawingml/2006/main">
              <a:ext uri="{FF2B5EF4-FFF2-40B4-BE49-F238E27FC236}">
                <a16:creationId xmlns:a16="http://schemas.microsoft.com/office/drawing/2014/main" id="{32E73133-799B-4744-92BD-C1335559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25" y="5031838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功能</a:t>
            </a:r>
            <a:r>
              <a:rPr sz="2600">
                <a:latin typeface="Open Sans"/>
                <a:ea typeface="Open Sans"/>
                <a:cs typeface="Open Sans"/>
              </a:rPr>
              <a:t>恰当</a:t>
            </a:r>
            <a:r>
              <a:rPr sz="2600">
                <a:latin typeface="Open Sans"/>
                <a:ea typeface="Open Sans"/>
                <a:cs typeface="Open Sans"/>
              </a:rPr>
              <a:t>性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94" name="Google Shape;94;g27339dc66ca_2_99">
            <a:extLst xmlns:a="http://schemas.openxmlformats.org/drawingml/2006/main">
              <a:ext uri="{FF2B5EF4-FFF2-40B4-BE49-F238E27FC236}">
                <a16:creationId xmlns:a16="http://schemas.microsoft.com/office/drawing/2014/main" id="{3CED8117-6BF9-4838-8916-523B19B2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200" y="2811150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   可靠性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95" name="Google Shape;95;g27339dc66ca_2_99">
            <a:extLst xmlns:a="http://schemas.openxmlformats.org/drawingml/2006/main">
              <a:ext uri="{FF2B5EF4-FFF2-40B4-BE49-F238E27FC236}">
                <a16:creationId xmlns:a16="http://schemas.microsoft.com/office/drawing/2014/main" id="{B71DE094-F6F3-435C-B371-AC0673F5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200" y="5031850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   </a:t>
            </a:r>
            <a:r>
              <a:rPr sz="2600">
                <a:latin typeface="Open Sans"/>
                <a:ea typeface="Open Sans"/>
                <a:cs typeface="Open Sans"/>
              </a:rPr>
              <a:t>兼容</a:t>
            </a:r>
            <a:r>
              <a:rPr sz="2600">
                <a:latin typeface="Open Sans"/>
                <a:ea typeface="Open Sans"/>
                <a:cs typeface="Open Sans"/>
              </a:rPr>
              <a:t>性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96" name="Google Shape;96;g27339dc66ca_2_99">
            <a:extLst xmlns:a="http://schemas.openxmlformats.org/drawingml/2006/main">
              <a:ext uri="{FF2B5EF4-FFF2-40B4-BE49-F238E27FC236}">
                <a16:creationId xmlns:a16="http://schemas.microsoft.com/office/drawing/2014/main" id="{9939C64C-5402-4B19-9EB7-AE9690D3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5425" y="2942950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   </a:t>
            </a:r>
            <a:r>
              <a:rPr sz="2600">
                <a:latin typeface="Open Sans"/>
                <a:ea typeface="Open Sans"/>
                <a:cs typeface="Open Sans"/>
              </a:rPr>
              <a:t>可用</a:t>
            </a:r>
            <a:r>
              <a:rPr sz="2600">
                <a:latin typeface="Open Sans"/>
                <a:ea typeface="Open Sans"/>
                <a:cs typeface="Open Sans"/>
              </a:rPr>
              <a:t>性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97" name="Google Shape;97;g27339dc66ca_2_99">
            <a:extLst xmlns:a="http://schemas.openxmlformats.org/drawingml/2006/main">
              <a:ext uri="{FF2B5EF4-FFF2-40B4-BE49-F238E27FC236}">
                <a16:creationId xmlns:a16="http://schemas.microsoft.com/office/drawing/2014/main" id="{573D549D-2E72-4948-ACF5-CE4B96E3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400" y="5031850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AD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   </a:t>
            </a:r>
            <a:r>
              <a:rPr sz="2600">
                <a:latin typeface="Open Sans"/>
                <a:ea typeface="Open Sans"/>
                <a:cs typeface="Open Sans"/>
              </a:rPr>
              <a:t>安全性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98" name="Google Shape;98;g27339dc66ca_2_99">
            <a:extLst xmlns:a="http://schemas.openxmlformats.org/drawingml/2006/main">
              <a:ext uri="{FF2B5EF4-FFF2-40B4-BE49-F238E27FC236}">
                <a16:creationId xmlns:a16="http://schemas.microsoft.com/office/drawing/2014/main" id="{B4CA709D-23C6-438B-BD84-B37A8333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25" y="8079550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0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可扩展性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99" name="Google Shape;99;g27339dc66ca_2_99">
            <a:extLst xmlns:a="http://schemas.openxmlformats.org/drawingml/2006/main">
              <a:ext uri="{FF2B5EF4-FFF2-40B4-BE49-F238E27FC236}">
                <a16:creationId xmlns:a16="http://schemas.microsoft.com/office/drawing/2014/main" id="{19F24B32-5206-4065-84E2-68E66042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700" y="8145250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0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    易</a:t>
            </a:r>
            <a:r>
              <a:rPr sz="2600">
                <a:latin typeface="Open Sans"/>
                <a:ea typeface="Open Sans"/>
                <a:cs typeface="Open Sans"/>
              </a:rPr>
              <a:t>读性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100" name="Google Shape;100;g27339dc66ca_2_99">
            <a:extLst xmlns:a="http://schemas.openxmlformats.org/drawingml/2006/main">
              <a:ext uri="{FF2B5EF4-FFF2-40B4-BE49-F238E27FC236}">
                <a16:creationId xmlns:a16="http://schemas.microsoft.com/office/drawing/2014/main" id="{0DBF0B7D-94BD-42E1-A3D2-4F5AA2F7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225" y="10168450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0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    易</a:t>
            </a:r>
            <a:r>
              <a:rPr sz="2600">
                <a:latin typeface="Open Sans"/>
                <a:ea typeface="Open Sans"/>
                <a:cs typeface="Open Sans"/>
              </a:rPr>
              <a:t>测试性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101" name="Google Shape;101;g27339dc66ca_2_99">
            <a:extLst xmlns:a="http://schemas.openxmlformats.org/drawingml/2006/main">
              <a:ext uri="{FF2B5EF4-FFF2-40B4-BE49-F238E27FC236}">
                <a16:creationId xmlns:a16="http://schemas.microsoft.com/office/drawing/2014/main" id="{7AE3ED6E-3D61-4FF6-80FD-729DCB08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700" y="10037925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0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监控可视化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102" name="Google Shape;102;g27339dc66ca_2_99">
            <a:extLst xmlns:a="http://schemas.openxmlformats.org/drawingml/2006/main">
              <a:ext uri="{FF2B5EF4-FFF2-40B4-BE49-F238E27FC236}">
                <a16:creationId xmlns:a16="http://schemas.microsoft.com/office/drawing/2014/main" id="{BA8033E3-C9B4-41E8-B471-CF4C63D1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3450" y="8211375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2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 开发成本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103" name="Google Shape;103;g27339dc66ca_2_99">
            <a:extLst xmlns:a="http://schemas.openxmlformats.org/drawingml/2006/main">
              <a:ext uri="{FF2B5EF4-FFF2-40B4-BE49-F238E27FC236}">
                <a16:creationId xmlns:a16="http://schemas.microsoft.com/office/drawing/2014/main" id="{52005F2A-1567-404F-8A75-6F8E0964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1500" y="8211375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2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 </a:t>
            </a:r>
            <a:r>
              <a:rPr sz="2600">
                <a:latin typeface="Open Sans"/>
                <a:ea typeface="Open Sans"/>
                <a:cs typeface="Open Sans"/>
              </a:rPr>
              <a:t>部署成</a:t>
            </a:r>
            <a:r>
              <a:rPr sz="2600">
                <a:latin typeface="Open Sans"/>
                <a:ea typeface="Open Sans"/>
                <a:cs typeface="Open Sans"/>
              </a:rPr>
              <a:t>本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104" name="Google Shape;104;g27339dc66ca_2_99">
            <a:extLst xmlns:a="http://schemas.openxmlformats.org/drawingml/2006/main">
              <a:ext uri="{FF2B5EF4-FFF2-40B4-BE49-F238E27FC236}">
                <a16:creationId xmlns:a16="http://schemas.microsoft.com/office/drawing/2014/main" id="{3D72053E-E275-49D0-BFF9-56892238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100" y="5031838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 用户体验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105" name="Google Shape;105;g27339dc66ca_2_99">
            <a:extLst xmlns:a="http://schemas.openxmlformats.org/drawingml/2006/main">
              <a:ext uri="{FF2B5EF4-FFF2-40B4-BE49-F238E27FC236}">
                <a16:creationId xmlns:a16="http://schemas.microsoft.com/office/drawing/2014/main" id="{E27CC564-B9E2-4D2E-9B32-53F04FE2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3450" y="10544675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2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 维护成本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106" name="Google Shape;106;g27339dc66ca_2_99">
            <a:extLst xmlns:a="http://schemas.openxmlformats.org/drawingml/2006/main">
              <a:ext uri="{FF2B5EF4-FFF2-40B4-BE49-F238E27FC236}">
                <a16:creationId xmlns:a16="http://schemas.microsoft.com/office/drawing/2014/main" id="{A4AF4114-9078-4696-A905-0FBBF914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5425" y="10544675"/>
            <a:ext cx="2627700" cy="123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2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latin typeface="Open Sans"/>
                <a:ea typeface="Open Sans"/>
                <a:cs typeface="Open Sans"/>
              </a:rPr>
              <a:t> 维护成本</a:t>
            </a:r>
            <a:endParaRPr sz="2600">
              <a:latin typeface="Open Sans"/>
              <a:ea typeface="Open Sans"/>
              <a:cs typeface="Open Sans"/>
            </a:endParaRPr>
          </a:p>
        </p:txBody>
      </p:sp>
      <p:sp>
        <p:nvSpPr>
          <p:cNvPr id="107" name="Google Shape;107;g27339dc66ca_2_99">
            <a:extLst xmlns:a="http://schemas.openxmlformats.org/drawingml/2006/main">
              <a:ext uri="{FF2B5EF4-FFF2-40B4-BE49-F238E27FC236}">
                <a16:creationId xmlns:a16="http://schemas.microsoft.com/office/drawing/2014/main" id="{23AB564D-DBE3-4434-9B64-6F42DEBB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91850"/>
            <a:ext cx="3363300" cy="99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维度1:功能性</a:t>
            </a:r>
            <a:endParaRPr sz="36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8" name="Google Shape;108;g27339dc66ca_2_99">
            <a:extLst xmlns:a="http://schemas.openxmlformats.org/drawingml/2006/main">
              <a:ext uri="{FF2B5EF4-FFF2-40B4-BE49-F238E27FC236}">
                <a16:creationId xmlns:a16="http://schemas.microsoft.com/office/drawing/2014/main" id="{C2C3C650-88C5-42B0-B234-01450DE4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5700" y="2089625"/>
            <a:ext cx="2898600" cy="99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维度2:稳定</a:t>
            </a:r>
            <a:r>
              <a:rPr sz="36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性</a:t>
            </a:r>
            <a:endParaRPr sz="36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9" name="Google Shape;109;g27339dc66ca_2_99">
            <a:extLst xmlns:a="http://schemas.openxmlformats.org/drawingml/2006/main">
              <a:ext uri="{FF2B5EF4-FFF2-40B4-BE49-F238E27FC236}">
                <a16:creationId xmlns:a16="http://schemas.microsoft.com/office/drawing/2014/main" id="{55BCA219-2D8E-4DD7-A0C3-1E1D7F51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449975"/>
            <a:ext cx="2898600" cy="99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维度3:维护</a:t>
            </a:r>
            <a:r>
              <a:rPr sz="36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性</a:t>
            </a:r>
            <a:endParaRPr sz="36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0" name="Google Shape;110;g27339dc66ca_2_99">
            <a:extLst xmlns:a="http://schemas.openxmlformats.org/drawingml/2006/main">
              <a:ext uri="{FF2B5EF4-FFF2-40B4-BE49-F238E27FC236}">
                <a16:creationId xmlns:a16="http://schemas.microsoft.com/office/drawing/2014/main" id="{CA928334-7BBD-4EAC-8927-2727ECC3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1150" y="7641025"/>
            <a:ext cx="2627700" cy="99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维度4:成本</a:t>
            </a:r>
            <a:endParaRPr sz="36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1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F60CD096-89EF-4224-82ED-8C5519B1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12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548AB21E-726C-4B97-A616-D9025ED7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113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33CDBCC0-2A57-4563-9AF2-FDE01D6B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5 / 38</a:t>
            </a:r>
          </a:p>
        </p:txBody>
      </p:sp>
    </p:spTree>
    <p:extLst>
      <p:ext uri="{BB962C8B-B14F-4D97-AF65-F5344CB8AC3E}">
        <p14:creationId xmlns:p14="http://schemas.microsoft.com/office/powerpoint/2010/main" val="1348401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g27339dc66ca_2_156">
            <a:extLst xmlns:a="http://schemas.openxmlformats.org/drawingml/2006/main">
              <a:ext uri="{FF2B5EF4-FFF2-40B4-BE49-F238E27FC236}">
                <a16:creationId xmlns:a16="http://schemas.microsoft.com/office/drawing/2014/main" id="{90514D3D-A4B5-450B-91C5-BED2116AC6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目录</a:t>
            </a:r>
            <a:endParaRPr/>
          </a:p>
        </p:txBody>
      </p:sp>
      <p:sp>
        <p:nvSpPr>
          <p:cNvPr id="116" name="Google Shape;116;g27339dc66ca_2_156">
            <a:extLst xmlns:a="http://schemas.openxmlformats.org/drawingml/2006/main">
              <a:ext uri="{FF2B5EF4-FFF2-40B4-BE49-F238E27FC236}">
                <a16:creationId xmlns:a16="http://schemas.microsoft.com/office/drawing/2014/main" id="{CD53E036-0D72-49E1-8622-FFA556CE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975" y="2522475"/>
            <a:ext cx="12816900" cy="790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4500"/>
              <a:buFont typeface="Open Sans"/>
              <a:buChar char="❏"/>
            </a:pPr>
            <a:r>
              <a:rPr sz="4500">
                <a:solidFill>
                  <a:srgbClr val="EE4D2D"/>
                </a:solidFill>
                <a:latin typeface="Open Sans"/>
                <a:ea typeface="Open Sans"/>
                <a:cs typeface="Open Sans"/>
              </a:rPr>
              <a:t>1.  整体性设计</a:t>
            </a:r>
            <a:endParaRPr sz="45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2.  接口设计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3.  存储设计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4.  缓存设计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5.  异步设计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6. 非功能性设计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accent5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7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A35468EC-937C-4FFE-826C-EB5FD84B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18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FFD0F42D-0359-4429-8F48-7D11CBB1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119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9F1D5E00-0613-4BDC-9DC5-C9F01459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6 / 38</a:t>
            </a:r>
          </a:p>
        </p:txBody>
      </p:sp>
    </p:spTree>
    <p:extLst>
      <p:ext uri="{BB962C8B-B14F-4D97-AF65-F5344CB8AC3E}">
        <p14:creationId xmlns:p14="http://schemas.microsoft.com/office/powerpoint/2010/main" val="517739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g2e467bcab5a_2_0">
            <a:extLst xmlns:a="http://schemas.openxmlformats.org/drawingml/2006/main">
              <a:ext uri="{FF2B5EF4-FFF2-40B4-BE49-F238E27FC236}">
                <a16:creationId xmlns:a16="http://schemas.microsoft.com/office/drawing/2014/main" id="{DEB521C1-96B3-40BF-94D7-53CF648E3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整体设计：什么是架构？EA+4A</a:t>
            </a:r>
            <a:endParaRPr/>
          </a:p>
        </p:txBody>
      </p:sp>
      <p:pic>
        <p:nvPicPr>
          <p:cNvPr id="122" name="Google Shape;122;g2e467bcab5a_2_0">
            <a:extLst xmlns:a="http://schemas.openxmlformats.org/drawingml/2006/main">
              <a:ext uri="{FF2B5EF4-FFF2-40B4-BE49-F238E27FC236}">
                <a16:creationId xmlns:a16="http://schemas.microsoft.com/office/drawing/2014/main" id="{11B9C4E5-D05A-4426-8FD2-D25BD67186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9ca06f66f4b7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8025" y="1497725"/>
            <a:ext cx="21092996" cy="12218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3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03186477-194E-4A1F-B570-AA8380E3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24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E0AE2C3B-462A-414B-B151-5DD90FCF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125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8EA033DA-6650-494C-B960-4E863F86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7 / 38</a:t>
            </a:r>
          </a:p>
        </p:txBody>
      </p:sp>
    </p:spTree>
    <p:extLst>
      <p:ext uri="{BB962C8B-B14F-4D97-AF65-F5344CB8AC3E}">
        <p14:creationId xmlns:p14="http://schemas.microsoft.com/office/powerpoint/2010/main" val="18850005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Google Shape;127;g27339dc66ca_2_54">
            <a:extLst xmlns:a="http://schemas.openxmlformats.org/drawingml/2006/main">
              <a:ext uri="{FF2B5EF4-FFF2-40B4-BE49-F238E27FC236}">
                <a16:creationId xmlns:a16="http://schemas.microsoft.com/office/drawing/2014/main" id="{CCF79680-4F60-4389-AA0C-1C8915E4C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整体设计：业务架构（BA）</a:t>
            </a:r>
            <a:endParaRPr/>
          </a:p>
        </p:txBody>
      </p:sp>
      <p:sp>
        <p:nvSpPr>
          <p:cNvPr id="128" name="Google Shape;128;g27339dc66ca_2_54">
            <a:extLst xmlns:a="http://schemas.openxmlformats.org/drawingml/2006/main">
              <a:ext uri="{FF2B5EF4-FFF2-40B4-BE49-F238E27FC236}">
                <a16:creationId xmlns:a16="http://schemas.microsoft.com/office/drawing/2014/main" id="{FB0CF0CD-29FB-4191-9A83-E2F56F45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350" y="2823475"/>
            <a:ext cx="6180000" cy="802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定义：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描述系统对用户提供什么业务功能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核心是：</a:t>
            </a:r>
            <a:r>
              <a:rPr sz="3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流程、组织、模块、边界</a:t>
            </a:r>
            <a:endParaRPr sz="30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使用场景：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产品人员规划业务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给高P汇报工作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新员工培训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画图技巧: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通过不同颜色标识业务状态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业务分组管理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29" name="Google Shape;129;g27339dc66ca_2_54">
            <a:extLst xmlns:a="http://schemas.openxmlformats.org/drawingml/2006/main">
              <a:ext uri="{FF2B5EF4-FFF2-40B4-BE49-F238E27FC236}">
                <a16:creationId xmlns:a16="http://schemas.microsoft.com/office/drawing/2014/main" id="{C7A92C12-69F7-4A49-AC05-3F77424AE3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955fac41e480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226375"/>
            <a:ext cx="15366626" cy="81452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0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F356BBB7-F476-46E5-92BB-1EFD826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31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CD59FE03-D988-46DA-A099-058AC1E6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132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EE9AE8D6-3375-45DA-BD77-B4EAA6A5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8 / 38</a:t>
            </a:r>
          </a:p>
        </p:txBody>
      </p:sp>
    </p:spTree>
    <p:extLst>
      <p:ext uri="{BB962C8B-B14F-4D97-AF65-F5344CB8AC3E}">
        <p14:creationId xmlns:p14="http://schemas.microsoft.com/office/powerpoint/2010/main" val="2805237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g2e467bcab5a_2_52">
            <a:extLst xmlns:a="http://schemas.openxmlformats.org/drawingml/2006/main">
              <a:ext uri="{FF2B5EF4-FFF2-40B4-BE49-F238E27FC236}">
                <a16:creationId xmlns:a16="http://schemas.microsoft.com/office/drawing/2014/main" id="{80742615-530B-42D3-A9F9-9AD227707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整体设计：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应用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架构（AA）</a:t>
            </a:r>
            <a:endParaRPr/>
          </a:p>
        </p:txBody>
      </p:sp>
      <p:sp>
        <p:nvSpPr>
          <p:cNvPr id="135" name="Google Shape;135;g2e467bcab5a_2_52">
            <a:extLst xmlns:a="http://schemas.openxmlformats.org/drawingml/2006/main">
              <a:ext uri="{FF2B5EF4-FFF2-40B4-BE49-F238E27FC236}">
                <a16:creationId xmlns:a16="http://schemas.microsoft.com/office/drawing/2014/main" id="{173739BC-9ABA-4762-84DE-C1768E98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925" y="2845800"/>
            <a:ext cx="6180000" cy="802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定义：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描述列系统中各服务之间的交互关系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使用场景：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开发、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测试、SRE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新员工培训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画图技巧: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分层管理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连线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36" name="Google Shape;136;g2e467bcab5a_2_52">
            <a:extLst xmlns:a="http://schemas.openxmlformats.org/drawingml/2006/main">
              <a:ext uri="{FF2B5EF4-FFF2-40B4-BE49-F238E27FC236}">
                <a16:creationId xmlns:a16="http://schemas.microsoft.com/office/drawing/2014/main" id="{99466CA4-DF0B-49F8-BA81-772B8AF7A8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7a14ae49b483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2550" y="2547275"/>
            <a:ext cx="13834100" cy="82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7" name="Google Shape;137;g2e467bcab5a_2_52">
            <a:extLst xmlns:a="http://schemas.openxmlformats.org/drawingml/2006/main">
              <a:ext uri="{FF2B5EF4-FFF2-40B4-BE49-F238E27FC236}">
                <a16:creationId xmlns:a16="http://schemas.microsoft.com/office/drawing/2014/main" id="{C0CD594C-9E55-44E9-BEB6-A9C0AEDF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550" y="10615025"/>
            <a:ext cx="10216200" cy="134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服务调用关系从上到下、禁止同层调用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应用名遵从格式规范、快速识别逻辑层次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38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3051BA47-C3B0-4985-9469-88B70456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39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6E971CAF-6BFB-46A3-8057-17403BBE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140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A3E56D32-7DB7-4F93-B45F-BDEEA060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9 / 38</a:t>
            </a:r>
          </a:p>
        </p:txBody>
      </p:sp>
    </p:spTree>
    <p:extLst>
      <p:ext uri="{BB962C8B-B14F-4D97-AF65-F5344CB8AC3E}">
        <p14:creationId xmlns:p14="http://schemas.microsoft.com/office/powerpoint/2010/main" val="7319044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g2e467bcab5a_2_34">
            <a:extLst xmlns:a="http://schemas.openxmlformats.org/drawingml/2006/main">
              <a:ext uri="{FF2B5EF4-FFF2-40B4-BE49-F238E27FC236}">
                <a16:creationId xmlns:a16="http://schemas.microsoft.com/office/drawing/2014/main" id="{1F4FD04D-6123-402A-9820-A92687E40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整体设计：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数据架构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（DA）</a:t>
            </a:r>
            <a:endParaRPr/>
          </a:p>
        </p:txBody>
      </p:sp>
      <p:sp>
        <p:nvSpPr>
          <p:cNvPr id="143" name="Google Shape;143;g2e467bcab5a_2_34">
            <a:extLst xmlns:a="http://schemas.openxmlformats.org/drawingml/2006/main">
              <a:ext uri="{FF2B5EF4-FFF2-40B4-BE49-F238E27FC236}">
                <a16:creationId xmlns:a16="http://schemas.microsoft.com/office/drawing/2014/main" id="{14A0B287-3A50-447B-9537-EB29BB66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925" y="2052050"/>
            <a:ext cx="8449800" cy="362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定义：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它涉及数据的组织、存储、处理和管理。用于开发、运营人员、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新员工培训。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44" name="Google Shape;144;g2e467bcab5a_2_34">
            <a:extLst xmlns:a="http://schemas.openxmlformats.org/drawingml/2006/main">
              <a:ext uri="{FF2B5EF4-FFF2-40B4-BE49-F238E27FC236}">
                <a16:creationId xmlns:a16="http://schemas.microsoft.com/office/drawing/2014/main" id="{BE6895CD-C040-4036-A282-C8ED601C45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b93fce7a544fbe">
            <a:alphaModFix/>
          </a:blip>
          <a:srcRect xmlns:a="http://schemas.openxmlformats.org/drawingml/2006/main" l="0" t="0" r="-10766" b="-10766"/>
          <a:stretch xmlns:a="http://schemas.openxmlformats.org/drawingml/2006/main"/>
        </p:blipFill>
        <p:spPr>
          <a:xfrm xmlns:a="http://schemas.openxmlformats.org/drawingml/2006/main">
            <a:off x="12296125" y="3095075"/>
            <a:ext cx="11833125" cy="7525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5" name="Google Shape;145;g2e467bcab5a_2_34">
            <a:extLst xmlns:a="http://schemas.openxmlformats.org/drawingml/2006/main">
              <a:ext uri="{FF2B5EF4-FFF2-40B4-BE49-F238E27FC236}">
                <a16:creationId xmlns:a16="http://schemas.microsoft.com/office/drawing/2014/main" id="{39BCBC69-8582-4DCE-A978-26E34C3F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921" y="5027200"/>
            <a:ext cx="8952643" cy="781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3299"/>
          </a:bodyPr>
          <a:lstStyle xmlns:a="http://schemas.openxmlformats.org/drawingml/2006/main">
            <a:defPPr>
              <a:defRPr sz="2700"/>
            </a:defPPr>
          </a:lstStyle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pPr>
            <a:r>
              <a:rPr sz="2700" b="1">
                <a:solidFill>
                  <a:srgbClr val="0000FF"/>
                </a:solidFill>
              </a:rPr>
              <a:t>分层管理</a:t>
            </a:r>
            <a:r>
              <a:rPr sz="2700"/>
              <a:t>：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2700"/>
            </a:pPr>
            <a:r>
              <a:rPr sz="2700"/>
              <a:t>ODS 层：原始数据，如从订单交易数据、用户数据、物流数据。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2700"/>
            </a:pPr>
            <a:r>
              <a:rPr sz="2700"/>
              <a:t>DWD 层：将ODS层的数据进行清洗、去重和基本转换，详细的订单事实表、用户事实表、物流事实表等。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2700"/>
            </a:pPr>
            <a:r>
              <a:rPr sz="2700"/>
              <a:t>DIM 层：存储产品维度表、时间维度表、用户维度表，提供详细描述性信息。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sz="2700"/>
            </a:pPr>
            <a:r>
              <a:rPr sz="2700"/>
              <a:t>APP 层：根据业务需求，将DWD层的数据进行汇总和加工，生成销售报表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46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49418DB3-6855-4743-9297-5A5293E9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47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D37D20E9-A2F3-470F-8C11-0DF5EE4D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148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ECEE7D38-8DCE-4B59-8D63-0A6E99F0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10 / 38</a:t>
            </a:r>
          </a:p>
        </p:txBody>
      </p:sp>
    </p:spTree>
    <p:extLst>
      <p:ext uri="{BB962C8B-B14F-4D97-AF65-F5344CB8AC3E}">
        <p14:creationId xmlns:p14="http://schemas.microsoft.com/office/powerpoint/2010/main" val="15569369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g2e467bcab5a_2_23">
            <a:extLst xmlns:a="http://schemas.openxmlformats.org/drawingml/2006/main">
              <a:ext uri="{FF2B5EF4-FFF2-40B4-BE49-F238E27FC236}">
                <a16:creationId xmlns:a16="http://schemas.microsoft.com/office/drawing/2014/main" id="{5F4AD9B9-34AC-4940-83BE-448537B530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整体设计：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技术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架构（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TA)</a:t>
            </a:r>
            <a:endParaRPr/>
          </a:p>
        </p:txBody>
      </p:sp>
      <p:sp>
        <p:nvSpPr>
          <p:cNvPr id="151" name="Google Shape;151;g2e467bcab5a_2_23">
            <a:extLst xmlns:a="http://schemas.openxmlformats.org/drawingml/2006/main">
              <a:ext uri="{FF2B5EF4-FFF2-40B4-BE49-F238E27FC236}">
                <a16:creationId xmlns:a16="http://schemas.microsoft.com/office/drawing/2014/main" id="{B1656127-2BA2-47BB-B077-C239CE4F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350" y="2823475"/>
            <a:ext cx="6180000" cy="802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定义：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展现一个系统的</a:t>
            </a:r>
            <a:r>
              <a:rPr sz="3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技术选型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、</a:t>
            </a:r>
            <a:r>
              <a:rPr sz="3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组件、模块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其相互关系的图示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使用场景：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为开发团队提供明确的参考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运维与优化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新员工培训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画图技巧: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AutoNum type="arabicPeriod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分层次展示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52" name="Google Shape;152;g2e467bcab5a_2_23">
            <a:extLst xmlns:a="http://schemas.openxmlformats.org/drawingml/2006/main">
              <a:ext uri="{FF2B5EF4-FFF2-40B4-BE49-F238E27FC236}">
                <a16:creationId xmlns:a16="http://schemas.microsoft.com/office/drawing/2014/main" id="{F7F078BC-D429-4DF3-B6EC-6F4EE75366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cc1751c8d426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1350" y="1627602"/>
            <a:ext cx="14716125" cy="10058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3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C1F345AB-AA44-453E-97E1-749D4D1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54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FDBA4568-BD51-4F5C-A5E4-440DF438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155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4E3AFED4-A85B-494F-A521-AC967E15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11 / 38</a:t>
            </a:r>
          </a:p>
        </p:txBody>
      </p:sp>
    </p:spTree>
    <p:extLst>
      <p:ext uri="{BB962C8B-B14F-4D97-AF65-F5344CB8AC3E}">
        <p14:creationId xmlns:p14="http://schemas.microsoft.com/office/powerpoint/2010/main" val="14628357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Google Shape;157;g27299db1fd3_0_32">
            <a:extLst xmlns:a="http://schemas.openxmlformats.org/drawingml/2006/main">
              <a:ext uri="{FF2B5EF4-FFF2-40B4-BE49-F238E27FC236}">
                <a16:creationId xmlns:a16="http://schemas.microsoft.com/office/drawing/2014/main" id="{9A5A7A4C-42D2-46DC-B907-81B71B42BA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整体设计：整体设计的原则</a:t>
            </a:r>
            <a:endParaRPr/>
          </a:p>
        </p:txBody>
      </p:sp>
      <p:pic>
        <p:nvPicPr>
          <p:cNvPr id="158" name="Google Shape;158;g27299db1fd3_0_32">
            <a:extLst xmlns:a="http://schemas.openxmlformats.org/drawingml/2006/main">
              <a:ext uri="{FF2B5EF4-FFF2-40B4-BE49-F238E27FC236}">
                <a16:creationId xmlns:a16="http://schemas.microsoft.com/office/drawing/2014/main" id="{3E14CD54-9865-463D-8A65-1B0F67B0A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f15aacae84b6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8700" y="1486850"/>
            <a:ext cx="20584826" cy="1151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9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916E9B98-6451-4827-99CF-3BE1EF6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60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D43016B1-0F06-4B14-9B86-DD5065F6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161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0DB2BCD2-C5B6-46B8-8871-28B5CE91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12 / 38</a:t>
            </a:r>
          </a:p>
        </p:txBody>
      </p:sp>
    </p:spTree>
    <p:extLst>
      <p:ext uri="{BB962C8B-B14F-4D97-AF65-F5344CB8AC3E}">
        <p14:creationId xmlns:p14="http://schemas.microsoft.com/office/powerpoint/2010/main" val="14402157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g2e4d454a3fe_0_73">
            <a:extLst xmlns:a="http://schemas.openxmlformats.org/drawingml/2006/main">
              <a:ext uri="{FF2B5EF4-FFF2-40B4-BE49-F238E27FC236}">
                <a16:creationId xmlns:a16="http://schemas.microsoft.com/office/drawing/2014/main" id="{66C7BB2D-EFF7-4CF8-B4C7-2E4AF84B84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目录</a:t>
            </a:r>
            <a:endParaRPr/>
          </a:p>
        </p:txBody>
      </p:sp>
      <p:sp>
        <p:nvSpPr>
          <p:cNvPr id="164" name="Google Shape;164;g2e4d454a3fe_0_73">
            <a:extLst xmlns:a="http://schemas.openxmlformats.org/drawingml/2006/main">
              <a:ext uri="{FF2B5EF4-FFF2-40B4-BE49-F238E27FC236}">
                <a16:creationId xmlns:a16="http://schemas.microsoft.com/office/drawing/2014/main" id="{C5C58167-A4FB-4776-B4BD-5037D1CA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975" y="2522475"/>
            <a:ext cx="12816900" cy="790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1.  整体性设计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500"/>
              <a:buFont typeface="Open Sans"/>
              <a:buChar char="❏"/>
            </a:pPr>
            <a:r>
              <a:rPr sz="450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2.  接口设计</a:t>
            </a:r>
            <a:endParaRPr sz="4500">
              <a:solidFill>
                <a:srgbClr val="FF0000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3.  存储设计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4.  缓存设计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5.  异步设计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6. 非功能性设计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accent5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65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BA8D730A-2F96-41F3-AE9A-04792464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66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8E77FBE7-4374-45D6-82A0-219DD5A3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167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B0CED747-DFFB-4203-BB46-35A8C23E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13 / 38</a:t>
            </a:r>
          </a:p>
        </p:txBody>
      </p:sp>
    </p:spTree>
    <p:extLst>
      <p:ext uri="{BB962C8B-B14F-4D97-AF65-F5344CB8AC3E}">
        <p14:creationId xmlns:p14="http://schemas.microsoft.com/office/powerpoint/2010/main" val="1656596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9" name="Google Shape;169;g2e1abbf9ab1_0_41">
            <a:extLst xmlns:a="http://schemas.openxmlformats.org/drawingml/2006/main">
              <a:ext uri="{FF2B5EF4-FFF2-40B4-BE49-F238E27FC236}">
                <a16:creationId xmlns:a16="http://schemas.microsoft.com/office/drawing/2014/main" id="{8F49E517-522A-407A-8714-3D932827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3300" y="6989375"/>
            <a:ext cx="8627100" cy="475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D2E9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70" name="Google Shape;170;g2e1abbf9ab1_0_41">
            <a:extLst xmlns:a="http://schemas.openxmlformats.org/drawingml/2006/main">
              <a:ext uri="{FF2B5EF4-FFF2-40B4-BE49-F238E27FC236}">
                <a16:creationId xmlns:a16="http://schemas.microsoft.com/office/drawing/2014/main" id="{FC11F830-8D4F-4908-B718-7581078E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175" y="6805450"/>
            <a:ext cx="12980400" cy="5097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DAF8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71" name="Google Shape;171;g2e1abbf9ab1_0_41">
            <a:extLst xmlns:a="http://schemas.openxmlformats.org/drawingml/2006/main">
              <a:ext uri="{FF2B5EF4-FFF2-40B4-BE49-F238E27FC236}">
                <a16:creationId xmlns:a16="http://schemas.microsoft.com/office/drawing/2014/main" id="{E63037E4-CFB9-4577-A264-BAAD3C8C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0975" y="1944050"/>
            <a:ext cx="8416500" cy="4335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EAD3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72" name="Google Shape;172;g2e1abbf9ab1_0_41">
            <a:extLst xmlns:a="http://schemas.openxmlformats.org/drawingml/2006/main">
              <a:ext uri="{FF2B5EF4-FFF2-40B4-BE49-F238E27FC236}">
                <a16:creationId xmlns:a16="http://schemas.microsoft.com/office/drawing/2014/main" id="{EE61B942-DA45-4BB6-8A70-FB7E5279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38" y="1944050"/>
            <a:ext cx="13164000" cy="4335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73" name="Google Shape;173;g2e1abbf9ab1_0_41">
            <a:extLst xmlns:a="http://schemas.openxmlformats.org/drawingml/2006/main">
              <a:ext uri="{FF2B5EF4-FFF2-40B4-BE49-F238E27FC236}">
                <a16:creationId xmlns:a16="http://schemas.microsoft.com/office/drawing/2014/main" id="{C841ABB4-36FE-4398-9A56-2BB13A3364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接口设计：尽量使用REST风格的API</a:t>
            </a:r>
            <a:endParaRPr/>
          </a:p>
        </p:txBody>
      </p:sp>
      <p:sp>
        <p:nvSpPr>
          <p:cNvPr id="174" name="Google Shape;174;g2e1abbf9ab1_0_41">
            <a:extLst xmlns:a="http://schemas.openxmlformats.org/drawingml/2006/main">
              <a:ext uri="{FF2B5EF4-FFF2-40B4-BE49-F238E27FC236}">
                <a16:creationId xmlns:a16="http://schemas.microsoft.com/office/drawing/2014/main" id="{1D0ED959-7C20-4AAA-85BA-24300838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3800" y="7216650"/>
            <a:ext cx="8416500" cy="41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</a:rPr>
              <a:t>其它规则</a:t>
            </a:r>
            <a:endParaRPr sz="3000" b="1">
              <a:solidFill>
                <a:srgbClr val="0000FF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应使用连字符（ - ）来提高URI的可读性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路径中避免使用动词，用名词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不得在URI中使用下划线（_）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URI路径中全都使用小写字母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75" name="Google Shape;175;g2e1abbf9ab1_0_41">
            <a:extLst xmlns:a="http://schemas.openxmlformats.org/drawingml/2006/main">
              <a:ext uri="{FF2B5EF4-FFF2-40B4-BE49-F238E27FC236}">
                <a16:creationId xmlns:a16="http://schemas.microsoft.com/office/drawing/2014/main" id="{1A552BBE-AD5A-4BDA-97BA-1A23F80F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363" y="2311925"/>
            <a:ext cx="12833700" cy="415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</a:rPr>
              <a:t>URI 设计</a:t>
            </a:r>
            <a:endParaRPr sz="3000" b="1">
              <a:solidFill>
                <a:srgbClr val="0000FF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 b="1">
                <a:solidFill>
                  <a:schemeClr val="dk1"/>
                </a:solidFill>
              </a:rPr>
              <a:t>Base URL</a:t>
            </a:r>
            <a:r>
              <a:rPr sz="3000">
                <a:solidFill>
                  <a:schemeClr val="dk1"/>
                </a:solidFill>
              </a:rPr>
              <a:t>: 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https://example.domain.com/api</a:t>
            </a:r>
            <a:endParaRPr sz="3000">
              <a:solidFill>
                <a:srgbClr val="188038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 b="1">
                <a:solidFill>
                  <a:schemeClr val="dk1"/>
                </a:solidFill>
              </a:rPr>
              <a:t>分组</a:t>
            </a:r>
            <a:r>
              <a:rPr sz="3000">
                <a:solidFill>
                  <a:schemeClr val="dk1"/>
                </a:solidFill>
              </a:rPr>
              <a:t>: 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group</a:t>
            </a:r>
            <a:r>
              <a:rPr sz="3000">
                <a:solidFill>
                  <a:schemeClr val="dk1"/>
                </a:solidFill>
              </a:rPr>
              <a:t> 用于对API进行分组，通常表示功能模块或业务领域。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 b="1">
                <a:solidFill>
                  <a:schemeClr val="dk1"/>
                </a:solidFill>
              </a:rPr>
              <a:t>版本</a:t>
            </a:r>
            <a:r>
              <a:rPr sz="3000">
                <a:solidFill>
                  <a:schemeClr val="dk1"/>
                </a:solidFill>
              </a:rPr>
              <a:t>: 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version</a:t>
            </a:r>
            <a:r>
              <a:rPr sz="3000">
                <a:solidFill>
                  <a:schemeClr val="dk1"/>
                </a:solidFill>
              </a:rPr>
              <a:t> 用于版本控制，如 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v1</a:t>
            </a:r>
            <a:r>
              <a:rPr sz="3000">
                <a:solidFill>
                  <a:schemeClr val="dk1"/>
                </a:solidFill>
              </a:rPr>
              <a:t>, 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v2</a:t>
            </a:r>
            <a:r>
              <a:rPr sz="3000">
                <a:solidFill>
                  <a:schemeClr val="dk1"/>
                </a:solidFill>
              </a:rPr>
              <a:t>，便于API的演进和向后兼容。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 b="1">
                <a:solidFill>
                  <a:schemeClr val="dk1"/>
                </a:solidFill>
              </a:rPr>
              <a:t>资源</a:t>
            </a:r>
            <a:r>
              <a:rPr sz="3000">
                <a:solidFill>
                  <a:schemeClr val="dk1"/>
                </a:solidFill>
              </a:rPr>
              <a:t>: 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resource</a:t>
            </a:r>
            <a:r>
              <a:rPr sz="3000">
                <a:solidFill>
                  <a:schemeClr val="dk1"/>
                </a:solidFill>
              </a:rPr>
              <a:t> 表示具体的资源，如 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users</a:t>
            </a:r>
            <a:r>
              <a:rPr sz="3000">
                <a:solidFill>
                  <a:schemeClr val="dk1"/>
                </a:solidFill>
              </a:rPr>
              <a:t>, 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orders</a:t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6" name="Google Shape;176;g2e1abbf9ab1_0_41">
            <a:extLst xmlns:a="http://schemas.openxmlformats.org/drawingml/2006/main">
              <a:ext uri="{FF2B5EF4-FFF2-40B4-BE49-F238E27FC236}">
                <a16:creationId xmlns:a16="http://schemas.microsoft.com/office/drawing/2014/main" id="{BAC5CD4F-A887-43E2-9027-2C19D2AA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1675" y="2220250"/>
            <a:ext cx="8075100" cy="36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</a:rPr>
              <a:t>资源命名</a:t>
            </a:r>
            <a:endParaRPr sz="3000" b="1">
              <a:solidFill>
                <a:srgbClr val="0000FF"/>
              </a:solidFill>
            </a:endParaRPr>
          </a:p>
          <a:p xmlns:a="http://schemas.openxmlformats.org/drawingml/2006/main">
            <a:pPr marL="457200" lv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>
                <a:solidFill>
                  <a:schemeClr val="dk1"/>
                </a:solidFill>
              </a:rPr>
              <a:t>区分单复数资源清晰直观。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/api/v1/users</a:t>
            </a:r>
            <a:r>
              <a:rPr sz="3000">
                <a:solidFill>
                  <a:schemeClr val="dk1"/>
                </a:solidFill>
              </a:rPr>
              <a:t> (订单集合)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/api/v1/user</a:t>
            </a:r>
            <a:endParaRPr sz="3000">
              <a:solidFill>
                <a:srgbClr val="188038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7" name="Google Shape;177;g2e1abbf9ab1_0_41">
            <a:extLst xmlns:a="http://schemas.openxmlformats.org/drawingml/2006/main">
              <a:ext uri="{FF2B5EF4-FFF2-40B4-BE49-F238E27FC236}">
                <a16:creationId xmlns:a16="http://schemas.microsoft.com/office/drawing/2014/main" id="{7ACA12F7-5A2C-4087-9AAF-91752592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500" y="7087725"/>
            <a:ext cx="12561000" cy="449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</a:rPr>
              <a:t>使用HTTP方法来表示操作</a:t>
            </a:r>
            <a:r>
              <a:rPr sz="3000">
                <a:solidFill>
                  <a:schemeClr val="dk1"/>
                </a:solidFill>
              </a:rPr>
              <a:t>。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 b="1">
                <a:solidFill>
                  <a:schemeClr val="dk1"/>
                </a:solidFill>
              </a:rPr>
              <a:t>获取所有用户</a:t>
            </a:r>
            <a:r>
              <a:rPr sz="3000">
                <a:solidFill>
                  <a:schemeClr val="dk1"/>
                </a:solidFill>
              </a:rPr>
              <a:t>：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GET /api/v1/users</a:t>
            </a:r>
            <a:endParaRPr sz="3000">
              <a:solidFill>
                <a:srgbClr val="188038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 b="1">
                <a:solidFill>
                  <a:schemeClr val="dk1"/>
                </a:solidFill>
              </a:rPr>
              <a:t>获取特定用户</a:t>
            </a:r>
            <a:r>
              <a:rPr sz="3000">
                <a:solidFill>
                  <a:schemeClr val="dk1"/>
                </a:solidFill>
              </a:rPr>
              <a:t>：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GET /api/v1/users/{id}</a:t>
            </a:r>
            <a:endParaRPr sz="3000">
              <a:solidFill>
                <a:srgbClr val="188038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 b="1">
                <a:solidFill>
                  <a:schemeClr val="dk1"/>
                </a:solidFill>
              </a:rPr>
              <a:t>创建新用户</a:t>
            </a:r>
            <a:r>
              <a:rPr sz="3000">
                <a:solidFill>
                  <a:schemeClr val="dk1"/>
                </a:solidFill>
              </a:rPr>
              <a:t>：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POST /api/v1/users</a:t>
            </a:r>
            <a:endParaRPr sz="3000">
              <a:solidFill>
                <a:srgbClr val="188038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 b="1">
                <a:solidFill>
                  <a:schemeClr val="dk1"/>
                </a:solidFill>
              </a:rPr>
              <a:t>更新用户</a:t>
            </a:r>
            <a:r>
              <a:rPr sz="3000">
                <a:solidFill>
                  <a:schemeClr val="dk1"/>
                </a:solidFill>
              </a:rPr>
              <a:t>：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PUT /api/v1/users/{id}</a:t>
            </a:r>
            <a:endParaRPr sz="3000">
              <a:solidFill>
                <a:srgbClr val="188038"/>
              </a:solidFill>
              <a:latin typeface="Roboto Mono"/>
              <a:ea typeface="Roboto Mono"/>
              <a:cs typeface="Roboto Mono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 b="1">
                <a:solidFill>
                  <a:schemeClr val="dk1"/>
                </a:solidFill>
              </a:rPr>
              <a:t>删除用户</a:t>
            </a:r>
            <a:r>
              <a:rPr sz="3000">
                <a:solidFill>
                  <a:schemeClr val="dk1"/>
                </a:solidFill>
              </a:rPr>
              <a:t>：</a:t>
            </a:r>
            <a:r>
              <a:rPr sz="3000"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DELETE /api/v1/users/{id}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78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37999788-7EC4-4C6E-8B36-1BF69289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79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4BBD223D-8DF0-43BA-B29D-241CB821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180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93C67872-42CD-44E7-AFD8-1E84A8CF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14 / 38</a:t>
            </a:r>
          </a:p>
        </p:txBody>
      </p:sp>
    </p:spTree>
    <p:extLst>
      <p:ext uri="{BB962C8B-B14F-4D97-AF65-F5344CB8AC3E}">
        <p14:creationId xmlns:p14="http://schemas.microsoft.com/office/powerpoint/2010/main" val="17903174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" name="Google Shape;182;g2e287d04861_0_28">
            <a:extLst xmlns:a="http://schemas.openxmlformats.org/drawingml/2006/main">
              <a:ext uri="{FF2B5EF4-FFF2-40B4-BE49-F238E27FC236}">
                <a16:creationId xmlns:a16="http://schemas.microsoft.com/office/drawing/2014/main" id="{330E1715-945D-47E2-96E5-B7D22A7F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5175" y="1865550"/>
            <a:ext cx="5465400" cy="9984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DAF8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83" name="Google Shape;183;g2e287d04861_0_28">
            <a:extLst xmlns:a="http://schemas.openxmlformats.org/drawingml/2006/main">
              <a:ext uri="{FF2B5EF4-FFF2-40B4-BE49-F238E27FC236}">
                <a16:creationId xmlns:a16="http://schemas.microsoft.com/office/drawing/2014/main" id="{855C9C90-8F49-46E3-809C-E8F3D4D2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50" y="1779875"/>
            <a:ext cx="13242900" cy="5382900"/>
          </a:xfrm>
          <a:prstGeom xmlns:a="http://schemas.openxmlformats.org/drawingml/2006/main" prst="round1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84" name="Google Shape;184;g2e287d04861_0_28">
            <a:extLst xmlns:a="http://schemas.openxmlformats.org/drawingml/2006/main">
              <a:ext uri="{FF2B5EF4-FFF2-40B4-BE49-F238E27FC236}">
                <a16:creationId xmlns:a16="http://schemas.microsoft.com/office/drawing/2014/main" id="{BA4895FE-F2C1-4FAC-A69D-5F3A177F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250" y="7803925"/>
            <a:ext cx="13374300" cy="4046400"/>
          </a:xfrm>
          <a:prstGeom xmlns:a="http://schemas.openxmlformats.org/drawingml/2006/main" prst="round1Rect">
            <a:avLst>
              <a:gd name="adj" fmla="val 16667"/>
            </a:avLst>
          </a:prstGeom>
          <a:solidFill xmlns:a="http://schemas.openxmlformats.org/drawingml/2006/main">
            <a:srgbClr val="D9EAD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85" name="Google Shape;185;g2e287d04861_0_28">
            <a:extLst xmlns:a="http://schemas.openxmlformats.org/drawingml/2006/main">
              <a:ext uri="{FF2B5EF4-FFF2-40B4-BE49-F238E27FC236}">
                <a16:creationId xmlns:a16="http://schemas.microsoft.com/office/drawing/2014/main" id="{13E81C8E-BEF0-4957-AF48-9E56077D0B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接口设计 :  统一错误码风格</a:t>
            </a:r>
            <a:endParaRPr/>
          </a:p>
        </p:txBody>
      </p:sp>
      <p:sp>
        <p:nvSpPr>
          <p:cNvPr id="186" name="Google Shape;186;g2e287d04861_0_28">
            <a:extLst xmlns:a="http://schemas.openxmlformats.org/drawingml/2006/main">
              <a:ext uri="{FF2B5EF4-FFF2-40B4-BE49-F238E27FC236}">
                <a16:creationId xmlns:a16="http://schemas.microsoft.com/office/drawing/2014/main" id="{6D3DFBA0-789D-49B1-BE8F-CA5A61D7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725" y="2244925"/>
            <a:ext cx="12188100" cy="484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1.</a:t>
            </a:r>
            <a:r>
              <a:rPr sz="36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始终返回 200 http status code，Body 中包含错误信息</a:t>
            </a:r>
            <a:endParaRPr sz="36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如: Facebook API 的错误 Code 设计，始终返回 200 http status code：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{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 "error": {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   "message": "Syntax error \"Field picture specified more than once. This is only possible before version 2.1\" at character 23: id,name,picture,picture",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   "type": "OAuthException",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   "code": 2500,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   "fbtrace_id": "xxxxxxxxxxx"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 }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}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7" name="Google Shape;187;g2e287d04861_0_28">
            <a:extLst xmlns:a="http://schemas.openxmlformats.org/drawingml/2006/main">
              <a:ext uri="{FF2B5EF4-FFF2-40B4-BE49-F238E27FC236}">
                <a16:creationId xmlns:a16="http://schemas.microsoft.com/office/drawing/2014/main" id="{3209C365-8032-4D8E-A6E0-44D55A95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75" y="8072450"/>
            <a:ext cx="12615900" cy="33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2. </a:t>
            </a: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返回合适的 HTTP Code，并在 Body 中返回详尽的错误信息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HTTP/1.1 400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{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 "code": 100101,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 "message": "Database error",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 "reference": "https://github.com/xx/tree/master/docs/guide/faq/xxxx"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}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8" name="Google Shape;188;g2e287d04861_0_28">
            <a:extLst xmlns:a="http://schemas.openxmlformats.org/drawingml/2006/main">
              <a:ext uri="{FF2B5EF4-FFF2-40B4-BE49-F238E27FC236}">
                <a16:creationId xmlns:a16="http://schemas.microsoft.com/office/drawing/2014/main" id="{DC0B57E2-2F71-4609-9DA5-2EA488E3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1525" y="2354200"/>
            <a:ext cx="4923600" cy="896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业务错误码</a:t>
            </a:r>
            <a:endParaRPr sz="36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AutoNum type="arabicPeriod"/>
            </a:pPr>
            <a:r>
              <a:rPr sz="28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不同部分代表不同的服务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AutoNum type="arabicPeriod"/>
            </a:pPr>
            <a:r>
              <a:rPr sz="28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不同部分代表不同的模块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AutoNum type="arabicPeriod"/>
            </a:pPr>
            <a:r>
              <a:rPr sz="28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不同的品类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例如：</a:t>
            </a:r>
            <a:r>
              <a:rPr sz="28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1000</a:t>
            </a:r>
            <a:r>
              <a:rPr sz="2800" b="1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100</a:t>
            </a:r>
            <a:endParaRPr sz="2800" b="1">
              <a:solidFill>
                <a:srgbClr val="FF0000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Open Sans"/>
              <a:buChar char="-"/>
            </a:pPr>
            <a:r>
              <a:rPr sz="28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模块：1000</a:t>
            </a:r>
            <a:endParaRPr sz="28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800"/>
              <a:buFont typeface="Open Sans"/>
              <a:buChar char="-"/>
            </a:pPr>
            <a:r>
              <a:rPr sz="2800" b="1">
                <a:solidFill>
                  <a:srgbClr val="EE4D2D"/>
                </a:solidFill>
                <a:latin typeface="Open Sans"/>
                <a:ea typeface="Open Sans"/>
                <a:cs typeface="Open Sans"/>
              </a:rPr>
              <a:t>详细错误吗：100</a:t>
            </a:r>
            <a:endParaRPr sz="2800" b="1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使用常用的httpstatus code</a:t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Courier New"/>
                <a:ea typeface="Courier New"/>
                <a:cs typeface="Courier New"/>
              </a:rPr>
              <a:t>200 - 表示请求成功执行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chemeClr val="dk1"/>
                </a:solidFill>
                <a:latin typeface="Courier New"/>
                <a:ea typeface="Courier New"/>
                <a:cs typeface="Courier New"/>
              </a:rPr>
              <a:t>400 - 表示客户端出问题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marR="1143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00">
                <a:solidFill>
                  <a:schemeClr val="dk1"/>
                </a:solidFill>
                <a:latin typeface="Courier New"/>
                <a:ea typeface="Courier New"/>
                <a:cs typeface="Courier New"/>
              </a:rPr>
              <a:t>500 - 表示服务端出问题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9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E44979FD-5547-4289-95EF-8E6EAA92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90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9FFB8A0E-519C-411F-B2AE-6F3D0B0B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191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D0C884A0-BE02-4E7E-AED8-B6123087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15 / 38</a:t>
            </a:r>
          </a:p>
        </p:txBody>
      </p:sp>
    </p:spTree>
    <p:extLst>
      <p:ext uri="{BB962C8B-B14F-4D97-AF65-F5344CB8AC3E}">
        <p14:creationId xmlns:p14="http://schemas.microsoft.com/office/powerpoint/2010/main" val="8705371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3" name="Google Shape;193;g2e489141416_3_23">
            <a:extLst xmlns:a="http://schemas.openxmlformats.org/drawingml/2006/main">
              <a:ext uri="{FF2B5EF4-FFF2-40B4-BE49-F238E27FC236}">
                <a16:creationId xmlns:a16="http://schemas.microsoft.com/office/drawing/2014/main" id="{3927C528-2107-4CA1-A4A5-B7C7CE3E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5902" y="2522475"/>
            <a:ext cx="4156800" cy="8007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DAF8"/>
          </a:solidFill>
          <a:ln xmlns:a="http://schemas.openxmlformats.org/drawingml/2006/main"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94" name="Google Shape;194;g2e489141416_3_23">
            <a:extLst xmlns:a="http://schemas.openxmlformats.org/drawingml/2006/main">
              <a:ext uri="{FF2B5EF4-FFF2-40B4-BE49-F238E27FC236}">
                <a16:creationId xmlns:a16="http://schemas.microsoft.com/office/drawing/2014/main" id="{7AAE381D-E480-49D0-8997-E2EBD5A7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2225" y="2578350"/>
            <a:ext cx="3699600" cy="8007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EAD3"/>
          </a:solidFill>
          <a:ln xmlns:a="http://schemas.openxmlformats.org/drawingml/2006/main" w="9525" cap="flat" cmpd="sng">
            <a:solidFill>
              <a:srgbClr val="D9EAD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95" name="Google Shape;195;g2e489141416_3_23">
            <a:extLst xmlns:a="http://schemas.openxmlformats.org/drawingml/2006/main">
              <a:ext uri="{FF2B5EF4-FFF2-40B4-BE49-F238E27FC236}">
                <a16:creationId xmlns:a16="http://schemas.microsoft.com/office/drawing/2014/main" id="{7D28A6DE-CC00-48DB-A952-1C226C2B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2475"/>
            <a:ext cx="3699600" cy="8007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96" name="Google Shape;196;g2e489141416_3_23">
            <a:extLst xmlns:a="http://schemas.openxmlformats.org/drawingml/2006/main">
              <a:ext uri="{FF2B5EF4-FFF2-40B4-BE49-F238E27FC236}">
                <a16:creationId xmlns:a16="http://schemas.microsoft.com/office/drawing/2014/main" id="{897678DF-5591-4BD2-9F19-61AA202C8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接口设计:  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幂等性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设计（All 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write API)</a:t>
            </a:r>
            <a:endParaRPr/>
          </a:p>
        </p:txBody>
      </p:sp>
      <p:sp>
        <p:nvSpPr>
          <p:cNvPr id="197" name="Google Shape;197;g2e489141416_3_23">
            <a:extLst xmlns:a="http://schemas.openxmlformats.org/drawingml/2006/main">
              <a:ext uri="{FF2B5EF4-FFF2-40B4-BE49-F238E27FC236}">
                <a16:creationId xmlns:a16="http://schemas.microsoft.com/office/drawing/2014/main" id="{C917162F-3A0B-46AD-A5A3-D54C9458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875" y="3393450"/>
            <a:ext cx="5680800" cy="69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D0D0D"/>
                </a:solidFill>
                <a:highlight>
                  <a:srgbClr val="FFFFFF"/>
                </a:highlight>
              </a:rPr>
              <a:t>幂等性</a:t>
            </a:r>
            <a:endParaRPr sz="3000" b="1">
              <a:solidFill>
                <a:srgbClr val="0D0D0D"/>
              </a:solidFill>
              <a:highlight>
                <a:srgbClr val="FFFFFF"/>
              </a:highlight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3000"/>
              <a:buAutoNum type="arabicPeriod"/>
            </a:pPr>
            <a:r>
              <a:rPr sz="3000">
                <a:solidFill>
                  <a:srgbClr val="0D0D0D"/>
                </a:solidFill>
                <a:highlight>
                  <a:srgbClr val="FFFFFF"/>
                </a:highlight>
              </a:rPr>
              <a:t>网络不稳定，接口超时重试</a:t>
            </a:r>
            <a:endParaRPr sz="3000">
              <a:solidFill>
                <a:srgbClr val="0D0D0D"/>
              </a:solidFill>
              <a:highlight>
                <a:srgbClr val="FFFFFF"/>
              </a:highlight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000"/>
              <a:buAutoNum type="arabicPeriod"/>
            </a:pPr>
            <a:r>
              <a:rPr sz="3000">
                <a:solidFill>
                  <a:srgbClr val="0D0D0D"/>
                </a:solidFill>
                <a:highlight>
                  <a:srgbClr val="FFFFFF"/>
                </a:highlight>
              </a:rPr>
              <a:t>用户错误操作带来的重试</a:t>
            </a:r>
            <a:endParaRPr sz="3000">
              <a:solidFill>
                <a:srgbClr val="0D0D0D"/>
              </a:solidFill>
              <a:highlight>
                <a:srgbClr val="FFFFFF"/>
              </a:highlight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000"/>
              <a:buAutoNum type="arabicPeriod"/>
            </a:pPr>
            <a:r>
              <a:rPr sz="3000">
                <a:solidFill>
                  <a:srgbClr val="0D0D0D"/>
                </a:solidFill>
                <a:highlight>
                  <a:srgbClr val="FFFFFF"/>
                </a:highlight>
              </a:rPr>
              <a:t>MQ消息重复消费</a:t>
            </a:r>
            <a:endParaRPr sz="3000">
              <a:solidFill>
                <a:srgbClr val="0D0D0D"/>
              </a:solidFill>
              <a:highlight>
                <a:srgbClr val="FFFFFF"/>
              </a:highlight>
            </a:endParaRPr>
          </a:p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3000" b="1">
              <a:solidFill>
                <a:srgbClr val="0D0D0D"/>
              </a:solidFill>
              <a:highlight>
                <a:schemeClr val="lt1"/>
              </a:highlight>
            </a:endParaRPr>
          </a:p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D0D0D"/>
                </a:solidFill>
                <a:highlight>
                  <a:schemeClr val="lt1"/>
                </a:highlight>
              </a:rPr>
              <a:t>业务场景：</a:t>
            </a:r>
            <a:endParaRPr sz="3000" b="1">
              <a:solidFill>
                <a:srgbClr val="0D0D0D"/>
              </a:solidFill>
              <a:highlight>
                <a:schemeClr val="lt1"/>
              </a:highlight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3000"/>
              <a:buAutoNum type="arabicPeriod"/>
            </a:pPr>
            <a:r>
              <a:rPr sz="3000">
                <a:solidFill>
                  <a:srgbClr val="0D0D0D"/>
                </a:solidFill>
                <a:highlight>
                  <a:schemeClr val="lt1"/>
                </a:highlight>
              </a:rPr>
              <a:t>用户商品上传</a:t>
            </a:r>
            <a:endParaRPr sz="3000">
              <a:solidFill>
                <a:srgbClr val="0D0D0D"/>
              </a:solidFill>
              <a:highlight>
                <a:schemeClr val="lt1"/>
              </a:highlight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000"/>
              <a:buAutoNum type="arabicPeriod"/>
            </a:pPr>
            <a:r>
              <a:rPr sz="3000">
                <a:solidFill>
                  <a:srgbClr val="0D0D0D"/>
                </a:solidFill>
                <a:highlight>
                  <a:schemeClr val="lt1"/>
                </a:highlight>
              </a:rPr>
              <a:t>订单创建、支付等</a:t>
            </a:r>
            <a:endParaRPr sz="3000">
              <a:solidFill>
                <a:srgbClr val="0D0D0D"/>
              </a:solidFill>
              <a:highlight>
                <a:schemeClr val="lt1"/>
              </a:highlight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000"/>
              <a:buAutoNum type="arabicPeriod"/>
            </a:pPr>
            <a:r>
              <a:rPr sz="3000">
                <a:solidFill>
                  <a:srgbClr val="0D0D0D"/>
                </a:solidFill>
                <a:highlight>
                  <a:schemeClr val="lt1"/>
                </a:highlight>
              </a:rPr>
              <a:t>消费MQ，异步发货</a:t>
            </a:r>
            <a:endParaRPr sz="30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98" name="Google Shape;198;g2e489141416_3_23">
            <a:extLst xmlns:a="http://schemas.openxmlformats.org/drawingml/2006/main">
              <a:ext uri="{FF2B5EF4-FFF2-40B4-BE49-F238E27FC236}">
                <a16:creationId xmlns:a16="http://schemas.microsoft.com/office/drawing/2014/main" id="{A84ECBD6-723E-40F3-B4A7-665D0A2F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475" y="3048000"/>
            <a:ext cx="3284400" cy="70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源头   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控制请求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提交动作按钮置灰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及时重定向页面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仅作为辅助方案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99" name="Google Shape;199;g2e489141416_3_23">
            <a:extLst xmlns:a="http://schemas.openxmlformats.org/drawingml/2006/main">
              <a:ext uri="{FF2B5EF4-FFF2-40B4-BE49-F238E27FC236}">
                <a16:creationId xmlns:a16="http://schemas.microsoft.com/office/drawing/2014/main" id="{B9DFA557-2606-48AB-8797-6549A72D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5063" y="2837800"/>
            <a:ext cx="2553900" cy="70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过程中   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过滤重复请求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幂等键：请求参数、设计token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幂等表、去重表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200" name="Google Shape;200;g2e489141416_3_23">
            <a:extLst xmlns:a="http://schemas.openxmlformats.org/drawingml/2006/main">
              <a:ext uri="{FF2B5EF4-FFF2-40B4-BE49-F238E27FC236}">
                <a16:creationId xmlns:a16="http://schemas.microsoft.com/office/drawing/2014/main" id="{C26ED307-0892-4761-8F0D-1D41176F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2475" y="2781925"/>
            <a:ext cx="3699600" cy="562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根本上  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 过滤重复请求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Char char="●"/>
            </a:pPr>
            <a:r>
              <a:rPr sz="3000">
                <a:solidFill>
                  <a:srgbClr val="262626"/>
                </a:solidFill>
              </a:rPr>
              <a:t>唯一约束、唯一键</a:t>
            </a:r>
            <a:endParaRPr sz="3000">
              <a:solidFill>
                <a:srgbClr val="262626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Char char="●"/>
            </a:pPr>
            <a:r>
              <a:rPr sz="3000">
                <a:solidFill>
                  <a:srgbClr val="262626"/>
                </a:solidFill>
              </a:rPr>
              <a:t>乐观锁、状态机，version</a:t>
            </a:r>
            <a:endParaRPr sz="3000">
              <a:solidFill>
                <a:srgbClr val="262626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Char char="●"/>
            </a:pPr>
            <a:r>
              <a:rPr sz="3000">
                <a:solidFill>
                  <a:srgbClr val="262626"/>
                </a:solidFill>
              </a:rPr>
              <a:t> 悲观锁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201" name="Google Shape;201;g2e489141416_3_23">
            <a:extLst xmlns:a="http://schemas.openxmlformats.org/drawingml/2006/main">
              <a:ext uri="{FF2B5EF4-FFF2-40B4-BE49-F238E27FC236}">
                <a16:creationId xmlns:a16="http://schemas.microsoft.com/office/drawing/2014/main" id="{BB0371D2-3356-4B7A-AE50-D3AA1A58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925" y="5885800"/>
            <a:ext cx="1074600" cy="7095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02" name="Google Shape;202;g2e489141416_3_23">
            <a:extLst xmlns:a="http://schemas.openxmlformats.org/drawingml/2006/main">
              <a:ext uri="{FF2B5EF4-FFF2-40B4-BE49-F238E27FC236}">
                <a16:creationId xmlns:a16="http://schemas.microsoft.com/office/drawing/2014/main" id="{31FEC18A-6D80-454D-886E-262C91A7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6563" y="5885800"/>
            <a:ext cx="1074600" cy="7095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03" name="Google Shape;203;g2e489141416_3_23">
            <a:extLst xmlns:a="http://schemas.openxmlformats.org/drawingml/2006/main">
              <a:ext uri="{FF2B5EF4-FFF2-40B4-BE49-F238E27FC236}">
                <a16:creationId xmlns:a16="http://schemas.microsoft.com/office/drawing/2014/main" id="{B22C9A32-857C-4F77-8D45-6B7B57D8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875" y="1764450"/>
            <a:ext cx="7472700" cy="70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 b="1">
                <a:solidFill>
                  <a:schemeClr val="hlink"/>
                </a:solidFill>
                <a:highlight>
                  <a:schemeClr val="lt1"/>
                </a:highlight>
              </a:rPr>
              <a:t>幂等性保证多次调用对资源的影响是一致的</a:t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04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EB22E7FE-8CB0-43A4-AFA8-0CB4401D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05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C2C8A5DF-17C5-48A6-BE8C-74127795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206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D7BCBE6F-36B5-4AA4-9ADF-1E6D761E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16 / 38</a:t>
            </a:r>
          </a:p>
        </p:txBody>
      </p:sp>
    </p:spTree>
    <p:extLst>
      <p:ext uri="{BB962C8B-B14F-4D97-AF65-F5344CB8AC3E}">
        <p14:creationId xmlns:p14="http://schemas.microsoft.com/office/powerpoint/2010/main" val="19237122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8" name="Google Shape;208;g2e467bcab5a_2_86">
            <a:extLst xmlns:a="http://schemas.openxmlformats.org/drawingml/2006/main">
              <a:ext uri="{FF2B5EF4-FFF2-40B4-BE49-F238E27FC236}">
                <a16:creationId xmlns:a16="http://schemas.microsoft.com/office/drawing/2014/main" id="{BEEB3699-4200-4840-9BFE-2C27BE902B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接口设计：接口时序图</a:t>
            </a:r>
            <a:endParaRPr/>
          </a:p>
        </p:txBody>
      </p:sp>
      <p:pic>
        <p:nvPicPr>
          <p:cNvPr id="209" name="Google Shape;209;g2e467bcab5a_2_86">
            <a:extLst xmlns:a="http://schemas.openxmlformats.org/drawingml/2006/main">
              <a:ext uri="{FF2B5EF4-FFF2-40B4-BE49-F238E27FC236}">
                <a16:creationId xmlns:a16="http://schemas.microsoft.com/office/drawing/2014/main" id="{4B2A7049-5EFC-454E-A5C3-7A95F553D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2f0588e76481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7100" y="1842425"/>
            <a:ext cx="14740751" cy="108456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0" name="Google Shape;210;g2e467bcab5a_2_86">
            <a:extLst xmlns:a="http://schemas.openxmlformats.org/drawingml/2006/main">
              <a:ext uri="{FF2B5EF4-FFF2-40B4-BE49-F238E27FC236}">
                <a16:creationId xmlns:a16="http://schemas.microsoft.com/office/drawing/2014/main" id="{54FAAE48-750F-46A7-AAD2-D17177A4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50" y="1859438"/>
            <a:ext cx="6569100" cy="1051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定义：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接口时序图（Sequence Diagram）是一种UML图，用于展示对象之间的交互以及这些交互按时间顺序发生的顺序。时序图能够帮助开发者理解和设计系统中各个组件之间的通信过程。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画图工具：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</a:rPr>
              <a:t>PlantUML</a:t>
            </a:r>
            <a:r>
              <a:rPr sz="3000">
                <a:solidFill>
                  <a:schemeClr val="dk1"/>
                </a:solidFill>
              </a:rPr>
              <a:t>：一个开源工具，通过简单的文本描述来生成UML图，包括时序图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</a:rPr>
              <a:t>Draw.io</a:t>
            </a:r>
            <a:r>
              <a:rPr sz="3000">
                <a:solidFill>
                  <a:schemeClr val="dk1"/>
                </a:solidFill>
              </a:rPr>
              <a:t>：一个免费的在线图表绘制工具，易于使用。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1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CC7B29CA-9AB5-4365-B37A-016F4AB1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12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35076673-57F9-47A3-9F1A-E22729ED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213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758077C2-9B66-4804-B022-19CF5EB6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17 / 38</a:t>
            </a:r>
          </a:p>
        </p:txBody>
      </p:sp>
    </p:spTree>
    <p:extLst>
      <p:ext uri="{BB962C8B-B14F-4D97-AF65-F5344CB8AC3E}">
        <p14:creationId xmlns:p14="http://schemas.microsoft.com/office/powerpoint/2010/main" val="4901529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5" name="Google Shape;215;g272c3bef07d_0_25">
            <a:extLst xmlns:a="http://schemas.openxmlformats.org/drawingml/2006/main">
              <a:ext uri="{FF2B5EF4-FFF2-40B4-BE49-F238E27FC236}">
                <a16:creationId xmlns:a16="http://schemas.microsoft.com/office/drawing/2014/main" id="{205AB53B-708F-4936-B21D-E3E7E304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9613" y="2644050"/>
            <a:ext cx="3520800" cy="6306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DAF8"/>
          </a:solidFill>
          <a:ln xmlns:a="http://schemas.openxmlformats.org/drawingml/2006/main"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16" name="Google Shape;216;g272c3bef07d_0_25">
            <a:extLst xmlns:a="http://schemas.openxmlformats.org/drawingml/2006/main">
              <a:ext uri="{FF2B5EF4-FFF2-40B4-BE49-F238E27FC236}">
                <a16:creationId xmlns:a16="http://schemas.microsoft.com/office/drawing/2014/main" id="{BA95CC65-7037-467B-BF29-B8FF7827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913" y="2657175"/>
            <a:ext cx="3841500" cy="6306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EAD3"/>
          </a:solidFill>
          <a:ln xmlns:a="http://schemas.openxmlformats.org/drawingml/2006/main" w="9525" cap="flat" cmpd="sng">
            <a:solidFill>
              <a:srgbClr val="D9EAD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17" name="Google Shape;217;g272c3bef07d_0_25">
            <a:extLst xmlns:a="http://schemas.openxmlformats.org/drawingml/2006/main">
              <a:ext uri="{FF2B5EF4-FFF2-40B4-BE49-F238E27FC236}">
                <a16:creationId xmlns:a16="http://schemas.microsoft.com/office/drawing/2014/main" id="{73F3C59D-561F-4F1A-9B31-031099E3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913" y="2657175"/>
            <a:ext cx="3520800" cy="6306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rgbClr val="FFF2CC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18" name="Google Shape;218;g272c3bef07d_0_25">
            <a:extLst xmlns:a="http://schemas.openxmlformats.org/drawingml/2006/main">
              <a:ext uri="{FF2B5EF4-FFF2-40B4-BE49-F238E27FC236}">
                <a16:creationId xmlns:a16="http://schemas.microsoft.com/office/drawing/2014/main" id="{DB093A12-0747-40A1-B73F-80E55182F7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接口设计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:   安全性设计</a:t>
            </a:r>
            <a:endParaRPr/>
          </a:p>
        </p:txBody>
      </p:sp>
      <p:sp>
        <p:nvSpPr>
          <p:cNvPr id="219" name="Google Shape;219;g272c3bef07d_0_25">
            <a:extLst xmlns:a="http://schemas.openxmlformats.org/drawingml/2006/main">
              <a:ext uri="{FF2B5EF4-FFF2-40B4-BE49-F238E27FC236}">
                <a16:creationId xmlns:a16="http://schemas.microsoft.com/office/drawing/2014/main" id="{9A059E9C-94C4-4DF9-BA93-A7BAD6BF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388" y="3182700"/>
            <a:ext cx="2997300" cy="52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访问控制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用户鉴权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用户授权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appkey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黑白名单机制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220" name="Google Shape;220;g272c3bef07d_0_25">
            <a:extLst xmlns:a="http://schemas.openxmlformats.org/drawingml/2006/main">
              <a:ext uri="{FF2B5EF4-FFF2-40B4-BE49-F238E27FC236}">
                <a16:creationId xmlns:a16="http://schemas.microsoft.com/office/drawing/2014/main" id="{722168A1-027A-4288-95BD-7B2CE870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587" y="3072675"/>
            <a:ext cx="2997300" cy="52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数据保护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输入参数校验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输出敏感信息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加密、https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221" name="Google Shape;221;g272c3bef07d_0_25">
            <a:extLst xmlns:a="http://schemas.openxmlformats.org/drawingml/2006/main">
              <a:ext uri="{FF2B5EF4-FFF2-40B4-BE49-F238E27FC236}">
                <a16:creationId xmlns:a16="http://schemas.microsoft.com/office/drawing/2014/main" id="{960D574F-8B42-4BE4-ABF5-1E979167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9163" y="3008600"/>
            <a:ext cx="2496300" cy="55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异常处理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Char char="●"/>
            </a:pPr>
            <a:r>
              <a:rPr sz="3000">
                <a:solidFill>
                  <a:srgbClr val="262626"/>
                </a:solidFill>
              </a:rPr>
              <a:t>限流策略</a:t>
            </a:r>
            <a:endParaRPr sz="3000">
              <a:solidFill>
                <a:srgbClr val="262626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Char char="●"/>
            </a:pPr>
            <a:r>
              <a:rPr sz="3000">
                <a:solidFill>
                  <a:srgbClr val="262626"/>
                </a:solidFill>
              </a:rPr>
              <a:t>熔断策略</a:t>
            </a:r>
            <a:endParaRPr sz="3000">
              <a:solidFill>
                <a:srgbClr val="262626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Char char="●"/>
            </a:pPr>
            <a:r>
              <a:rPr sz="3000">
                <a:solidFill>
                  <a:srgbClr val="262626"/>
                </a:solidFill>
              </a:rPr>
              <a:t>降级策略</a:t>
            </a:r>
            <a:endParaRPr sz="3000">
              <a:solidFill>
                <a:srgbClr val="262626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Char char="●"/>
            </a:pPr>
            <a:r>
              <a:rPr sz="3000">
                <a:solidFill>
                  <a:srgbClr val="262626"/>
                </a:solidFill>
              </a:rPr>
              <a:t>隔离</a:t>
            </a:r>
            <a:endParaRPr sz="3000">
              <a:solidFill>
                <a:srgbClr val="262626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Char char="●"/>
            </a:pPr>
            <a:r>
              <a:rPr sz="3000">
                <a:solidFill>
                  <a:srgbClr val="262626"/>
                </a:solidFill>
              </a:rPr>
              <a:t>超时重试</a:t>
            </a:r>
            <a:endParaRPr sz="3000">
              <a:solidFill>
                <a:srgbClr val="262626"/>
              </a:solidFill>
            </a:endParaRPr>
          </a:p>
        </p:txBody>
      </p:sp>
      <p:sp>
        <p:nvSpPr>
          <p:cNvPr id="222" name="Google Shape;222;g272c3bef07d_0_25">
            <a:extLst xmlns:a="http://schemas.openxmlformats.org/drawingml/2006/main">
              <a:ext uri="{FF2B5EF4-FFF2-40B4-BE49-F238E27FC236}">
                <a16:creationId xmlns:a16="http://schemas.microsoft.com/office/drawing/2014/main" id="{540CE29A-82E3-46CB-9C13-131169B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613" y="2642300"/>
            <a:ext cx="3841500" cy="6306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D2E9"/>
          </a:solidFill>
          <a:ln xmlns:a="http://schemas.openxmlformats.org/drawingml/2006/main"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23" name="Google Shape;223;g272c3bef07d_0_25">
            <a:extLst xmlns:a="http://schemas.openxmlformats.org/drawingml/2006/main">
              <a:ext uri="{FF2B5EF4-FFF2-40B4-BE49-F238E27FC236}">
                <a16:creationId xmlns:a16="http://schemas.microsoft.com/office/drawing/2014/main" id="{7933C34B-56E2-4031-A626-2C03BDFE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0163" y="3006850"/>
            <a:ext cx="2496300" cy="55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可观测性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Char char="●"/>
            </a:pPr>
            <a:r>
              <a:rPr sz="3000">
                <a:solidFill>
                  <a:srgbClr val="262626"/>
                </a:solidFill>
              </a:rPr>
              <a:t>监控告警</a:t>
            </a:r>
            <a:endParaRPr sz="3000">
              <a:solidFill>
                <a:srgbClr val="262626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Char char="●"/>
            </a:pPr>
            <a:r>
              <a:rPr sz="3000">
                <a:solidFill>
                  <a:srgbClr val="262626"/>
                </a:solidFill>
              </a:rPr>
              <a:t>审计日志</a:t>
            </a:r>
            <a:endParaRPr sz="3000">
              <a:solidFill>
                <a:srgbClr val="262626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Char char="●"/>
            </a:pPr>
            <a:r>
              <a:rPr sz="3000">
                <a:solidFill>
                  <a:srgbClr val="262626"/>
                </a:solidFill>
              </a:rPr>
              <a:t>tracing</a:t>
            </a:r>
            <a:endParaRPr sz="3000">
              <a:solidFill>
                <a:srgbClr val="262626"/>
              </a:solidFill>
            </a:endParaRPr>
          </a:p>
        </p:txBody>
      </p:sp>
      <p:pic>
        <p:nvPicPr>
          <p:cNvPr id="224" name="Google Shape;224;g272c3bef07d_0_25">
            <a:extLst xmlns:a="http://schemas.openxmlformats.org/drawingml/2006/main">
              <a:ext uri="{FF2B5EF4-FFF2-40B4-BE49-F238E27FC236}">
                <a16:creationId xmlns:a16="http://schemas.microsoft.com/office/drawing/2014/main" id="{F45F1450-2A5C-49ED-A05A-751521B5AB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6ee82c05e4fc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4372" y="9293500"/>
            <a:ext cx="3284326" cy="32843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5" name="Google Shape;225;g272c3bef07d_0_25">
            <a:extLst xmlns:a="http://schemas.openxmlformats.org/drawingml/2006/main">
              <a:ext uri="{FF2B5EF4-FFF2-40B4-BE49-F238E27FC236}">
                <a16:creationId xmlns:a16="http://schemas.microsoft.com/office/drawing/2014/main" id="{CCBF8D28-4619-4664-A1D5-49E966E2B0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4920a9add47b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36550" y="9993050"/>
            <a:ext cx="3324225" cy="1371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6" name="Google Shape;226;g272c3bef07d_0_25">
            <a:extLst xmlns:a="http://schemas.openxmlformats.org/drawingml/2006/main">
              <a:ext uri="{FF2B5EF4-FFF2-40B4-BE49-F238E27FC236}">
                <a16:creationId xmlns:a16="http://schemas.microsoft.com/office/drawing/2014/main" id="{A84B611D-CBA5-4B17-B7F2-D809641EC4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51b5d438b4a8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93838" y="9716825"/>
            <a:ext cx="2371725" cy="192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7" name="Google Shape;227;g272c3bef07d_0_25">
            <a:extLst xmlns:a="http://schemas.openxmlformats.org/drawingml/2006/main">
              <a:ext uri="{FF2B5EF4-FFF2-40B4-BE49-F238E27FC236}">
                <a16:creationId xmlns:a16="http://schemas.microsoft.com/office/drawing/2014/main" id="{AC201ADF-D55D-4AF7-88CD-4BC3728CCB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4f9dee4f2456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58460" y="9966800"/>
            <a:ext cx="1937725" cy="1937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D327A48D-377B-4AD1-B4D6-CEBD6572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29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CF2F2C91-BCEE-4405-B52A-11237459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230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74257556-96E0-414E-9F73-9A7E74BA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18 / 38</a:t>
            </a:r>
          </a:p>
        </p:txBody>
      </p:sp>
    </p:spTree>
    <p:extLst>
      <p:ext uri="{BB962C8B-B14F-4D97-AF65-F5344CB8AC3E}">
        <p14:creationId xmlns:p14="http://schemas.microsoft.com/office/powerpoint/2010/main" val="13684266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Google Shape;232;g2e4d454a3fe_0_78">
            <a:extLst xmlns:a="http://schemas.openxmlformats.org/drawingml/2006/main">
              <a:ext uri="{FF2B5EF4-FFF2-40B4-BE49-F238E27FC236}">
                <a16:creationId xmlns:a16="http://schemas.microsoft.com/office/drawing/2014/main" id="{B28700F7-EF50-4D04-977D-B57765513C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目录</a:t>
            </a:r>
            <a:endParaRPr/>
          </a:p>
        </p:txBody>
      </p:sp>
      <p:sp>
        <p:nvSpPr>
          <p:cNvPr id="233" name="Google Shape;233;g2e4d454a3fe_0_78">
            <a:extLst xmlns:a="http://schemas.openxmlformats.org/drawingml/2006/main">
              <a:ext uri="{FF2B5EF4-FFF2-40B4-BE49-F238E27FC236}">
                <a16:creationId xmlns:a16="http://schemas.microsoft.com/office/drawing/2014/main" id="{C128BEF2-8E20-4E00-BA95-FFE0F72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975" y="2522475"/>
            <a:ext cx="12816900" cy="790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1.  整体性设计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2.  接口设计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4500"/>
              <a:buFont typeface="Open Sans"/>
              <a:buChar char="❏"/>
            </a:pPr>
            <a:r>
              <a:rPr sz="4500">
                <a:solidFill>
                  <a:srgbClr val="EE4D2D"/>
                </a:solidFill>
                <a:latin typeface="Open Sans"/>
                <a:ea typeface="Open Sans"/>
                <a:cs typeface="Open Sans"/>
              </a:rPr>
              <a:t>3.  存储设计</a:t>
            </a:r>
            <a:endParaRPr sz="45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4.  缓存设计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5.  异步设计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6. 非功能性设计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accent5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34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A3F586D3-98D9-4210-A6D8-A4AD4EA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35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CF78E5B0-EAC0-4BBD-82FE-DE7A0459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236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DE0832BF-6FA0-4284-AC98-52682C93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19 / 38</a:t>
            </a:r>
          </a:p>
        </p:txBody>
      </p:sp>
    </p:spTree>
    <p:extLst>
      <p:ext uri="{BB962C8B-B14F-4D97-AF65-F5344CB8AC3E}">
        <p14:creationId xmlns:p14="http://schemas.microsoft.com/office/powerpoint/2010/main" val="4261917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8" name="Google Shape;238;g273267bb69c_0_25">
            <a:extLst xmlns:a="http://schemas.openxmlformats.org/drawingml/2006/main">
              <a:ext uri="{FF2B5EF4-FFF2-40B4-BE49-F238E27FC236}">
                <a16:creationId xmlns:a16="http://schemas.microsoft.com/office/drawing/2014/main" id="{D678ED47-7781-4819-800D-3BE76CFBE7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13f38d4534d8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53950" y="5518312"/>
            <a:ext cx="3352800" cy="2554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9" name="Google Shape;239;g273267bb69c_0_25">
            <a:extLst xmlns:a="http://schemas.openxmlformats.org/drawingml/2006/main">
              <a:ext uri="{FF2B5EF4-FFF2-40B4-BE49-F238E27FC236}">
                <a16:creationId xmlns:a16="http://schemas.microsoft.com/office/drawing/2014/main" id="{A2842F2B-6B82-4382-8CBC-8BEE3D7E5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存储设计：如何选择合适的存储组件</a:t>
            </a:r>
            <a:endParaRPr/>
          </a:p>
        </p:txBody>
      </p:sp>
      <p:pic>
        <p:nvPicPr>
          <p:cNvPr id="240" name="Google Shape;240;g273267bb69c_0_25">
            <a:extLst xmlns:a="http://schemas.openxmlformats.org/drawingml/2006/main">
              <a:ext uri="{FF2B5EF4-FFF2-40B4-BE49-F238E27FC236}">
                <a16:creationId xmlns:a16="http://schemas.microsoft.com/office/drawing/2014/main" id="{41757EF8-DC91-4F2A-8E9F-C526BF87B1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1497c7570446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3788" y="5595014"/>
            <a:ext cx="2533650" cy="2628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1" name="Google Shape;241;g273267bb69c_0_25">
            <a:extLst xmlns:a="http://schemas.openxmlformats.org/drawingml/2006/main">
              <a:ext uri="{FF2B5EF4-FFF2-40B4-BE49-F238E27FC236}">
                <a16:creationId xmlns:a16="http://schemas.microsoft.com/office/drawing/2014/main" id="{C665BF71-F20B-4607-91DE-79C43EE0E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0f9a42cbb400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66688" y="5576364"/>
            <a:ext cx="2343150" cy="2438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2" name="Google Shape;242;g273267bb69c_0_25">
            <a:extLst xmlns:a="http://schemas.openxmlformats.org/drawingml/2006/main">
              <a:ext uri="{FF2B5EF4-FFF2-40B4-BE49-F238E27FC236}">
                <a16:creationId xmlns:a16="http://schemas.microsoft.com/office/drawing/2014/main" id="{B1EAA543-755D-488B-A718-B0E6B6B3C6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6d4359d9348b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95238" y="5471589"/>
            <a:ext cx="1771650" cy="2647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3" name="Google Shape;243;g273267bb69c_0_25">
            <a:extLst xmlns:a="http://schemas.openxmlformats.org/drawingml/2006/main">
              <a:ext uri="{FF2B5EF4-FFF2-40B4-BE49-F238E27FC236}">
                <a16:creationId xmlns:a16="http://schemas.microsoft.com/office/drawing/2014/main" id="{A9DD5D3C-4075-4115-A6E0-96E93C797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e3b2758cf451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3450" y="5661689"/>
            <a:ext cx="2362200" cy="2495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4" name="Google Shape;244;g273267bb69c_0_25">
            <a:extLst xmlns:a="http://schemas.openxmlformats.org/drawingml/2006/main">
              <a:ext uri="{FF2B5EF4-FFF2-40B4-BE49-F238E27FC236}">
                <a16:creationId xmlns:a16="http://schemas.microsoft.com/office/drawing/2014/main" id="{77761A94-6588-4C8E-AA89-0BD71B4B18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0211741a346b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4938" y="5360239"/>
            <a:ext cx="3352800" cy="2590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5" name="Google Shape;245;g273267bb69c_0_25">
            <a:extLst xmlns:a="http://schemas.openxmlformats.org/drawingml/2006/main">
              <a:ext uri="{FF2B5EF4-FFF2-40B4-BE49-F238E27FC236}">
                <a16:creationId xmlns:a16="http://schemas.microsoft.com/office/drawing/2014/main" id="{2D6F312F-A8D0-471F-A6F5-09C8AC71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350" y="1867275"/>
            <a:ext cx="5639400" cy="331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SQL</a:t>
            </a:r>
            <a:endParaRPr sz="36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✅ACID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✅SQL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❌水平扩展性(数据量)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❌可用性(相对)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cxnSp>
        <p:nvCxnSpPr>
          <p:cNvPr id="246" name="Google Shape;246;g273267bb69c_0_25">
            <a:extLst xmlns:a="http://schemas.openxmlformats.org/drawingml/2006/main">
              <a:ext uri="{FF2B5EF4-FFF2-40B4-BE49-F238E27FC236}">
                <a16:creationId xmlns:a16="http://schemas.microsoft.com/office/drawing/2014/main" id="{6D82AB47-DAC6-40D2-B51C-F5D802320A66}"/>
              </a:ext>
            </a:extLst>
          </p:cNvPr>
          <p:cNvCxnSpPr/>
          <p:nvPr/>
        </p:nvCxnSpPr>
        <p:spPr>
          <a:xfrm xmlns:a="http://schemas.openxmlformats.org/drawingml/2006/main">
            <a:off x="4177850" y="5333975"/>
            <a:ext cx="0" cy="38220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g273267bb69c_0_25">
            <a:extLst xmlns:a="http://schemas.openxmlformats.org/drawingml/2006/main">
              <a:ext uri="{FF2B5EF4-FFF2-40B4-BE49-F238E27FC236}">
                <a16:creationId xmlns:a16="http://schemas.microsoft.com/office/drawing/2014/main" id="{B2A0FBBA-6FB1-4A3A-9D4C-0CFF1B3D75B6}"/>
              </a:ext>
            </a:extLst>
          </p:cNvPr>
          <p:cNvCxnSpPr/>
          <p:nvPr/>
        </p:nvCxnSpPr>
        <p:spPr>
          <a:xfrm xmlns:a="http://schemas.openxmlformats.org/drawingml/2006/main">
            <a:off x="19549225" y="5596725"/>
            <a:ext cx="46800" cy="35592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EE4D2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" name="Google Shape;248;g273267bb69c_0_25">
            <a:extLst xmlns:a="http://schemas.openxmlformats.org/drawingml/2006/main">
              <a:ext uri="{FF2B5EF4-FFF2-40B4-BE49-F238E27FC236}">
                <a16:creationId xmlns:a16="http://schemas.microsoft.com/office/drawing/2014/main" id="{08DD7B57-C8A5-431E-8990-40EE4A90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525" y="4452663"/>
            <a:ext cx="2533800" cy="90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rgbClr val="EE4D2D"/>
                </a:solidFill>
                <a:latin typeface="Open Sans"/>
                <a:ea typeface="Open Sans"/>
                <a:cs typeface="Open Sans"/>
              </a:rPr>
              <a:t>       </a:t>
            </a:r>
            <a:endParaRPr sz="3600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49" name="Google Shape;249;g273267bb69c_0_25">
            <a:extLst xmlns:a="http://schemas.openxmlformats.org/drawingml/2006/main">
              <a:ext uri="{FF2B5EF4-FFF2-40B4-BE49-F238E27FC236}">
                <a16:creationId xmlns:a16="http://schemas.microsoft.com/office/drawing/2014/main" id="{95CE757D-D140-48CD-AF9A-71A0A584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2900" y="1948951"/>
            <a:ext cx="5702400" cy="30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No</a:t>
            </a:r>
            <a:r>
              <a:rPr sz="36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SQL</a:t>
            </a:r>
            <a:endParaRPr sz="36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❌</a:t>
            </a: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ACID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❌SQL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✅水平扩展性(数据量）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✅可用性(相对）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0" name="Google Shape;250;g273267bb69c_0_25">
            <a:extLst xmlns:a="http://schemas.openxmlformats.org/drawingml/2006/main">
              <a:ext uri="{FF2B5EF4-FFF2-40B4-BE49-F238E27FC236}">
                <a16:creationId xmlns:a16="http://schemas.microsoft.com/office/drawing/2014/main" id="{1FFC928C-EF9D-4DA1-B664-9ECAF99F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9375" y="1812325"/>
            <a:ext cx="5386500" cy="30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NewSQL</a:t>
            </a:r>
            <a:endParaRPr sz="36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✅ACID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✅SQL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✅水平扩展性(</a:t>
            </a: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数据量）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✅可用性(相对)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1" name="Google Shape;251;g273267bb69c_0_25">
            <a:extLst xmlns:a="http://schemas.openxmlformats.org/drawingml/2006/main">
              <a:ext uri="{FF2B5EF4-FFF2-40B4-BE49-F238E27FC236}">
                <a16:creationId xmlns:a16="http://schemas.microsoft.com/office/drawing/2014/main" id="{9B81C2FE-E3E5-408E-A58D-924835C9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3" y="9155906"/>
            <a:ext cx="2343341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2250"/>
            </a:pPr>
            <a:r>
              <a:rPr sz="2250">
                <a:solidFill>
                  <a:srgbClr val="333333"/>
                </a:solidFill>
              </a:rPr>
              <a:t>常用于构建交易系统,</a:t>
            </a:r>
            <a:r>
              <a:rPr sz="2250">
                <a:solidFill>
                  <a:srgbClr val="333333"/>
                </a:solidFill>
              </a:rPr>
              <a:t>ERP，CRM财务系统等。如</a:t>
            </a:r>
            <a:r>
              <a:rPr sz="2250">
                <a:solidFill>
                  <a:srgbClr val="333333"/>
                </a:solidFill>
              </a:rPr>
              <a:t>MySQL</a:t>
            </a:r>
            <a:endParaRPr sz="2600">
              <a:solidFill>
                <a:srgbClr val="333333"/>
              </a:solidFill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2250"/>
            </a:pPr>
            <a:r>
              <a:rPr sz="2250">
                <a:solidFill>
                  <a:srgbClr val="333333"/>
                </a:solidFill>
              </a:rPr>
              <a:t>PostgreSQL</a:t>
            </a:r>
            <a:endParaRPr sz="2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2" name="Google Shape;252;g273267bb69c_0_25">
            <a:extLst xmlns:a="http://schemas.openxmlformats.org/drawingml/2006/main">
              <a:ext uri="{FF2B5EF4-FFF2-40B4-BE49-F238E27FC236}">
                <a16:creationId xmlns:a16="http://schemas.microsoft.com/office/drawing/2014/main" id="{3F581632-88B5-46A2-97D4-0794FC3B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648" y="9155906"/>
            <a:ext cx="2343341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2250"/>
            </a:pPr>
            <a:r>
              <a:rPr sz="2250">
                <a:solidFill>
                  <a:srgbClr val="333333"/>
                </a:solidFill>
              </a:rPr>
              <a:t>用于存储、检索和管理半结构化数， MongoDB，Elastic Search</a:t>
            </a:r>
            <a:endParaRPr sz="2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3" name="Google Shape;253;g273267bb69c_0_25">
            <a:extLst xmlns:a="http://schemas.openxmlformats.org/drawingml/2006/main">
              <a:ext uri="{FF2B5EF4-FFF2-40B4-BE49-F238E27FC236}">
                <a16:creationId xmlns:a16="http://schemas.microsoft.com/office/drawing/2014/main" id="{330A3817-D3BC-4E7C-B7C8-A5BED644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8781" y="9155906"/>
            <a:ext cx="2643854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2250"/>
            </a:pPr>
            <a:r>
              <a:rPr sz="2250">
                <a:solidFill>
                  <a:srgbClr val="333333"/>
                </a:solidFill>
              </a:rPr>
              <a:t>用于列很多、稀疏数据。例如广告、金融数据分析。Hbase，Cassandra</a:t>
            </a:r>
            <a:endParaRPr sz="2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4" name="Google Shape;254;g273267bb69c_0_25">
            <a:extLst xmlns:a="http://schemas.openxmlformats.org/drawingml/2006/main">
              <a:ext uri="{FF2B5EF4-FFF2-40B4-BE49-F238E27FC236}">
                <a16:creationId xmlns:a16="http://schemas.microsoft.com/office/drawing/2014/main" id="{C5CAF1DF-86BB-4D9A-A281-CEFB59B7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889" y="9155906"/>
            <a:ext cx="253346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2250"/>
            </a:pPr>
            <a:r>
              <a:rPr sz="2250">
                <a:solidFill>
                  <a:srgbClr val="333333"/>
                </a:solidFill>
              </a:rPr>
              <a:t>用于</a:t>
            </a:r>
            <a:r>
              <a:rPr sz="2250">
                <a:solidFill>
                  <a:srgbClr val="333333"/>
                </a:solidFill>
              </a:rPr>
              <a:t>存储和查询和时间序列相关的数据。监控、物联网。例如Prometheus，InfluxDB</a:t>
            </a:r>
            <a:endParaRPr sz="2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5" name="Google Shape;255;g273267bb69c_0_25">
            <a:extLst xmlns:a="http://schemas.openxmlformats.org/drawingml/2006/main">
              <a:ext uri="{FF2B5EF4-FFF2-40B4-BE49-F238E27FC236}">
                <a16:creationId xmlns:a16="http://schemas.microsoft.com/office/drawing/2014/main" id="{E3C2F162-027F-461B-882D-F66F80CD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5248" y="9155906"/>
            <a:ext cx="2343341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2250"/>
            </a:pPr>
            <a:r>
              <a:rPr sz="2250">
                <a:solidFill>
                  <a:srgbClr val="333333"/>
                </a:solidFill>
              </a:rPr>
              <a:t>在社交网络、推荐引擎和欺诈检测等。如Neo4j，Neptune</a:t>
            </a:r>
            <a:endParaRPr sz="2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6" name="Google Shape;256;g273267bb69c_0_25">
            <a:extLst xmlns:a="http://schemas.openxmlformats.org/drawingml/2006/main">
              <a:ext uri="{FF2B5EF4-FFF2-40B4-BE49-F238E27FC236}">
                <a16:creationId xmlns:a16="http://schemas.microsoft.com/office/drawing/2014/main" id="{F98E8088-3BF2-4CAF-A7A1-B3469A6B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2274" y="9155906"/>
            <a:ext cx="2343341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250"/>
            </a:pPr>
            <a:r>
              <a:rPr sz="2250">
                <a:solidFill>
                  <a:srgbClr val="333333"/>
                </a:solidFill>
              </a:rPr>
              <a:t>用于存储、查询和操作高维向量数据，主要用于AI、NLP、推荐等。如Milvus，FAISS。</a:t>
            </a:r>
            <a:endParaRPr sz="2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257" name="Google Shape;257;g273267bb69c_0_25">
            <a:extLst xmlns:a="http://schemas.openxmlformats.org/drawingml/2006/main">
              <a:ext uri="{FF2B5EF4-FFF2-40B4-BE49-F238E27FC236}">
                <a16:creationId xmlns:a16="http://schemas.microsoft.com/office/drawing/2014/main" id="{1186799B-988C-4BA6-BCF3-7A194BBD24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9f0591fc446f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005539" y="5518323"/>
            <a:ext cx="3105039" cy="2554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8" name="Google Shape;258;g273267bb69c_0_25">
            <a:extLst xmlns:a="http://schemas.openxmlformats.org/drawingml/2006/main">
              <a:ext uri="{FF2B5EF4-FFF2-40B4-BE49-F238E27FC236}">
                <a16:creationId xmlns:a16="http://schemas.microsoft.com/office/drawing/2014/main" id="{F56D2D76-14E5-4CF1-B94B-BCF92137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659" y="8986266"/>
            <a:ext cx="33528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2250"/>
            </a:pPr>
            <a:r>
              <a:rPr sz="225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结合RDBMS的 ACID 和 NoSQL的扩展性和性能的新型数据库系统。主要应用大型金融、电子商务系统。如TiDB、Google Spanner等</a:t>
            </a:r>
            <a:endParaRPr sz="2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9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DD0E2632-D9CA-4AFC-A3F2-108BF8FA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60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E2A89F47-0C05-4441-8727-41CFC9D8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261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1EB84ECB-A336-490F-891A-54F675DB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20 / 38</a:t>
            </a:r>
          </a:p>
        </p:txBody>
      </p:sp>
    </p:spTree>
    <p:extLst>
      <p:ext uri="{BB962C8B-B14F-4D97-AF65-F5344CB8AC3E}">
        <p14:creationId xmlns:p14="http://schemas.microsoft.com/office/powerpoint/2010/main" val="4897399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3" name="Google Shape;263;g2e3b2ddbddf_0_44">
            <a:extLst xmlns:a="http://schemas.openxmlformats.org/drawingml/2006/main">
              <a:ext uri="{FF2B5EF4-FFF2-40B4-BE49-F238E27FC236}">
                <a16:creationId xmlns:a16="http://schemas.microsoft.com/office/drawing/2014/main" id="{A464B364-093A-45FD-8B5D-B3B68384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025" y="2075800"/>
            <a:ext cx="9738600" cy="2601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64" name="Google Shape;264;g2e3b2ddbddf_0_44">
            <a:extLst xmlns:a="http://schemas.openxmlformats.org/drawingml/2006/main">
              <a:ext uri="{FF2B5EF4-FFF2-40B4-BE49-F238E27FC236}">
                <a16:creationId xmlns:a16="http://schemas.microsoft.com/office/drawing/2014/main" id="{1832A796-E27F-4AF8-A8C1-92ABD3A996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存储设计：关系型数据建模（data modeling)</a:t>
            </a:r>
            <a:endParaRPr/>
          </a:p>
        </p:txBody>
      </p:sp>
      <p:pic>
        <p:nvPicPr>
          <p:cNvPr id="265" name="Google Shape;265;g2e3b2ddbddf_0_44">
            <a:extLst xmlns:a="http://schemas.openxmlformats.org/drawingml/2006/main">
              <a:ext uri="{FF2B5EF4-FFF2-40B4-BE49-F238E27FC236}">
                <a16:creationId xmlns:a16="http://schemas.microsoft.com/office/drawing/2014/main" id="{20F366EA-EB0A-4134-BA3A-981BBBA4A8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13e0eb096431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96500" y="9469277"/>
            <a:ext cx="7515225" cy="3638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6" name="Google Shape;266;g2e3b2ddbddf_0_44">
            <a:extLst xmlns:a="http://schemas.openxmlformats.org/drawingml/2006/main">
              <a:ext uri="{FF2B5EF4-FFF2-40B4-BE49-F238E27FC236}">
                <a16:creationId xmlns:a16="http://schemas.microsoft.com/office/drawing/2014/main" id="{FC784D9B-8D1E-4114-97E7-DB149975AF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6150fb57f438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66800" y="5019863"/>
            <a:ext cx="7649123" cy="4022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7" name="Google Shape;267;g2e3b2ddbddf_0_44">
            <a:extLst xmlns:a="http://schemas.openxmlformats.org/drawingml/2006/main">
              <a:ext uri="{FF2B5EF4-FFF2-40B4-BE49-F238E27FC236}">
                <a16:creationId xmlns:a16="http://schemas.microsoft.com/office/drawing/2014/main" id="{F91627C0-BE0D-4FC8-986E-87248B38AF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7cc18905843c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01075" y="1632875"/>
            <a:ext cx="7307999" cy="33955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8" name="Google Shape;268;g2e3b2ddbddf_0_44">
            <a:extLst xmlns:a="http://schemas.openxmlformats.org/drawingml/2006/main">
              <a:ext uri="{FF2B5EF4-FFF2-40B4-BE49-F238E27FC236}">
                <a16:creationId xmlns:a16="http://schemas.microsoft.com/office/drawing/2014/main" id="{6F1EBD4A-E90A-43BC-A3A3-F54BCFFD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925" y="2252625"/>
            <a:ext cx="7515300" cy="20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概念模型：</a:t>
            </a:r>
            <a:endParaRPr sz="36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描述业务需求，业务规则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组成部分：描述关键实体、属性、关系</a:t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69" name="Google Shape;269;g2e3b2ddbddf_0_44">
            <a:extLst xmlns:a="http://schemas.openxmlformats.org/drawingml/2006/main">
              <a:ext uri="{FF2B5EF4-FFF2-40B4-BE49-F238E27FC236}">
                <a16:creationId xmlns:a16="http://schemas.microsoft.com/office/drawing/2014/main" id="{9C5C63D4-4DF5-426A-9C32-F73AED8F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025" y="5410925"/>
            <a:ext cx="9738600" cy="3153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EAD3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70" name="Google Shape;270;g2e3b2ddbddf_0_44">
            <a:extLst xmlns:a="http://schemas.openxmlformats.org/drawingml/2006/main">
              <a:ext uri="{FF2B5EF4-FFF2-40B4-BE49-F238E27FC236}">
                <a16:creationId xmlns:a16="http://schemas.microsoft.com/office/drawing/2014/main" id="{9FB1EFD4-870F-44A5-92E5-1825ADCE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950" y="5594475"/>
            <a:ext cx="7515300" cy="278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逻辑</a:t>
            </a:r>
            <a:r>
              <a:rPr sz="36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模型：</a:t>
            </a:r>
            <a:endParaRPr sz="36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具体化概念模型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规范化、3NF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组成：表、数据类型</a:t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71" name="Google Shape;271;g2e3b2ddbddf_0_44">
            <a:extLst xmlns:a="http://schemas.openxmlformats.org/drawingml/2006/main">
              <a:ext uri="{FF2B5EF4-FFF2-40B4-BE49-F238E27FC236}">
                <a16:creationId xmlns:a16="http://schemas.microsoft.com/office/drawing/2014/main" id="{33806DD6-C751-4350-86DC-02DF0D47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225" y="9426275"/>
            <a:ext cx="9738600" cy="3153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DAF8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72" name="Google Shape;272;g2e3b2ddbddf_0_44">
            <a:extLst xmlns:a="http://schemas.openxmlformats.org/drawingml/2006/main">
              <a:ext uri="{FF2B5EF4-FFF2-40B4-BE49-F238E27FC236}">
                <a16:creationId xmlns:a16="http://schemas.microsoft.com/office/drawing/2014/main" id="{1A4D055A-F87D-4779-81A4-1629A0B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50" y="9609825"/>
            <a:ext cx="7515300" cy="278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物理</a:t>
            </a:r>
            <a:r>
              <a:rPr sz="36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模型：</a:t>
            </a:r>
            <a:endParaRPr sz="36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存储细节，分区sharding，分表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存储引擎、列格式、编码方式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主键、外键、约束条件、索引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73" name="Google Shape;273;g2e3b2ddbddf_0_44">
            <a:extLst xmlns:a="http://schemas.openxmlformats.org/drawingml/2006/main">
              <a:ext uri="{FF2B5EF4-FFF2-40B4-BE49-F238E27FC236}">
                <a16:creationId xmlns:a16="http://schemas.microsoft.com/office/drawing/2014/main" id="{BB307BC0-5A87-4A5B-96B5-EFF29422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9238" y="2680150"/>
            <a:ext cx="499200" cy="9380400"/>
          </a:xfrm>
          <a:prstGeom xmlns:a="http://schemas.openxmlformats.org/drawingml/2006/main" prst="down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74" name="Google Shape;274;g2e3b2ddbddf_0_44">
            <a:extLst xmlns:a="http://schemas.openxmlformats.org/drawingml/2006/main">
              <a:ext uri="{FF2B5EF4-FFF2-40B4-BE49-F238E27FC236}">
                <a16:creationId xmlns:a16="http://schemas.microsoft.com/office/drawing/2014/main" id="{8275626D-3056-4159-9FE3-EB23C51C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7650" y="5281450"/>
            <a:ext cx="499200" cy="278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逐级深化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75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650E1BD3-EE01-4EF7-B1EC-8543412E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76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05A22DA4-22F3-4191-B0A1-1511B831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277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9EECC146-24CF-4A35-96FA-050A8307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21 / 38</a:t>
            </a:r>
          </a:p>
        </p:txBody>
      </p:sp>
    </p:spTree>
    <p:extLst>
      <p:ext uri="{BB962C8B-B14F-4D97-AF65-F5344CB8AC3E}">
        <p14:creationId xmlns:p14="http://schemas.microsoft.com/office/powerpoint/2010/main" val="5975158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9" name="Google Shape;279;g2e489141416_3_61">
            <a:extLst xmlns:a="http://schemas.openxmlformats.org/drawingml/2006/main">
              <a:ext uri="{FF2B5EF4-FFF2-40B4-BE49-F238E27FC236}">
                <a16:creationId xmlns:a16="http://schemas.microsoft.com/office/drawing/2014/main" id="{4D69E572-42BF-43F7-B3B2-BC4E1162B0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存储设计：关系型 vs 文档型</a:t>
            </a:r>
            <a:endParaRPr/>
          </a:p>
        </p:txBody>
      </p:sp>
      <p:pic>
        <p:nvPicPr>
          <p:cNvPr id="280" name="Google Shape;280;g2e489141416_3_61">
            <a:extLst xmlns:a="http://schemas.openxmlformats.org/drawingml/2006/main">
              <a:ext uri="{FF2B5EF4-FFF2-40B4-BE49-F238E27FC236}">
                <a16:creationId xmlns:a16="http://schemas.microsoft.com/office/drawing/2014/main" id="{24FCBF55-6ED4-4B09-A1AE-4CC5941245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65a72747b4eb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4050" y="1627600"/>
            <a:ext cx="7762973" cy="6028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2" name="Google Shape;282;g2e489141416_3_61">
            <a:extLst xmlns:a="http://schemas.openxmlformats.org/drawingml/2006/main">
              <a:ext uri="{FF2B5EF4-FFF2-40B4-BE49-F238E27FC236}">
                <a16:creationId xmlns:a16="http://schemas.microsoft.com/office/drawing/2014/main" id="{0AD629B6-95A8-4183-88CF-B865A0FEAC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403d698c248f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5013" y="7656375"/>
            <a:ext cx="8341050" cy="51209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graphicFrame>
        <p:nvGraphicFramePr>
          <p:cNvPr id="283" name="Google Shape;283;g2e489141416_3_61">
            <a:extLst xmlns:a="http://schemas.openxmlformats.org/drawingml/2006/main">
              <a:ext uri="{FF2B5EF4-FFF2-40B4-BE49-F238E27FC236}">
                <a16:creationId xmlns:a16="http://schemas.microsoft.com/office/drawing/2014/main" id="{5B60987E-10FD-4102-8A36-981CBD1F84FE}"/>
              </a:ext>
            </a:extLst>
          </p:cNvPr>
          <p:cNvGraphicFramePr/>
          <p:nvPr/>
        </p:nvGraphicFramePr>
        <p:xfrm>
          <a:off xmlns:a="http://schemas.openxmlformats.org/drawingml/2006/main" x="13540075" y="19463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solidFill>
                  <a:srgbClr val="FFFFFF"/>
                </a:solidFill>
                <a:tableStyleId>{DD9C6449-1BFF-4C50-85C4-B7679297AE5B}</a:tableStyleId>
              </a:tblPr>
              <a:tblGrid>
                <a:gridCol w="2046225"/>
                <a:gridCol w="3283925"/>
                <a:gridCol w="3010900"/>
              </a:tblGrid>
              <a:tr h="109110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 b="1"/>
                        <a:t>文档模型</a:t>
                      </a:r>
                      <a:endParaRPr sz="2800" b="1"/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 b="1"/>
                        <a:t>关系模型</a:t>
                      </a:r>
                      <a:endParaRPr sz="2800" b="1"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2164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600" b="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</a:rPr>
                        <a:t>事务支持</a:t>
                      </a:r>
                      <a:endParaRPr sz="2600" b="1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/>
                        <a:t>不支持</a:t>
                      </a:r>
                      <a:endParaRPr sz="2800"/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/>
                        <a:t>可以</a:t>
                      </a:r>
                      <a:r>
                        <a:rPr sz="2800"/>
                        <a:t>事务性，支持ACID属性</a:t>
                      </a:r>
                      <a:endParaRPr sz="2800"/>
                    </a:p>
                  </a:txBody>
                  <a:tcPr marL="91425" marR="91425" marT="91425" marB="9142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5410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600" b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  <a:t>数据灵活性</a:t>
                      </a:r>
                      <a:endParaRPr sz="2600" b="1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/>
                        <a:t>弱 schema，支持动态增加字段</a:t>
                      </a:r>
                      <a:endParaRPr sz="2800"/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/>
                        <a:t>强 schema，修改 代价很大</a:t>
                      </a:r>
                      <a:endParaRPr sz="2800"/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5410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600" b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  <a:t>对应关系</a:t>
                      </a:r>
                      <a:endParaRPr sz="2600" b="1">
                        <a:solidFill>
                          <a:srgbClr val="0000FF"/>
                        </a:solidFill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600" b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  <a:t>一对多，</a:t>
                      </a:r>
                      <a:endParaRPr sz="2600" b="1">
                        <a:solidFill>
                          <a:srgbClr val="0000FF"/>
                        </a:solidFill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600" b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  <a:t>多对一</a:t>
                      </a:r>
                      <a:endParaRPr sz="2600" b="1">
                        <a:solidFill>
                          <a:srgbClr val="0000FF"/>
                        </a:solidFill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>
                          <a:solidFill>
                            <a:srgbClr val="0000FF"/>
                          </a:solidFill>
                        </a:rPr>
                        <a:t>天然的一对多</a:t>
                      </a:r>
                      <a:endParaRPr sz="2800">
                        <a:solidFill>
                          <a:srgbClr val="0000FF"/>
                        </a:solidFill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>
                          <a:solidFill>
                            <a:srgbClr val="0000FF"/>
                          </a:solidFill>
                        </a:rPr>
                        <a:t>树形嵌套关系</a:t>
                      </a:r>
                      <a:endParaRPr sz="2800">
                        <a:solidFill>
                          <a:srgbClr val="0000FF"/>
                        </a:solidFill>
                      </a:endParaRPr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>
                          <a:solidFill>
                            <a:srgbClr val="0000FF"/>
                          </a:solidFill>
                        </a:rPr>
                        <a:t>通过外键 Join </a:t>
                      </a:r>
                      <a:endParaRPr sz="2800">
                        <a:solidFill>
                          <a:srgbClr val="0000FF"/>
                        </a:solidFill>
                      </a:endParaRPr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5410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600" b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  <a:t>代码简化</a:t>
                      </a:r>
                      <a:endParaRPr sz="2600" b="1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/>
                        <a:t>数据具有文档结构则文档模型天然合适，</a:t>
                      </a:r>
                      <a:endParaRPr sz="2800"/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/>
                        <a:t>主键，索引，条件过滤</a:t>
                      </a:r>
                      <a:endParaRPr sz="2800"/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3517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600" b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  <a:t>Join 支持</a:t>
                      </a:r>
                      <a:endParaRPr sz="2600" b="1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/>
                        <a:t>对 Join 支持的不太好</a:t>
                      </a:r>
                      <a:endParaRPr sz="2800"/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/>
                        <a:t>支持</a:t>
                      </a:r>
                      <a:endParaRPr sz="2800"/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154100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600" b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  <a:t>访问局部性</a:t>
                      </a:r>
                      <a:endParaRPr sz="2600" b="1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/>
                        <a:t>一次性访问整个文档</a:t>
                      </a:r>
                      <a:endParaRPr sz="2800"/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800"/>
                        <a:t>分散在多个表中</a:t>
                      </a:r>
                      <a:endParaRPr sz="2800"/>
                    </a:p>
                  </a:txBody>
                  <a:tcPr marL="123825" marR="123825" marT="57150" marB="57150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284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60A7A389-9A5F-46C5-AD88-F312B505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85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47F5CE6D-D24E-4A0B-B5EB-391A446C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286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48B27CAE-8469-4238-AE3C-49649D6D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22 / 38</a:t>
            </a:r>
          </a:p>
        </p:txBody>
      </p:sp>
    </p:spTree>
    <p:extLst>
      <p:ext uri="{BB962C8B-B14F-4D97-AF65-F5344CB8AC3E}">
        <p14:creationId xmlns:p14="http://schemas.microsoft.com/office/powerpoint/2010/main" val="18949249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Google Shape;288;g29f21f7e370_0_0">
            <a:extLst xmlns:a="http://schemas.openxmlformats.org/drawingml/2006/main">
              <a:ext uri="{FF2B5EF4-FFF2-40B4-BE49-F238E27FC236}">
                <a16:creationId xmlns:a16="http://schemas.microsoft.com/office/drawing/2014/main" id="{1D5A4D5F-EA79-4C6B-B5AB-C1994DBD4F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存储设计：关系型 vs 列示存储</a:t>
            </a:r>
            <a:endParaRPr/>
          </a:p>
        </p:txBody>
      </p:sp>
      <p:sp>
        <p:nvSpPr>
          <p:cNvPr id="289" name="Google Shape;289;g29f21f7e370_0_0">
            <a:extLst xmlns:a="http://schemas.openxmlformats.org/drawingml/2006/main">
              <a:ext uri="{FF2B5EF4-FFF2-40B4-BE49-F238E27FC236}">
                <a16:creationId xmlns:a16="http://schemas.microsoft.com/office/drawing/2014/main" id="{845FCE8E-3FF9-4C00-B1D6-96C3C142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75" y="8021875"/>
            <a:ext cx="6266100" cy="372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什么情况考虑列存储？</a:t>
            </a:r>
            <a:endParaRPr sz="36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marR="0" lvl="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</a:pPr>
            <a:r>
              <a: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列是不固定的</a:t>
            </a:r>
            <a:endParaRPr sz="36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marR="0" lvl="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</a:pPr>
            <a:r>
              <a:rPr sz="3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列更新较多，不是行更新</a:t>
            </a:r>
            <a:endParaRPr sz="36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marR="0" lvl="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行数据稀疏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marR="0" lvl="0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</a:pPr>
            <a:r>
              <a:rPr sz="36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数据量很大</a:t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90" name="Google Shape;290;g29f21f7e370_0_0">
            <a:extLst xmlns:a="http://schemas.openxmlformats.org/drawingml/2006/main">
              <a:ext uri="{FF2B5EF4-FFF2-40B4-BE49-F238E27FC236}">
                <a16:creationId xmlns:a16="http://schemas.microsoft.com/office/drawing/2014/main" id="{EE4E1EC7-D881-4C3C-9758-6CBF74CEB3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acc5afc96431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4013" y="1959025"/>
            <a:ext cx="16387024" cy="60628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1" name="Google Shape;291;g29f21f7e370_0_0">
            <a:extLst xmlns:a="http://schemas.openxmlformats.org/drawingml/2006/main">
              <a:ext uri="{FF2B5EF4-FFF2-40B4-BE49-F238E27FC236}">
                <a16:creationId xmlns:a16="http://schemas.microsoft.com/office/drawing/2014/main" id="{16D1D399-C640-4E9F-8B28-B1846641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950" y="1959025"/>
            <a:ext cx="2898900" cy="10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45720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业务模型</a:t>
            </a:r>
            <a:endParaRPr sz="3600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92" name="Google Shape;292;g29f21f7e370_0_0">
            <a:extLst xmlns:a="http://schemas.openxmlformats.org/drawingml/2006/main">
              <a:ext uri="{FF2B5EF4-FFF2-40B4-BE49-F238E27FC236}">
                <a16:creationId xmlns:a16="http://schemas.microsoft.com/office/drawing/2014/main" id="{791A0490-CF53-4BC3-A09B-E3433D8A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575" y="1816550"/>
            <a:ext cx="2898900" cy="10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45720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关系存储</a:t>
            </a:r>
            <a:endParaRPr sz="3600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93" name="Google Shape;293;g29f21f7e370_0_0">
            <a:extLst xmlns:a="http://schemas.openxmlformats.org/drawingml/2006/main">
              <a:ext uri="{FF2B5EF4-FFF2-40B4-BE49-F238E27FC236}">
                <a16:creationId xmlns:a16="http://schemas.microsoft.com/office/drawing/2014/main" id="{5933BD0D-348C-44E7-A052-9F1FDB11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9650" y="1816550"/>
            <a:ext cx="2898900" cy="10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45720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列示存储</a:t>
            </a:r>
            <a:endParaRPr sz="3600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</p:txBody>
      </p:sp>
      <p:graphicFrame>
        <p:nvGraphicFramePr>
          <p:cNvPr id="294" name="Google Shape;294;g29f21f7e370_0_0">
            <a:extLst xmlns:a="http://schemas.openxmlformats.org/drawingml/2006/main">
              <a:ext uri="{FF2B5EF4-FFF2-40B4-BE49-F238E27FC236}">
                <a16:creationId xmlns:a16="http://schemas.microsoft.com/office/drawing/2014/main" id="{41658261-CB2A-428C-BA06-529572BB521C}"/>
              </a:ext>
            </a:extLst>
          </p:cNvPr>
          <p:cNvGraphicFramePr/>
          <p:nvPr/>
        </p:nvGraphicFramePr>
        <p:xfrm>
          <a:off xmlns:a="http://schemas.openxmlformats.org/drawingml/2006/main" x="9756500" y="8048063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{E8773DA7-163F-4946-AA27-403FBB8085AC}</a:tableStyleId>
              </a:tblPr>
              <a:tblGrid>
                <a:gridCol w="2090775"/>
                <a:gridCol w="2853200"/>
                <a:gridCol w="2616775"/>
                <a:gridCol w="2520250"/>
                <a:gridCol w="2520250"/>
              </a:tblGrid>
              <a:tr h="9432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    数据模型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   扩展性 </a:t>
                      </a:r>
                      <a:endParaRPr sz="3000"/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（数据量）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数据模型</a:t>
                      </a:r>
                      <a:endParaRPr sz="3000"/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灵活性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适用场景</a:t>
                      </a:r>
                      <a:endParaRPr sz="3000"/>
                    </a:p>
                  </a:txBody>
                  <a:tcPr marL="91425" marR="91425" marT="91425" marB="91425"/>
                </a:tc>
              </a:tr>
              <a:tr h="12389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关系型存储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    表格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复杂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差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复杂查询</a:t>
                      </a:r>
                      <a:endParaRPr sz="3000"/>
                    </a:p>
                  </a:txBody>
                  <a:tcPr marL="91425" marR="91425" marT="91425" marB="91425"/>
                </a:tc>
              </a:tr>
              <a:tr h="1336250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列示存储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>
                          <a:solidFill>
                            <a:schemeClr val="dk1"/>
                          </a:solidFill>
                        </a:rPr>
                        <a:t>       </a:t>
                      </a:r>
                      <a:r>
                        <a:rPr sz="3000">
                          <a:solidFill>
                            <a:schemeClr val="dk1"/>
                          </a:solidFill>
                        </a:rPr>
                        <a:t>表格</a:t>
                      </a:r>
                      <a:endParaRPr sz="3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3000">
                          <a:solidFill>
                            <a:schemeClr val="dk1"/>
                          </a:solidFill>
                        </a:rPr>
                        <a:t>（按照列存储）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高度水平扩展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列不固定</a:t>
                      </a:r>
                      <a:endParaRPr sz="3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3000"/>
                        <a:t>简单模型、数据量大</a:t>
                      </a:r>
                      <a:endParaRPr sz="30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295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5E221D78-F706-4BEB-B87B-FB97628F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96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4B50A472-C2E9-4F52-B26F-3C382D20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297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94B35E15-4BCC-49F4-BB1F-B83F7D9C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23 / 38</a:t>
            </a:r>
          </a:p>
        </p:txBody>
      </p:sp>
    </p:spTree>
    <p:extLst>
      <p:ext uri="{BB962C8B-B14F-4D97-AF65-F5344CB8AC3E}">
        <p14:creationId xmlns:p14="http://schemas.microsoft.com/office/powerpoint/2010/main" val="19741305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9" name="Google Shape;299;g2a736d85ff4_0_44">
            <a:extLst xmlns:a="http://schemas.openxmlformats.org/drawingml/2006/main">
              <a:ext uri="{FF2B5EF4-FFF2-40B4-BE49-F238E27FC236}">
                <a16:creationId xmlns:a16="http://schemas.microsoft.com/office/drawing/2014/main" id="{0293E613-0A6E-4C78-9D82-86C77833B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存储设计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：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数据分片 sharding策略 </a:t>
            </a:r>
            <a:endParaRPr/>
          </a:p>
        </p:txBody>
      </p:sp>
      <p:graphicFrame>
        <p:nvGraphicFramePr>
          <p:cNvPr id="300" name="Google Shape;300;g2a736d85ff4_0_44">
            <a:extLst xmlns:a="http://schemas.openxmlformats.org/drawingml/2006/main">
              <a:ext uri="{FF2B5EF4-FFF2-40B4-BE49-F238E27FC236}">
                <a16:creationId xmlns:a16="http://schemas.microsoft.com/office/drawing/2014/main" id="{316AC92F-58F8-491B-A4ED-5CF50AC8E85D}"/>
              </a:ext>
            </a:extLst>
          </p:cNvPr>
          <p:cNvGraphicFramePr/>
          <p:nvPr/>
        </p:nvGraphicFramePr>
        <p:xfrm>
          <a:off xmlns:a="http://schemas.openxmlformats.org/drawingml/2006/main" x="12524400" y="64920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{7B2EF11D-EA40-47A6-A409-CD4BEB9C851F}</a:tableStyleId>
              </a:tblPr>
              <a:tblGrid>
                <a:gridCol w="2614975"/>
                <a:gridCol w="1786375"/>
                <a:gridCol w="2864050"/>
                <a:gridCol w="2212400"/>
              </a:tblGrid>
              <a:tr h="9344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t/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映射关系</a:t>
                      </a:r>
                      <a:endParaRPr sz="28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维护难度</a:t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节点增删数据迁移</a:t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数据动态平衡</a:t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</a:tr>
              <a:tr h="8041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hash 取模</a:t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简单</a:t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数据迁移大</a:t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无</a:t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</a:tr>
              <a:tr h="14023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范围</a:t>
                      </a:r>
                      <a:endParaRPr sz="28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range based</a:t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难</a:t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可以控制数据迁移的范围</a:t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基于数据快是可以做到mongodb</a:t>
                      </a:r>
                      <a:endParaRPr sz="2800" u="none" strike="noStrike" cap="none"/>
                    </a:p>
                  </a:txBody>
                  <a:tcPr marL="91425" marR="91425" marT="91425" marB="91425"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17140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一致性hash</a:t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中</a:t>
                      </a:r>
                      <a:endParaRPr sz="28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 u="none" strike="noStrike" cap="none"/>
                        <a:t>需要迁移的数据较少，所有节点都能贡献部分数据</a:t>
                      </a:r>
                      <a:endParaRPr sz="2800" u="none" strike="noStrike" cap="none"/>
                    </a:p>
                  </a:txBody>
                  <a:tcPr marL="91425" marR="91425" marT="91425" marB="91425">
                    <a:lnR w="9525" cmpd="sng">
                      <a:solidFill>
                        <a:schemeClr val="dk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sz="2800"/>
                        <a:t>可以</a:t>
                      </a:r>
                      <a:endParaRPr sz="2800" u="none" strike="noStrike" cap="none"/>
                    </a:p>
                  </a:txBody>
                  <a:tcPr marL="91425" marR="91425" marT="91425" marB="91425">
                    <a:lnL w="9525" cmpd="sng">
                      <a:solidFill>
                        <a:schemeClr val="dk1"/>
                      </a:solidFill>
                      <a:prstDash val="solid"/>
                    </a:lnL>
                    <a:lnR w="9525" cmpd="sng">
                      <a:solidFill>
                        <a:schemeClr val="dk1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01" name="Google Shape;301;g2a736d85ff4_0_44">
            <a:extLst xmlns:a="http://schemas.openxmlformats.org/drawingml/2006/main">
              <a:ext uri="{FF2B5EF4-FFF2-40B4-BE49-F238E27FC236}">
                <a16:creationId xmlns:a16="http://schemas.microsoft.com/office/drawing/2014/main" id="{9F4DEC70-AA81-4528-820B-46628235C3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102f10c0c48f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2150" y="1875350"/>
            <a:ext cx="11087724" cy="9344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2" name="Google Shape;302;g2a736d85ff4_0_44">
            <a:extLst xmlns:a="http://schemas.openxmlformats.org/drawingml/2006/main">
              <a:ext uri="{FF2B5EF4-FFF2-40B4-BE49-F238E27FC236}">
                <a16:creationId xmlns:a16="http://schemas.microsoft.com/office/drawing/2014/main" id="{76E02501-2004-4F34-A90E-6B62984C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6150" y="1760475"/>
            <a:ext cx="9477900" cy="404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什么时候考虑分表、分库、分实例？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单实例无法存储数据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单实例无法支持读写请求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业务隔离、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分库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单表数量&gt;500w（经验值）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垂直sharding，水平 sharding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03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4F791872-B6D2-4074-BB2C-4DB95A8B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304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A06C3A87-A07F-4A86-9A88-173312D4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305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9E7DF1BC-0F69-4439-A112-BE30E152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24 / 38</a:t>
            </a:r>
          </a:p>
        </p:txBody>
      </p:sp>
    </p:spTree>
    <p:extLst>
      <p:ext uri="{BB962C8B-B14F-4D97-AF65-F5344CB8AC3E}">
        <p14:creationId xmlns:p14="http://schemas.microsoft.com/office/powerpoint/2010/main" val="12561947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" name="Google Shape;307;g261f3becd40_0_2">
            <a:extLst xmlns:a="http://schemas.openxmlformats.org/drawingml/2006/main">
              <a:ext uri="{FF2B5EF4-FFF2-40B4-BE49-F238E27FC236}">
                <a16:creationId xmlns:a16="http://schemas.microsoft.com/office/drawing/2014/main" id="{27C4750B-2AF3-47C4-84C0-9375B9733A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存储设计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：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副本策略</a:t>
            </a:r>
            <a:endParaRPr/>
          </a:p>
        </p:txBody>
      </p:sp>
      <p:sp>
        <p:nvSpPr>
          <p:cNvPr id="308" name="Google Shape;308;g261f3becd40_0_2">
            <a:extLst xmlns:a="http://schemas.openxmlformats.org/drawingml/2006/main">
              <a:ext uri="{FF2B5EF4-FFF2-40B4-BE49-F238E27FC236}">
                <a16:creationId xmlns:a16="http://schemas.microsoft.com/office/drawing/2014/main" id="{EC0877D4-A8F6-43FB-9B5B-6B6DD93C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600" y="1855775"/>
            <a:ext cx="11544300" cy="67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000FF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</a:rPr>
              <a:t>副本策略用于提高可用性和性能</a:t>
            </a:r>
            <a:endParaRPr sz="2800" b="1">
              <a:solidFill>
                <a:srgbClr val="0000FF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457200" marR="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Helvetica Neue"/>
              <a:buAutoNum type="arabicPeriod"/>
            </a:pPr>
            <a:r>
              <a:rPr sz="2800" b="0" i="0" u="none" strike="noStrike" cap="none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</a:rPr>
              <a:t>单领导者，1个或者多个slave</a:t>
            </a:r>
            <a:endParaRPr sz="2800" b="0" i="0" u="none" strike="noStrike" cap="none">
              <a:solidFill>
                <a:srgbClr val="333333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914400" marR="0" lvl="1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Helvetica Neue"/>
              <a:buChar char="○"/>
            </a:pPr>
            <a:r>
              <a:rPr sz="2800" b="0" i="0" u="none" strike="noStrike" cap="none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</a:rPr>
              <a:t>异步复制、半同步复制、同步复制</a:t>
            </a:r>
            <a:endParaRPr sz="2800" b="0" i="0" u="none" strike="noStrike" cap="none">
              <a:solidFill>
                <a:srgbClr val="333333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914400" marR="0" lvl="1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Helvetica Neue"/>
              <a:buChar char="○"/>
            </a:pPr>
            <a:r>
              <a:rPr sz="2800" b="0" i="0" u="none" strike="noStrike" cap="none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</a:rPr>
              <a:t>常见故障，主库失效、从库失效、复制的延时的影响</a:t>
            </a:r>
            <a:endParaRPr sz="2800" b="0" i="0" u="none" strike="noStrike" cap="none">
              <a:solidFill>
                <a:srgbClr val="333333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457200" marR="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Helvetica Neue"/>
              <a:buAutoNum type="arabicPeriod"/>
            </a:pPr>
            <a:r>
              <a:rPr sz="2800" b="0" i="0" u="none" strike="noStrike" cap="none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</a:rPr>
              <a:t>多主复制</a:t>
            </a:r>
            <a:endParaRPr sz="2800" b="0" i="0" u="none" strike="noStrike" cap="none">
              <a:solidFill>
                <a:srgbClr val="333333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914400" marR="0" lvl="1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Helvetica Neue"/>
              <a:buChar char="○"/>
            </a:pPr>
            <a:r>
              <a:rPr sz="2800" b="0" i="0" u="none" strike="noStrike" cap="none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</a:rPr>
              <a:t>用于多数据中心多活、离线客户端等场景</a:t>
            </a:r>
            <a:endParaRPr sz="2800">
              <a:solidFill>
                <a:srgbClr val="333333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914400" marR="0" lvl="1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Helvetica Neue"/>
              <a:buChar char="○"/>
            </a:pPr>
            <a:r>
              <a:rPr sz="2800" b="0" i="0" u="none" strike="noStrike" cap="none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</a:rPr>
              <a:t>避免冲突、</a:t>
            </a:r>
            <a:r>
              <a:rPr sz="2800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</a:rPr>
              <a:t>冲突合并、解决冲突</a:t>
            </a:r>
            <a:endParaRPr sz="2800" b="0" i="0" u="none" strike="noStrike" cap="none">
              <a:solidFill>
                <a:srgbClr val="333333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457200" marR="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sz="2800" b="0" i="0" u="none" strike="noStrike" cap="none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</a:rPr>
              <a:t>无主模式</a:t>
            </a:r>
            <a:endParaRPr sz="2800">
              <a:solidFill>
                <a:srgbClr val="333333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914400" marR="0" lvl="1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○"/>
            </a:pPr>
            <a:r>
              <a:rPr sz="2800" b="0" i="0" u="none" strike="noStrike" cap="none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</a:rPr>
              <a:t>允许任何副本接受写请求</a:t>
            </a:r>
            <a:r>
              <a:rPr sz="2800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</a:rPr>
              <a:t>，</a:t>
            </a:r>
            <a:r>
              <a:rPr sz="2800" b="0" i="0" u="none" strike="noStrike" cap="non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客户端将每个写入发送到几个节点，</a:t>
            </a:r>
            <a:r>
              <a:rPr sz="2800">
                <a:solidFill>
                  <a:srgbClr val="1F2328"/>
                </a:solidFill>
                <a:highlight>
                  <a:srgbClr val="FFFFFF"/>
                </a:highlight>
              </a:rPr>
              <a:t>通过</a:t>
            </a:r>
            <a:r>
              <a:rPr sz="2800" b="0" i="0" u="none" strike="noStrike" cap="non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</a:rPr>
              <a:t>配置法定人数</a:t>
            </a:r>
            <a:r>
              <a:rPr sz="2800">
                <a:solidFill>
                  <a:srgbClr val="1F2328"/>
                </a:solidFill>
                <a:highlight>
                  <a:srgbClr val="FFFFFF"/>
                </a:highlight>
              </a:rPr>
              <a:t>判决数据一致性，例如dynamo</a:t>
            </a:r>
            <a:endParaRPr sz="2800" b="0" i="0" u="none" strike="noStrike" cap="none">
              <a:solidFill>
                <a:srgbClr val="333333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 b="1" i="0" u="none" strike="noStrike" cap="none">
              <a:solidFill>
                <a:srgbClr val="333333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 b="1" i="0" u="none" strike="noStrike" cap="none">
              <a:solidFill>
                <a:srgbClr val="333333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309" name="Google Shape;309;g261f3becd40_0_2">
            <a:extLst xmlns:a="http://schemas.openxmlformats.org/drawingml/2006/main">
              <a:ext uri="{FF2B5EF4-FFF2-40B4-BE49-F238E27FC236}">
                <a16:creationId xmlns:a16="http://schemas.microsoft.com/office/drawing/2014/main" id="{4D858870-21C1-4469-8709-776EF08AE9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9ac65778e04d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09700" y="2364600"/>
            <a:ext cx="12661621" cy="43851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0" name="Google Shape;310;g261f3becd40_0_2">
            <a:extLst xmlns:a="http://schemas.openxmlformats.org/drawingml/2006/main">
              <a:ext uri="{FF2B5EF4-FFF2-40B4-BE49-F238E27FC236}">
                <a16:creationId xmlns:a16="http://schemas.microsoft.com/office/drawing/2014/main" id="{AB0C5B6B-4749-42C4-B4E9-5FB2CA8728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d0d4070f8846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62600" y="8471838"/>
            <a:ext cx="9420582" cy="474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1" name="Google Shape;311;g261f3becd40_0_2">
            <a:extLst xmlns:a="http://schemas.openxmlformats.org/drawingml/2006/main">
              <a:ext uri="{FF2B5EF4-FFF2-40B4-BE49-F238E27FC236}">
                <a16:creationId xmlns:a16="http://schemas.microsoft.com/office/drawing/2014/main" id="{0BD262A6-3A6A-4E65-9E38-40B60B4E2C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b0986f23ac4f9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988975" y="8122425"/>
            <a:ext cx="10703083" cy="4745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2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E5681917-B026-4C5D-AFA0-9C272BD6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313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495FBB8C-9CBE-4132-B995-C0863FEF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314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41BCD5A3-3E89-4DAE-AB95-62230451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25 / 38</a:t>
            </a:r>
          </a:p>
        </p:txBody>
      </p:sp>
    </p:spTree>
    <p:extLst>
      <p:ext uri="{BB962C8B-B14F-4D97-AF65-F5344CB8AC3E}">
        <p14:creationId xmlns:p14="http://schemas.microsoft.com/office/powerpoint/2010/main" val="17094504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6" name="Google Shape;316;g2e4d454a3fe_0_83">
            <a:extLst xmlns:a="http://schemas.openxmlformats.org/drawingml/2006/main">
              <a:ext uri="{FF2B5EF4-FFF2-40B4-BE49-F238E27FC236}">
                <a16:creationId xmlns:a16="http://schemas.microsoft.com/office/drawing/2014/main" id="{7835C341-E7EB-4E0A-B3D8-B9D18B091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目录</a:t>
            </a:r>
            <a:endParaRPr/>
          </a:p>
        </p:txBody>
      </p:sp>
      <p:sp>
        <p:nvSpPr>
          <p:cNvPr id="317" name="Google Shape;317;g2e4d454a3fe_0_83">
            <a:extLst xmlns:a="http://schemas.openxmlformats.org/drawingml/2006/main">
              <a:ext uri="{FF2B5EF4-FFF2-40B4-BE49-F238E27FC236}">
                <a16:creationId xmlns:a16="http://schemas.microsoft.com/office/drawing/2014/main" id="{7B5C2D8E-A472-4942-AB3B-612E0438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975" y="2522475"/>
            <a:ext cx="12816900" cy="790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1.  整体性设计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2.  接口设计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3.  存储设计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4500"/>
              <a:buFont typeface="Open Sans"/>
              <a:buChar char="❏"/>
            </a:pPr>
            <a:r>
              <a:rPr sz="4500">
                <a:solidFill>
                  <a:srgbClr val="EE4D2D"/>
                </a:solidFill>
                <a:latin typeface="Open Sans"/>
                <a:ea typeface="Open Sans"/>
                <a:cs typeface="Open Sans"/>
              </a:rPr>
              <a:t>4.  缓存设计</a:t>
            </a:r>
            <a:endParaRPr sz="45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5.  异步设计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6. 非功能性设计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accent5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18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F878BFFD-2B2E-435B-8C15-9D5AB174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319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29399E3D-6E1C-4EE0-A1D8-B33E370A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320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2FC24146-61DA-42B4-AD1A-A2102B51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26 / 38</a:t>
            </a:r>
          </a:p>
        </p:txBody>
      </p:sp>
    </p:spTree>
    <p:extLst>
      <p:ext uri="{BB962C8B-B14F-4D97-AF65-F5344CB8AC3E}">
        <p14:creationId xmlns:p14="http://schemas.microsoft.com/office/powerpoint/2010/main" val="480139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2" name="Google Shape;322;g272ef0744d3_1_10">
            <a:extLst xmlns:a="http://schemas.openxmlformats.org/drawingml/2006/main">
              <a:ext uri="{FF2B5EF4-FFF2-40B4-BE49-F238E27FC236}">
                <a16:creationId xmlns:a16="http://schemas.microsoft.com/office/drawing/2014/main" id="{BA3FF9F6-DA16-4486-A01F-7F8A628E0C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缓存设计 - Remote、Local、Multilevel Cache</a:t>
            </a:r>
            <a:endParaRPr/>
          </a:p>
        </p:txBody>
      </p:sp>
      <p:pic>
        <p:nvPicPr>
          <p:cNvPr id="324" name="Google Shape;324;g272ef0744d3_1_10">
            <a:extLst xmlns:a="http://schemas.openxmlformats.org/drawingml/2006/main">
              <a:ext uri="{FF2B5EF4-FFF2-40B4-BE49-F238E27FC236}">
                <a16:creationId xmlns:a16="http://schemas.microsoft.com/office/drawing/2014/main" id="{542AB927-5462-46C2-8B15-63C71363D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bf2eb0235459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94925" y="1627600"/>
            <a:ext cx="17839309" cy="5958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5" name="Google Shape;325;g272ef0744d3_1_10">
            <a:extLst xmlns:a="http://schemas.openxmlformats.org/drawingml/2006/main">
              <a:ext uri="{FF2B5EF4-FFF2-40B4-BE49-F238E27FC236}">
                <a16:creationId xmlns:a16="http://schemas.microsoft.com/office/drawing/2014/main" id="{F57D2E0B-0057-4BA8-A3E6-F7951683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625" y="7380675"/>
            <a:ext cx="5945700" cy="519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优点：</a:t>
            </a:r>
            <a:endParaRPr sz="30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多个实例共享缓存，一致性好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简单，缓存服务器扩展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缺点：</a:t>
            </a:r>
            <a:endParaRPr sz="30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网络延迟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使用场景：</a:t>
            </a:r>
            <a:endParaRPr sz="30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缓存最应优先考虑的场景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26" name="Google Shape;326;g272ef0744d3_1_10">
            <a:extLst xmlns:a="http://schemas.openxmlformats.org/drawingml/2006/main">
              <a:ext uri="{FF2B5EF4-FFF2-40B4-BE49-F238E27FC236}">
                <a16:creationId xmlns:a16="http://schemas.microsoft.com/office/drawing/2014/main" id="{BA31CEEF-356E-4492-A760-B7B63CB9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475" y="7165225"/>
            <a:ext cx="6393900" cy="50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优点：</a:t>
            </a:r>
            <a:endParaRPr sz="30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极低的访问延时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缺点：</a:t>
            </a:r>
            <a:endParaRPr sz="30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资源使用大、单实例的内存容量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不同实例之间数据不完全一致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使用场景：</a:t>
            </a:r>
            <a:endParaRPr sz="30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访问量极高、延时要求极高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数据读多，写（更新）少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27" name="Google Shape;327;g272ef0744d3_1_10">
            <a:extLst xmlns:a="http://schemas.openxmlformats.org/drawingml/2006/main">
              <a:ext uri="{FF2B5EF4-FFF2-40B4-BE49-F238E27FC236}">
                <a16:creationId xmlns:a16="http://schemas.microsoft.com/office/drawing/2014/main" id="{87D073E5-1F04-42EA-92C5-1449A5E7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5225" y="7165225"/>
            <a:ext cx="6832500" cy="616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优点：</a:t>
            </a:r>
            <a:endParaRPr sz="30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结合了local和remote的优点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缺点：</a:t>
            </a:r>
            <a:endParaRPr sz="30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复杂，数据更新策略复杂，增加了数据不一致性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使用场景：</a:t>
            </a:r>
            <a:endParaRPr sz="3000" b="1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数据量大，存在明显的热点数据，例如新闻feed流</a:t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28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9686B23F-F44D-413D-B924-A95F7BF0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329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D40F67F3-19EE-4B9E-B661-39585B4B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330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5147DBF0-2039-40E9-AF72-3C96F68C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27 / 38</a:t>
            </a:r>
          </a:p>
        </p:txBody>
      </p:sp>
    </p:spTree>
    <p:extLst>
      <p:ext uri="{BB962C8B-B14F-4D97-AF65-F5344CB8AC3E}">
        <p14:creationId xmlns:p14="http://schemas.microsoft.com/office/powerpoint/2010/main" val="6530909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2" name="Google Shape;332;g272ef0744d3_1_38">
            <a:extLst xmlns:a="http://schemas.openxmlformats.org/drawingml/2006/main">
              <a:ext uri="{FF2B5EF4-FFF2-40B4-BE49-F238E27FC236}">
                <a16:creationId xmlns:a16="http://schemas.microsoft.com/office/drawing/2014/main" id="{A4565BEF-4D1F-4CA4-902C-8762AA283B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缓存设计 - 双buffer vs LRU</a:t>
            </a:r>
            <a:endParaRPr/>
          </a:p>
        </p:txBody>
      </p:sp>
      <p:pic>
        <p:nvPicPr>
          <p:cNvPr id="333" name="Google Shape;333;g272ef0744d3_1_38">
            <a:extLst xmlns:a="http://schemas.openxmlformats.org/drawingml/2006/main">
              <a:ext uri="{FF2B5EF4-FFF2-40B4-BE49-F238E27FC236}">
                <a16:creationId xmlns:a16="http://schemas.microsoft.com/office/drawing/2014/main" id="{B29B6AEB-172C-4C97-8D42-C837380DF6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22c3387bc421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000" y="1627600"/>
            <a:ext cx="18733952" cy="62867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4" name="Google Shape;334;g272ef0744d3_1_38">
            <a:extLst xmlns:a="http://schemas.openxmlformats.org/drawingml/2006/main">
              <a:ext uri="{FF2B5EF4-FFF2-40B4-BE49-F238E27FC236}">
                <a16:creationId xmlns:a16="http://schemas.microsoft.com/office/drawing/2014/main" id="{DB3020A5-0513-4891-AC0E-0EAA235E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925" y="6844300"/>
            <a:ext cx="7987800" cy="504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优点：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通过提前准备数据，减少处理时的延迟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读写分离，性能好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</a:rPr>
              <a:t>缺点：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两份内存开销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</a:rPr>
              <a:t>使用场景：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</a:rPr>
              <a:t>低延时，数据量不太大，对数据一致性要求不高的场景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335" name="Google Shape;335;g272ef0744d3_1_38">
            <a:extLst xmlns:a="http://schemas.openxmlformats.org/drawingml/2006/main">
              <a:ext uri="{FF2B5EF4-FFF2-40B4-BE49-F238E27FC236}">
                <a16:creationId xmlns:a16="http://schemas.microsoft.com/office/drawing/2014/main" id="{8E447BC8-4DB8-4FB2-B253-7F99364F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525" y="7488625"/>
            <a:ext cx="89295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优点：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内存开销小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</a:rPr>
              <a:t>缺点：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并发写加锁，影响读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缓存命中率受size和热点数据影响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</a:rPr>
              <a:t>场景：数据量大，</a:t>
            </a:r>
            <a:r>
              <a:rPr sz="3000">
                <a:solidFill>
                  <a:schemeClr val="dk1"/>
                </a:solidFill>
              </a:rPr>
              <a:t>比较明显的热点数据的场景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336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8FF28F68-119C-4709-B3C0-DBAA37DF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337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74E46ACD-8F96-44F6-8D6F-CAD80D49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338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D3A6F8F1-8C83-47EF-9A62-662BC9F7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28 / 38</a:t>
            </a:r>
          </a:p>
        </p:txBody>
      </p:sp>
    </p:spTree>
    <p:extLst>
      <p:ext uri="{BB962C8B-B14F-4D97-AF65-F5344CB8AC3E}">
        <p14:creationId xmlns:p14="http://schemas.microsoft.com/office/powerpoint/2010/main" val="18152674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0" name="Google Shape;340;g273267bb69c_0_8">
            <a:extLst xmlns:a="http://schemas.openxmlformats.org/drawingml/2006/main">
              <a:ext uri="{FF2B5EF4-FFF2-40B4-BE49-F238E27FC236}">
                <a16:creationId xmlns:a16="http://schemas.microsoft.com/office/drawing/2014/main" id="{1CE582FE-5E6C-485F-909E-90579C348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缓存设计 - 读写模式的选择</a:t>
            </a:r>
            <a:endParaRPr/>
          </a:p>
        </p:txBody>
      </p:sp>
      <p:pic>
        <p:nvPicPr>
          <p:cNvPr id="341" name="Google Shape;341;g273267bb69c_0_8">
            <a:extLst xmlns:a="http://schemas.openxmlformats.org/drawingml/2006/main">
              <a:ext uri="{FF2B5EF4-FFF2-40B4-BE49-F238E27FC236}">
                <a16:creationId xmlns:a16="http://schemas.microsoft.com/office/drawing/2014/main" id="{58C63D71-F6C1-4B39-A137-55C71CA375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dc790034d482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0625" y="1743025"/>
            <a:ext cx="20002325" cy="9257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2" name="Google Shape;342;g273267bb69c_0_8">
            <a:extLst xmlns:a="http://schemas.openxmlformats.org/drawingml/2006/main">
              <a:ext uri="{FF2B5EF4-FFF2-40B4-BE49-F238E27FC236}">
                <a16:creationId xmlns:a16="http://schemas.microsoft.com/office/drawing/2014/main" id="{20D59AB4-81B7-4FBC-973C-46A1E6C6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7050" y="8229125"/>
            <a:ext cx="8835900" cy="3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4191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写请求能不能直接更新存储？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写请求更新存储后，要不要更新cache? update 还是 delete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读请求要不要回源到存储？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TTL设置多少？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43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C54CDEF1-C763-4A7D-9625-181F0DB7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344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D38CE753-CEB1-4793-91FA-010CCC55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345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E6F44B10-30C3-4B9A-B8FD-B7E4BE82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29 / 38</a:t>
            </a:r>
          </a:p>
        </p:txBody>
      </p:sp>
    </p:spTree>
    <p:extLst>
      <p:ext uri="{BB962C8B-B14F-4D97-AF65-F5344CB8AC3E}">
        <p14:creationId xmlns:p14="http://schemas.microsoft.com/office/powerpoint/2010/main" val="122354073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7" name="Google Shape;347;g273267bb69c_0_0">
            <a:extLst xmlns:a="http://schemas.openxmlformats.org/drawingml/2006/main">
              <a:ext uri="{FF2B5EF4-FFF2-40B4-BE49-F238E27FC236}">
                <a16:creationId xmlns:a16="http://schemas.microsoft.com/office/drawing/2014/main" id="{347ADDF4-9CD6-4DC1-98F4-1DFF9B16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9700" y="7757200"/>
            <a:ext cx="7891500" cy="5028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D2E9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48" name="Google Shape;348;g273267bb69c_0_0">
            <a:extLst xmlns:a="http://schemas.openxmlformats.org/drawingml/2006/main">
              <a:ext uri="{FF2B5EF4-FFF2-40B4-BE49-F238E27FC236}">
                <a16:creationId xmlns:a16="http://schemas.microsoft.com/office/drawing/2014/main" id="{376BD242-D09D-4945-8B30-FF433128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300" y="7676675"/>
            <a:ext cx="7891500" cy="5028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DAF8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49" name="Google Shape;349;g273267bb69c_0_0">
            <a:extLst xmlns:a="http://schemas.openxmlformats.org/drawingml/2006/main">
              <a:ext uri="{FF2B5EF4-FFF2-40B4-BE49-F238E27FC236}">
                <a16:creationId xmlns:a16="http://schemas.microsoft.com/office/drawing/2014/main" id="{DD54D671-97A1-4DE8-8754-8F425485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75" y="1932575"/>
            <a:ext cx="8106000" cy="5239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EAD3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50" name="Google Shape;350;g273267bb69c_0_0">
            <a:extLst xmlns:a="http://schemas.openxmlformats.org/drawingml/2006/main">
              <a:ext uri="{FF2B5EF4-FFF2-40B4-BE49-F238E27FC236}">
                <a16:creationId xmlns:a16="http://schemas.microsoft.com/office/drawing/2014/main" id="{7E5731E2-4E43-49B8-A016-63E68A2B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000" y="1932575"/>
            <a:ext cx="7676700" cy="5475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51" name="Google Shape;351;g273267bb69c_0_0">
            <a:extLst xmlns:a="http://schemas.openxmlformats.org/drawingml/2006/main">
              <a:ext uri="{FF2B5EF4-FFF2-40B4-BE49-F238E27FC236}">
                <a16:creationId xmlns:a16="http://schemas.microsoft.com/office/drawing/2014/main" id="{819431BE-F24E-4F35-90EC-4D1E608BC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缓存设计 - 安全性设计</a:t>
            </a:r>
            <a:endParaRPr/>
          </a:p>
        </p:txBody>
      </p:sp>
      <p:sp>
        <p:nvSpPr>
          <p:cNvPr id="352" name="Google Shape;352;g273267bb69c_0_0">
            <a:extLst xmlns:a="http://schemas.openxmlformats.org/drawingml/2006/main">
              <a:ext uri="{FF2B5EF4-FFF2-40B4-BE49-F238E27FC236}">
                <a16:creationId xmlns:a16="http://schemas.microsoft.com/office/drawing/2014/main" id="{5427818D-FD68-4C64-B6C3-CF45B1B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500" y="2218200"/>
            <a:ext cx="6839400" cy="48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4191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AutoNum type="arabicPeriod"/>
            </a:pPr>
            <a:r>
              <a:rPr sz="3000" b="1">
                <a:solidFill>
                  <a:srgbClr val="0000FF"/>
                </a:solidFill>
              </a:rPr>
              <a:t>资源评估指标监控</a:t>
            </a:r>
            <a:endParaRPr sz="3000" b="1">
              <a:solidFill>
                <a:srgbClr val="0000FF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kv size、key、存储量预估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读写峰值预估预估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命中率监控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TTL 过期（分钟级别、小时级别）</a:t>
            </a:r>
            <a:endParaRPr sz="3000"/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设计具有唯一性且可读性的key</a:t>
            </a:r>
            <a:endParaRPr sz="3000"/>
          </a:p>
        </p:txBody>
      </p:sp>
      <p:sp>
        <p:nvSpPr>
          <p:cNvPr id="353" name="Google Shape;353;g273267bb69c_0_0">
            <a:extLst xmlns:a="http://schemas.openxmlformats.org/drawingml/2006/main">
              <a:ext uri="{FF2B5EF4-FFF2-40B4-BE49-F238E27FC236}">
                <a16:creationId xmlns:a16="http://schemas.microsoft.com/office/drawing/2014/main" id="{D830E231-0732-46EF-8FEB-75FBCDFE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000" y="8193500"/>
            <a:ext cx="7061400" cy="45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</a:rPr>
              <a:t>3. 后端存储保护</a:t>
            </a:r>
            <a:endParaRPr sz="3000" b="1">
              <a:solidFill>
                <a:srgbClr val="0000FF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缓存击穿、</a:t>
            </a:r>
            <a:r>
              <a:rPr sz="3000">
                <a:solidFill>
                  <a:schemeClr val="dk1"/>
                </a:solidFill>
              </a:rPr>
              <a:t>缓存雪崩、缓存穿透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访问存储限频率、分布式锁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TTL+random(x)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缓存记录不存在key、bloomfiler等</a:t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54" name="Google Shape;354;g273267bb69c_0_0">
            <a:extLst xmlns:a="http://schemas.openxmlformats.org/drawingml/2006/main">
              <a:ext uri="{FF2B5EF4-FFF2-40B4-BE49-F238E27FC236}">
                <a16:creationId xmlns:a16="http://schemas.microsoft.com/office/drawing/2014/main" id="{3473E7D0-D554-4384-B143-7BBD51AD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8675" y="2144250"/>
            <a:ext cx="7061400" cy="50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</a:rPr>
              <a:t>2. </a:t>
            </a: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热key 和 大key问题？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Hot Key：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创建多个副本，分散不同的节点上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本地缓存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</a:rPr>
              <a:t>Big Key: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缓存结构是否合理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数据压缩、数据拆分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55" name="Google Shape;355;g273267bb69c_0_0">
            <a:extLst xmlns:a="http://schemas.openxmlformats.org/drawingml/2006/main">
              <a:ext uri="{FF2B5EF4-FFF2-40B4-BE49-F238E27FC236}">
                <a16:creationId xmlns:a16="http://schemas.microsoft.com/office/drawing/2014/main" id="{7AB22014-E150-4E1A-A920-4773AEF2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8675" y="8114975"/>
            <a:ext cx="7061400" cy="45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4. 缓存一致性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业务对缓存与存储的不一致的容忍度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合理设置缓存的失效时间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缓存刷新机制，双写、失败、并发控制等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56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E27B665C-5869-4528-8B3C-963A60C8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357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8DAA5BA9-5F17-4253-A0F4-5C0B4D19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358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46326A94-57E1-4611-999B-EF843D53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30 / 38</a:t>
            </a:r>
          </a:p>
        </p:txBody>
      </p:sp>
    </p:spTree>
    <p:extLst>
      <p:ext uri="{BB962C8B-B14F-4D97-AF65-F5344CB8AC3E}">
        <p14:creationId xmlns:p14="http://schemas.microsoft.com/office/powerpoint/2010/main" val="20091078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0" name="Google Shape;360;g2e4d454a3fe_0_88">
            <a:extLst xmlns:a="http://schemas.openxmlformats.org/drawingml/2006/main">
              <a:ext uri="{FF2B5EF4-FFF2-40B4-BE49-F238E27FC236}">
                <a16:creationId xmlns:a16="http://schemas.microsoft.com/office/drawing/2014/main" id="{4A3BBF42-8539-48CA-905A-A10D010B25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目录</a:t>
            </a:r>
            <a:endParaRPr/>
          </a:p>
        </p:txBody>
      </p:sp>
      <p:sp>
        <p:nvSpPr>
          <p:cNvPr id="361" name="Google Shape;361;g2e4d454a3fe_0_88">
            <a:extLst xmlns:a="http://schemas.openxmlformats.org/drawingml/2006/main">
              <a:ext uri="{FF2B5EF4-FFF2-40B4-BE49-F238E27FC236}">
                <a16:creationId xmlns:a16="http://schemas.microsoft.com/office/drawing/2014/main" id="{533A7BCD-AFFF-48F9-8644-A0830A8C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975" y="2522475"/>
            <a:ext cx="12816900" cy="790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1.  整体性设计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2.  接口设计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3.  存储设计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4500"/>
              <a:buFont typeface="Open Sans"/>
              <a:buChar char="❏"/>
            </a:pPr>
            <a:r>
              <a:rPr sz="4500">
                <a:solidFill>
                  <a:srgbClr val="0D0D0D"/>
                </a:solidFill>
                <a:latin typeface="Open Sans"/>
                <a:ea typeface="Open Sans"/>
                <a:cs typeface="Open Sans"/>
              </a:rPr>
              <a:t>4.  缓存设计</a:t>
            </a:r>
            <a:endParaRPr sz="4500">
              <a:solidFill>
                <a:srgbClr val="0D0D0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4500"/>
              <a:buFont typeface="Open Sans"/>
              <a:buChar char="❏"/>
            </a:pPr>
            <a:r>
              <a:rPr sz="4500">
                <a:solidFill>
                  <a:srgbClr val="EE4D2D"/>
                </a:solidFill>
                <a:latin typeface="Open Sans"/>
                <a:ea typeface="Open Sans"/>
                <a:cs typeface="Open Sans"/>
              </a:rPr>
              <a:t>5.  异步设计</a:t>
            </a:r>
            <a:endParaRPr sz="45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6. 非功能性设计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accent5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62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6DEA6750-0B96-47B9-96A3-10F7BB54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363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0F285034-4F1C-43FB-8E0A-4272CA96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364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D0E2180C-3A1B-43C6-9496-CD963C2A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31 / 38</a:t>
            </a:r>
          </a:p>
        </p:txBody>
      </p:sp>
    </p:spTree>
    <p:extLst>
      <p:ext uri="{BB962C8B-B14F-4D97-AF65-F5344CB8AC3E}">
        <p14:creationId xmlns:p14="http://schemas.microsoft.com/office/powerpoint/2010/main" val="12066375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6" name="Google Shape;366;g272c3bef07d_0_144">
            <a:extLst xmlns:a="http://schemas.openxmlformats.org/drawingml/2006/main">
              <a:ext uri="{FF2B5EF4-FFF2-40B4-BE49-F238E27FC236}">
                <a16:creationId xmlns:a16="http://schemas.microsoft.com/office/drawing/2014/main" id="{B23AF08A-719D-49B5-BE23-B49025A870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异步机制设计：异步使用场景</a:t>
            </a:r>
            <a:endParaRPr/>
          </a:p>
        </p:txBody>
      </p:sp>
      <p:sp>
        <p:nvSpPr>
          <p:cNvPr id="367" name="Google Shape;367;g272c3bef07d_0_144">
            <a:extLst xmlns:a="http://schemas.openxmlformats.org/drawingml/2006/main">
              <a:ext uri="{FF2B5EF4-FFF2-40B4-BE49-F238E27FC236}">
                <a16:creationId xmlns:a16="http://schemas.microsoft.com/office/drawing/2014/main" id="{53589DC0-9BE8-40C8-B02E-94017FF3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225" y="2201000"/>
            <a:ext cx="8043600" cy="1033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异步机制的优势：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提高系统吞吐量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平衡流量、消峰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实现服务间的松耦合和高可靠性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失败隔离，自我修复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使用场景：</a:t>
            </a:r>
            <a:endParaRPr sz="3000" b="1">
              <a:solidFill>
                <a:srgbClr val="0000FF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1.第三方服务、异步回调</a:t>
            </a:r>
            <a:endParaRPr sz="3000"/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2.任务队列和后台处理</a:t>
            </a:r>
            <a:r>
              <a:rPr sz="3000">
                <a:solidFill>
                  <a:schemeClr val="dk1"/>
                </a:solidFill>
              </a:rPr>
              <a:t>（一对一）</a:t>
            </a:r>
            <a:endParaRPr sz="3000"/>
          </a:p>
          <a:p xmlns:a="http://schemas.openxmlformats.org/drawingml/2006/main">
            <a:pPr marL="9144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异步处理耗时、不需要即时处理的任务</a:t>
            </a:r>
            <a:endParaRPr sz="3000"/>
          </a:p>
          <a:p xmlns:a="http://schemas.openxmlformats.org/drawingml/2006/main">
            <a:pPr marL="9144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系统中容错和重试</a:t>
            </a:r>
            <a:endParaRPr sz="3000"/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3. 发布和多个订阅（一对多）</a:t>
            </a:r>
            <a:endParaRPr sz="3000"/>
          </a:p>
          <a:p xmlns:a="http://schemas.openxmlformats.org/drawingml/2006/main">
            <a:pPr marL="9144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事件驱动架构</a:t>
            </a:r>
            <a:endParaRPr sz="3000"/>
          </a:p>
          <a:p xmlns:a="http://schemas.openxmlformats.org/drawingml/2006/main">
            <a:pPr marL="9144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sz="3000"/>
              <a:t>数据流式处理和实时计算</a:t>
            </a:r>
            <a:endParaRPr sz="3000"/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/>
              <a:t>4.</a:t>
            </a:r>
            <a:r>
              <a:rPr sz="3000"/>
              <a:t>定时任务调度、延时任务</a:t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368" name="Google Shape;368;g272c3bef07d_0_144">
            <a:extLst xmlns:a="http://schemas.openxmlformats.org/drawingml/2006/main">
              <a:ext uri="{FF2B5EF4-FFF2-40B4-BE49-F238E27FC236}">
                <a16:creationId xmlns:a16="http://schemas.microsoft.com/office/drawing/2014/main" id="{F95A136F-E929-49BA-8EA0-1F61B4ECF5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885e229a54e2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45050" y="1627600"/>
            <a:ext cx="10147849" cy="75284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9" name="Google Shape;369;g272c3bef07d_0_144">
            <a:extLst xmlns:a="http://schemas.openxmlformats.org/drawingml/2006/main">
              <a:ext uri="{FF2B5EF4-FFF2-40B4-BE49-F238E27FC236}">
                <a16:creationId xmlns:a16="http://schemas.microsoft.com/office/drawing/2014/main" id="{1462392B-68A9-4BE5-9F91-66F18EFF32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5c8a7cd39427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7525" y="8539851"/>
            <a:ext cx="11163300" cy="3886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0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F8367C69-4B39-4460-BA03-51DD1F8F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371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9FBDA8A1-22CD-494E-B96D-93BC7F78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372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4F3E9EC8-833A-4A6E-891F-E58C03CF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32 / 38</a:t>
            </a:r>
          </a:p>
        </p:txBody>
      </p:sp>
    </p:spTree>
    <p:extLst>
      <p:ext uri="{BB962C8B-B14F-4D97-AF65-F5344CB8AC3E}">
        <p14:creationId xmlns:p14="http://schemas.microsoft.com/office/powerpoint/2010/main" val="2691231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4" name="Google Shape;374;g2e489141416_3_108">
            <a:extLst xmlns:a="http://schemas.openxmlformats.org/drawingml/2006/main">
              <a:ext uri="{FF2B5EF4-FFF2-40B4-BE49-F238E27FC236}">
                <a16:creationId xmlns:a16="http://schemas.microsoft.com/office/drawing/2014/main" id="{7842E26F-99E8-4D07-BAE1-E9D2C534DF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异步机制设计：任务重试补偿机制</a:t>
            </a:r>
            <a:endParaRPr/>
          </a:p>
        </p:txBody>
      </p:sp>
      <p:sp>
        <p:nvSpPr>
          <p:cNvPr id="375" name="Google Shape;375;g2e489141416_3_108">
            <a:extLst xmlns:a="http://schemas.openxmlformats.org/drawingml/2006/main">
              <a:ext uri="{FF2B5EF4-FFF2-40B4-BE49-F238E27FC236}">
                <a16:creationId xmlns:a16="http://schemas.microsoft.com/office/drawing/2014/main" id="{F78B4A13-0182-4CE4-AAA6-52CFCC48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350" y="2160375"/>
            <a:ext cx="7778700" cy="1084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</a:rPr>
              <a:t>异步机制的缺点</a:t>
            </a:r>
            <a:r>
              <a:rPr sz="3000" b="1">
                <a:solidFill>
                  <a:schemeClr val="dk1"/>
                </a:solidFill>
              </a:rPr>
              <a:t>：</a:t>
            </a:r>
            <a:endParaRPr sz="3000" b="1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异步操作中的错误和异常处理更加复杂，未捕获的异常可能导致任务失败或系统不稳定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 b="1">
                <a:solidFill>
                  <a:schemeClr val="dk1"/>
                </a:solidFill>
              </a:rPr>
              <a:t>丢消息、消息重复消费、消息乱序</a:t>
            </a:r>
            <a:endParaRPr sz="3000" b="1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调试、监控更加复杂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000FF"/>
                </a:solidFill>
              </a:rPr>
              <a:t>解决措施</a:t>
            </a:r>
            <a:r>
              <a:rPr sz="3000">
                <a:solidFill>
                  <a:schemeClr val="dk1"/>
                </a:solidFill>
              </a:rPr>
              <a:t>：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任务重试和补偿、幂等重试、最终一致性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kafka 分区有序性、序列号等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lag异常监控</a:t>
            </a:r>
            <a:endParaRPr sz="3000">
              <a:solidFill>
                <a:schemeClr val="dk1"/>
              </a:solidFill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sz="3000">
                <a:solidFill>
                  <a:schemeClr val="dk1"/>
                </a:solidFill>
              </a:rPr>
              <a:t>全局异常处理机制，记录日志和监控错误，通常需要统一的组件或者基类</a:t>
            </a:r>
            <a:endParaRPr sz="3000" b="1"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376" name="Google Shape;376;g2e489141416_3_108">
            <a:extLst xmlns:a="http://schemas.openxmlformats.org/drawingml/2006/main">
              <a:ext uri="{FF2B5EF4-FFF2-40B4-BE49-F238E27FC236}">
                <a16:creationId xmlns:a16="http://schemas.microsoft.com/office/drawing/2014/main" id="{429AF02B-CEFE-403F-AEFC-E6334FBF5A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6bfac4a8b4d3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36925" y="1631975"/>
            <a:ext cx="13077425" cy="10452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7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376FF56D-2B61-46D1-A604-FC4B037B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378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F3B99091-0A25-4EAD-A728-6CDA92DD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379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BF0F0005-94AA-4D65-A3E6-1A55C104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33 / 38</a:t>
            </a:r>
          </a:p>
        </p:txBody>
      </p:sp>
    </p:spTree>
    <p:extLst>
      <p:ext uri="{BB962C8B-B14F-4D97-AF65-F5344CB8AC3E}">
        <p14:creationId xmlns:p14="http://schemas.microsoft.com/office/powerpoint/2010/main" val="14286850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1" name="Google Shape;381;g2e4d454a3fe_0_93">
            <a:extLst xmlns:a="http://schemas.openxmlformats.org/drawingml/2006/main">
              <a:ext uri="{FF2B5EF4-FFF2-40B4-BE49-F238E27FC236}">
                <a16:creationId xmlns:a16="http://schemas.microsoft.com/office/drawing/2014/main" id="{4022620A-E435-4FFA-9AAC-7B7BB4BD94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目录</a:t>
            </a:r>
            <a:endParaRPr/>
          </a:p>
        </p:txBody>
      </p:sp>
      <p:sp>
        <p:nvSpPr>
          <p:cNvPr id="382" name="Google Shape;382;g2e4d454a3fe_0_93">
            <a:extLst xmlns:a="http://schemas.openxmlformats.org/drawingml/2006/main">
              <a:ext uri="{FF2B5EF4-FFF2-40B4-BE49-F238E27FC236}">
                <a16:creationId xmlns:a16="http://schemas.microsoft.com/office/drawing/2014/main" id="{F5039352-C722-4BFD-9B07-27F4D0E6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750" y="2522475"/>
            <a:ext cx="12816900" cy="790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1.  整体性设计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2.  接口设计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Open Sans"/>
              <a:buChar char="❏"/>
            </a:pPr>
            <a:r>
              <a:rPr sz="45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3.  存储设计</a:t>
            </a:r>
            <a:endParaRPr sz="45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4500"/>
              <a:buFont typeface="Open Sans"/>
              <a:buChar char="❏"/>
            </a:pPr>
            <a:r>
              <a:rPr sz="4500">
                <a:solidFill>
                  <a:srgbClr val="0D0D0D"/>
                </a:solidFill>
                <a:latin typeface="Open Sans"/>
                <a:ea typeface="Open Sans"/>
                <a:cs typeface="Open Sans"/>
              </a:rPr>
              <a:t>4.  缓存设计</a:t>
            </a:r>
            <a:endParaRPr sz="4500">
              <a:solidFill>
                <a:srgbClr val="0D0D0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Open Sans"/>
              <a:buChar char="❏"/>
            </a:pPr>
            <a:r>
              <a:rPr sz="4500">
                <a:latin typeface="Open Sans"/>
                <a:ea typeface="Open Sans"/>
                <a:cs typeface="Open Sans"/>
              </a:rPr>
              <a:t>5.  异步设计</a:t>
            </a:r>
            <a:endParaRPr sz="4500"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51435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500"/>
              <a:buFont typeface="Open Sans"/>
              <a:buChar char="❏"/>
            </a:pPr>
            <a:r>
              <a:rPr sz="450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6. 非功能性设计</a:t>
            </a:r>
            <a:endParaRPr sz="4500">
              <a:solidFill>
                <a:srgbClr val="FF0000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accent5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83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8EFFD57C-CE0D-4DE9-8D90-00A7BD14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384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67F9F31E-57C6-4E51-8659-CD8B954D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385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09565EC8-E267-4D6A-8BE7-81C7A83B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34 / 38</a:t>
            </a:r>
          </a:p>
        </p:txBody>
      </p:sp>
    </p:spTree>
    <p:extLst>
      <p:ext uri="{BB962C8B-B14F-4D97-AF65-F5344CB8AC3E}">
        <p14:creationId xmlns:p14="http://schemas.microsoft.com/office/powerpoint/2010/main" val="71357718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7" name="Google Shape;387;g2e3b2ddbddf_0_52">
            <a:extLst xmlns:a="http://schemas.openxmlformats.org/drawingml/2006/main">
              <a:ext uri="{FF2B5EF4-FFF2-40B4-BE49-F238E27FC236}">
                <a16:creationId xmlns:a16="http://schemas.microsoft.com/office/drawing/2014/main" id="{60D664BA-45E3-43A5-8B93-C8FCE3E8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250" y="7512900"/>
            <a:ext cx="7286700" cy="3643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DAF8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88" name="Google Shape;388;g2e3b2ddbddf_0_52">
            <a:extLst xmlns:a="http://schemas.openxmlformats.org/drawingml/2006/main">
              <a:ext uri="{FF2B5EF4-FFF2-40B4-BE49-F238E27FC236}">
                <a16:creationId xmlns:a16="http://schemas.microsoft.com/office/drawing/2014/main" id="{FB362070-797B-4424-8002-FC01B7FD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725" y="2598613"/>
            <a:ext cx="4691100" cy="4650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EAD3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89" name="Google Shape;389;g2e3b2ddbddf_0_52">
            <a:extLst xmlns:a="http://schemas.openxmlformats.org/drawingml/2006/main">
              <a:ext uri="{FF2B5EF4-FFF2-40B4-BE49-F238E27FC236}">
                <a16:creationId xmlns:a16="http://schemas.microsoft.com/office/drawing/2014/main" id="{76188B8B-8288-4492-8460-118E9659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725" y="2617050"/>
            <a:ext cx="5524500" cy="4650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90" name="Google Shape;390;g2e3b2ddbddf_0_52">
            <a:extLst xmlns:a="http://schemas.openxmlformats.org/drawingml/2006/main">
              <a:ext uri="{FF2B5EF4-FFF2-40B4-BE49-F238E27FC236}">
                <a16:creationId xmlns:a16="http://schemas.microsoft.com/office/drawing/2014/main" id="{B875FECA-4877-48AD-9AF8-7639E53E56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非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功能性需求和权衡</a:t>
            </a:r>
            <a:endParaRPr/>
          </a:p>
        </p:txBody>
      </p:sp>
      <p:pic>
        <p:nvPicPr>
          <p:cNvPr id="391" name="Google Shape;391;g2e3b2ddbddf_0_52">
            <a:extLst xmlns:a="http://schemas.openxmlformats.org/drawingml/2006/main">
              <a:ext uri="{FF2B5EF4-FFF2-40B4-BE49-F238E27FC236}">
                <a16:creationId xmlns:a16="http://schemas.microsoft.com/office/drawing/2014/main" id="{8CBB89B0-8FD5-4B1E-944A-9675642F1F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ec7746c8b45c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84825" y="2637338"/>
            <a:ext cx="9589226" cy="84413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2" name="Google Shape;392;g2e3b2ddbddf_0_52">
            <a:extLst xmlns:a="http://schemas.openxmlformats.org/drawingml/2006/main">
              <a:ext uri="{FF2B5EF4-FFF2-40B4-BE49-F238E27FC236}">
                <a16:creationId xmlns:a16="http://schemas.microsoft.com/office/drawing/2014/main" id="{B1B159BA-0953-4EB4-A803-8D40F913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925" y="2905400"/>
            <a:ext cx="5310300" cy="41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用户角度：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安全性 (security)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易用性 (usability）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可用性 (availability）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性能 (performance)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用户体验(user Experience)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93" name="Google Shape;393;g2e3b2ddbddf_0_52">
            <a:extLst xmlns:a="http://schemas.openxmlformats.org/drawingml/2006/main">
              <a:ext uri="{FF2B5EF4-FFF2-40B4-BE49-F238E27FC236}">
                <a16:creationId xmlns:a16="http://schemas.microsoft.com/office/drawing/2014/main" id="{74D195E2-F95F-4832-858C-D96261AB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925" y="7554575"/>
            <a:ext cx="6509400" cy="34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开发者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角度：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可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维护性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(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Maintainability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)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可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扩展性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(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scalabity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），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灵活性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可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测试性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(T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estability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）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代码质量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94" name="Google Shape;394;g2e3b2ddbddf_0_52">
            <a:extLst xmlns:a="http://schemas.openxmlformats.org/drawingml/2006/main">
              <a:ext uri="{FF2B5EF4-FFF2-40B4-BE49-F238E27FC236}">
                <a16:creationId xmlns:a16="http://schemas.microsoft.com/office/drawing/2014/main" id="{9466B039-BBD3-48E8-84E8-D729C9BC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550" y="2944113"/>
            <a:ext cx="3848100" cy="29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业务</a:t>
            </a: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角度：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成本（cost)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效率，时间（time)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-4191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sz="3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资源使用率</a:t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4572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95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8A7F08C7-3DC2-4F37-801F-4CA84CFB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396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2D7C0D10-B919-4D1A-9342-9EB0059A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397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46F1B63A-5E1B-4366-A002-BEB40E9D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35 / 38</a:t>
            </a:r>
          </a:p>
        </p:txBody>
      </p:sp>
    </p:spTree>
    <p:extLst>
      <p:ext uri="{BB962C8B-B14F-4D97-AF65-F5344CB8AC3E}">
        <p14:creationId xmlns:p14="http://schemas.microsoft.com/office/powerpoint/2010/main" val="199872052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Google Shape;399;g27339dc66ca_2_141">
            <a:extLst xmlns:a="http://schemas.openxmlformats.org/drawingml/2006/main">
              <a:ext uri="{FF2B5EF4-FFF2-40B4-BE49-F238E27FC236}">
                <a16:creationId xmlns:a16="http://schemas.microsoft.com/office/drawing/2014/main" id="{872C6528-2EB1-4004-AB7F-AD44259612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非</a:t>
            </a: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功能性需求：Trade-offs分析方法ATAM</a:t>
            </a:r>
            <a:endParaRPr/>
          </a:p>
        </p:txBody>
      </p:sp>
      <p:pic>
        <p:nvPicPr>
          <p:cNvPr id="400" name="Google Shape;400;g27339dc66ca_2_141">
            <a:extLst xmlns:a="http://schemas.openxmlformats.org/drawingml/2006/main">
              <a:ext uri="{FF2B5EF4-FFF2-40B4-BE49-F238E27FC236}">
                <a16:creationId xmlns:a16="http://schemas.microsoft.com/office/drawing/2014/main" id="{4CEEC7FD-54D2-416E-A361-8D4404F5E4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3735613594f0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7525" y="3033600"/>
            <a:ext cx="11536932" cy="7258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1" name="Google Shape;401;g27339dc66ca_2_141">
            <a:extLst xmlns:a="http://schemas.openxmlformats.org/drawingml/2006/main">
              <a:ext uri="{FF2B5EF4-FFF2-40B4-BE49-F238E27FC236}">
                <a16:creationId xmlns:a16="http://schemas.microsoft.com/office/drawing/2014/main" id="{06A49C13-FCDA-4392-AE68-30029305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6500" y="10578000"/>
            <a:ext cx="2547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02" name="Google Shape;402;g27339dc66ca_2_141">
            <a:extLst xmlns:a="http://schemas.openxmlformats.org/drawingml/2006/main">
              <a:ext uri="{FF2B5EF4-FFF2-40B4-BE49-F238E27FC236}">
                <a16:creationId xmlns:a16="http://schemas.microsoft.com/office/drawing/2014/main" id="{E0424762-7266-47C8-A9AE-E8D2C88D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638" y="10101900"/>
            <a:ext cx="21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u="sng">
                <a:solidFill>
                  <a:schemeClr val="hlink"/>
                </a:solidFill>
                <a:latin typeface="Open Sans"/>
                <a:ea typeface="Open Sans"/>
                <a:cs typeface="Open Sans"/>
                <a:hlinkClick xmlns:r="http://schemas.openxmlformats.org/officeDocument/2006/relationships" r:id="R20db94035d124380"/>
              </a:rPr>
              <a:t>资料来源</a:t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03" name="Google Shape;403;g27339dc66ca_2_141">
            <a:extLst xmlns:a="http://schemas.openxmlformats.org/drawingml/2006/main">
              <a:ext uri="{FF2B5EF4-FFF2-40B4-BE49-F238E27FC236}">
                <a16:creationId xmlns:a16="http://schemas.microsoft.com/office/drawing/2014/main" id="{1AFF0E46-C50E-42F1-85AC-06752E3E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5832" y="2852071"/>
            <a:ext cx="9830657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>
            <a:defPPr>
              <a:defRPr sz="2400"/>
            </a:defPPr>
          </a:lstStyle>
          <a:p xmlns:a="http://schemas.openxmlformats.org/drawingml/2006/main"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pPr>
            <a:r>
              <a:rPr sz="2400" b="1">
                <a:solidFill>
                  <a:srgbClr val="0000FF"/>
                </a:solidFill>
                <a:latin typeface="Open Sans"/>
                <a:ea typeface="Open Sans"/>
                <a:cs typeface="Open Sans"/>
              </a:rPr>
              <a:t>定义</a:t>
            </a:r>
            <a:r>
              <a:rPr sz="2400">
                <a:latin typeface="Open Sans"/>
                <a:ea typeface="Open Sans"/>
                <a:cs typeface="Open Sans"/>
              </a:rPr>
              <a:t>：以场景集合的形式描述质量要求，将架构决策映射到质量要求。输出一组已确定的敏感点</a:t>
            </a:r>
            <a:r>
              <a:rPr sz="24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ensitivity </a:t>
            </a:r>
            <a:r>
              <a:rPr sz="2400">
                <a:latin typeface="Open Sans"/>
                <a:ea typeface="Open Sans"/>
                <a:cs typeface="Open Sans"/>
              </a:rPr>
              <a:t>和权衡点</a:t>
            </a:r>
            <a:r>
              <a:rPr sz="24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tradeoff </a:t>
            </a:r>
            <a:r>
              <a:rPr sz="2400">
                <a:latin typeface="Open Sans"/>
                <a:ea typeface="Open Sans"/>
                <a:cs typeface="Open Sans"/>
              </a:rPr>
              <a:t>、</a:t>
            </a:r>
            <a:r>
              <a:rPr sz="2400">
                <a:latin typeface="Open Sans"/>
                <a:ea typeface="Open Sans"/>
                <a:cs typeface="Open Sans"/>
              </a:rPr>
              <a:t>一些风险</a:t>
            </a:r>
            <a:r>
              <a:rPr sz="24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 risks </a:t>
            </a:r>
            <a:r>
              <a:rPr sz="2400">
                <a:latin typeface="Open Sans"/>
                <a:ea typeface="Open Sans"/>
                <a:cs typeface="Open Sans"/>
              </a:rPr>
              <a:t>和非风险</a:t>
            </a:r>
            <a:r>
              <a:rPr sz="2400"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on-risks、风险主题。</a:t>
            </a:r>
            <a:endParaRPr sz="3000">
              <a:latin typeface="Open Sans"/>
              <a:ea typeface="Open Sans"/>
              <a:cs typeface="Open Sans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404" name="Google Shape;404;g27339dc66ca_2_141">
            <a:extLst xmlns:a="http://schemas.openxmlformats.org/drawingml/2006/main">
              <a:ext uri="{FF2B5EF4-FFF2-40B4-BE49-F238E27FC236}">
                <a16:creationId xmlns:a16="http://schemas.microsoft.com/office/drawing/2014/main" id="{59328C64-DF15-419F-AEB0-1036220A58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df4a1cfa4471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35832" y="7429500"/>
            <a:ext cx="9830657" cy="42716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5" name="Google Shape;405;g27339dc66ca_2_141">
            <a:extLst xmlns:a="http://schemas.openxmlformats.org/drawingml/2006/main">
              <a:ext uri="{FF2B5EF4-FFF2-40B4-BE49-F238E27FC236}">
                <a16:creationId xmlns:a16="http://schemas.microsoft.com/office/drawing/2014/main" id="{CFD1EAD4-CEF3-4A80-BA06-573C27FC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200" y="4988625"/>
            <a:ext cx="225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06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41F892BE-2FE5-43A1-B522-29EEBC78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407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4AF52F76-9F7D-4542-B999-A5F7ACF6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408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283AD86D-6B52-4276-8188-B2E2409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36 / 38</a:t>
            </a:r>
          </a:p>
        </p:txBody>
      </p:sp>
    </p:spTree>
    <p:extLst>
      <p:ext uri="{BB962C8B-B14F-4D97-AF65-F5344CB8AC3E}">
        <p14:creationId xmlns:p14="http://schemas.microsoft.com/office/powerpoint/2010/main" val="181370864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0" name="Google Shape;410;g276a7a2c6f4_0_0">
            <a:extLst xmlns:a="http://schemas.openxmlformats.org/drawingml/2006/main">
              <a:ext uri="{FF2B5EF4-FFF2-40B4-BE49-F238E27FC236}">
                <a16:creationId xmlns:a16="http://schemas.microsoft.com/office/drawing/2014/main" id="{294F386C-ACA9-4477-96B7-63959B387F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323850"/>
            <a:ext cx="2266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defRPr>
            </a:pPr>
            <a:r>
              <a:rPr sz="6000" b="1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参考学习</a:t>
            </a:r>
            <a:endParaRPr/>
          </a:p>
        </p:txBody>
      </p:sp>
      <p:sp>
        <p:nvSpPr>
          <p:cNvPr id="411" name="Google Shape;411;g276a7a2c6f4_0_0">
            <a:extLst xmlns:a="http://schemas.openxmlformats.org/drawingml/2006/main">
              <a:ext uri="{FF2B5EF4-FFF2-40B4-BE49-F238E27FC236}">
                <a16:creationId xmlns:a16="http://schemas.microsoft.com/office/drawing/2014/main" id="{F8BB99B0-95E1-4C3F-B67C-542EAE81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6500" y="10578000"/>
            <a:ext cx="2547900" cy="2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12" name="Google Shape;412;g276a7a2c6f4_0_0">
            <a:extLst xmlns:a="http://schemas.openxmlformats.org/drawingml/2006/main">
              <a:ext uri="{FF2B5EF4-FFF2-40B4-BE49-F238E27FC236}">
                <a16:creationId xmlns:a16="http://schemas.microsoft.com/office/drawing/2014/main" id="{35E33179-99F5-476F-9545-1D5C6CA6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600" y="2532475"/>
            <a:ext cx="14695800" cy="56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lvl="0" indent="-457200" algn="l"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3600"/>
              <a:buFont typeface="Open Sans"/>
              <a:buChar char="●"/>
            </a:pPr>
            <a:r>
              <a:rPr sz="3600" u="sng">
                <a:solidFill>
                  <a:schemeClr val="hlink"/>
                </a:solidFill>
                <a:latin typeface="Open Sans"/>
                <a:ea typeface="Open Sans"/>
                <a:cs typeface="Open Sans"/>
                <a:hlinkClick xmlns:r="http://schemas.openxmlformats.org/officeDocument/2006/relationships" r:id="R19ff3e9c8eb741b6"/>
              </a:rPr>
              <a:t>互联网系统设计原</a:t>
            </a:r>
            <a:r>
              <a:rPr sz="3600" u="sng">
                <a:solidFill>
                  <a:schemeClr val="hlink"/>
                </a:solidFill>
                <a:latin typeface="Open Sans"/>
                <a:ea typeface="Open Sans"/>
                <a:cs typeface="Open Sans"/>
                <a:hlinkClick xmlns:r="http://schemas.openxmlformats.org/officeDocument/2006/relationships" r:id="R8acf8030f2a64530"/>
              </a:rPr>
              <a:t>则</a:t>
            </a:r>
            <a:endParaRPr sz="3600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13" name="Public header divider">
            <a:extLst xmlns:a="http://schemas.openxmlformats.org/drawingml/2006/main">
              <a:ext uri="{FF2B5EF4-FFF2-40B4-BE49-F238E27FC236}">
                <a16:creationId xmlns:a16="http://schemas.microsoft.com/office/drawing/2014/main" id="{9B5FFBA5-398E-489A-A01A-FE4B8D5B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66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414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B0AD802F-F7F7-41ED-81EB-991E22AC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415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EE826204-F2AB-47F3-9197-AF3674EE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37 / 38</a:t>
            </a:r>
          </a:p>
        </p:txBody>
      </p:sp>
    </p:spTree>
    <p:extLst>
      <p:ext uri="{BB962C8B-B14F-4D97-AF65-F5344CB8AC3E}">
        <p14:creationId xmlns:p14="http://schemas.microsoft.com/office/powerpoint/2010/main" val="24175031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7" name="Google Shape;417;p6">
            <a:extLst xmlns:a="http://schemas.openxmlformats.org/drawingml/2006/main">
              <a:ext uri="{FF2B5EF4-FFF2-40B4-BE49-F238E27FC236}">
                <a16:creationId xmlns:a16="http://schemas.microsoft.com/office/drawing/2014/main" id="{1516371F-5FA8-476B-AB3C-3C34870B633B}"/>
              </a:ext>
            </a:extLst>
          </p:cNvPr>
          <p:cNvSpPr>
            <a:spLocks xmlns:a="http://schemas.openxmlformats.org/drawingml/2006/main" noGrp="1"/>
          </p:cNvSpPr>
          <p:nvPr>
            <p:ph type="ctrTitle" idx="4294967295"/>
          </p:nvPr>
        </p:nvSpPr>
        <p:spPr>
          <a:xfrm xmlns:a="http://schemas.openxmlformats.org/drawingml/2006/main">
            <a:off x="1714500" y="4762500"/>
            <a:ext cx="20955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ctr">
            <a:normAutofit fontScale="100000"/>
          </a:bodyPr>
          <a:lstStyle xmlns:a="http://schemas.openxmlformats.org/drawingml/2006/main">
            <a:defPPr>
              <a:defRPr>
                <a:solidFill>
                  <a:srgbClr val="1E293B"/>
                </a:solidFill>
              </a:defRPr>
            </a:defPPr>
          </a:lstStyle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13500"/>
              <a:buFont typeface="Open Sans"/>
              <a:buNone/>
            </a:pPr>
            <a:r>
              <a:rPr sz="13500" b="1" i="0" u="none" strike="noStrike" cap="none">
                <a:solidFill>
                  <a:srgbClr val="1E293B"/>
                </a:solidFill>
                <a:latin typeface="Open Sans"/>
                <a:ea typeface="Open Sans"/>
                <a:cs typeface="Open Sans"/>
              </a:rPr>
              <a:t>谢谢阅读</a:t>
            </a:r>
            <a:endParaRPr sz="11200" b="1" i="0" u="none" strike="noStrike" cap="none">
              <a:solidFill>
                <a:srgbClr val="EE4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18" name="Public footer">
            <a:extLst xmlns:a="http://schemas.openxmlformats.org/drawingml/2006/main">
              <a:ext uri="{FF2B5EF4-FFF2-40B4-BE49-F238E27FC236}">
                <a16:creationId xmlns:a16="http://schemas.microsoft.com/office/drawing/2014/main" id="{B778AF92-431B-419F-A983-8C53B4C5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239750"/>
            <a:ext cx="2000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wxquare.github.io  ·  系统设计概要</a:t>
            </a:r>
          </a:p>
        </p:txBody>
      </p:sp>
      <p:sp>
        <p:nvSpPr>
          <p:cNvPr id="419" name="Public page number">
            <a:extLst xmlns:a="http://schemas.openxmlformats.org/drawingml/2006/main">
              <a:ext uri="{FF2B5EF4-FFF2-40B4-BE49-F238E27FC236}">
                <a16:creationId xmlns:a16="http://schemas.microsoft.com/office/drawing/2014/main" id="{D2C0877B-D968-4C22-8A5E-B64AA506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0" y="13239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6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4748B"/>
                </a:solidFill>
                <a:latin typeface="Arial"/>
                <a:ea typeface="Arial"/>
                <a:cs typeface="Arial"/>
              </a:rPr>
              <a:t>38 / 38</a:t>
            </a:r>
          </a:p>
        </p:txBody>
      </p:sp>
      <p:sp>
        <p:nvSpPr>
          <p:cNvPr id="420" name="Article link">
            <a:extLst xmlns:a="http://schemas.openxmlformats.org/drawingml/2006/main">
              <a:ext uri="{FF2B5EF4-FFF2-40B4-BE49-F238E27FC236}">
                <a16:creationId xmlns:a16="http://schemas.microsoft.com/office/drawing/2014/main" id="{334B43FC-B5EA-4D73-A587-622B0892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80962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4200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20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200">
                <a:solidFill>
                  <a:srgbClr val="2563EB"/>
                </a:solidFill>
                <a:latin typeface="Arial"/>
                <a:ea typeface="Arial"/>
                <a:cs typeface="Arial"/>
              </a:rPr>
              <a:t>配套文章：</a:t>
            </a:r>
            <a:r>
              <a:rPr sz="4200">
                <a:solidFill>
                  <a:srgbClr val="2563EB"/>
                </a:solidFill>
                <a:latin typeface="Arial"/>
                <a:ea typeface="Arial"/>
                <a:cs typeface="Arial"/>
                <a:hlinkClick xmlns:r="http://schemas.openxmlformats.org/officeDocument/2006/relationships" r:id="R5254c9cb80714e36"/>
              </a:rPr>
              <a:t>wxquare.github.io</a:t>
            </a:r>
          </a:p>
        </p:txBody>
      </p:sp>
    </p:spTree>
    <p:extLst>
      <p:ext uri="{BB962C8B-B14F-4D97-AF65-F5344CB8AC3E}">
        <p14:creationId xmlns:p14="http://schemas.microsoft.com/office/powerpoint/2010/main" val="2127919416"/>
      </p:ext>
    </p:extLst>
  </p:cSld>
</p:sld>
</file>

<file path=ppt/theme/theme1.xml><?xml version="1.0" encoding="utf-8"?>
<a:theme xmlns:a="http://schemas.openxmlformats.org/drawingml/2006/main" name="White">
  <a:themeElements>
    <a:clrScheme name="wxquare Public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xquare Publ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2026-10-12T07:10:06.9480000Z</dcterms:created>
  <dcterms:modified xsi:type="dcterms:W3CDTF">2026-10-12T07:10:06.9480000Z</dcterms:modified>
</coreProperties>
</file>